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6858000" cx="12192000"/>
  <p:notesSz cx="6858000" cy="9144000"/>
  <p:embeddedFontLst>
    <p:embeddedFont>
      <p:font typeface="Poppins"/>
      <p:regular r:id="rId48"/>
      <p:bold r:id="rId49"/>
      <p:italic r:id="rId50"/>
      <p:boldItalic r:id="rId51"/>
    </p:embeddedFont>
    <p:embeddedFont>
      <p:font typeface="Urbanist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-regular.fntdata"/><Relationship Id="rId47" Type="http://schemas.openxmlformats.org/officeDocument/2006/relationships/slide" Target="slides/slide42.xml"/><Relationship Id="rId49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-boldItalic.fntdata"/><Relationship Id="rId50" Type="http://schemas.openxmlformats.org/officeDocument/2006/relationships/font" Target="fonts/Poppins-italic.fntdata"/><Relationship Id="rId53" Type="http://schemas.openxmlformats.org/officeDocument/2006/relationships/font" Target="fonts/Urbanist-bold.fntdata"/><Relationship Id="rId52" Type="http://schemas.openxmlformats.org/officeDocument/2006/relationships/font" Target="fonts/Urbanist-regular.fntdata"/><Relationship Id="rId11" Type="http://schemas.openxmlformats.org/officeDocument/2006/relationships/slide" Target="slides/slide6.xml"/><Relationship Id="rId55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54" Type="http://schemas.openxmlformats.org/officeDocument/2006/relationships/font" Target="fonts/Urbani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17.png"/><Relationship Id="rId9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9" Type="http://schemas.openxmlformats.org/officeDocument/2006/relationships/image" Target="../media/image18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9" Type="http://schemas.openxmlformats.org/officeDocument/2006/relationships/image" Target="../media/image22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9.png"/><Relationship Id="rId9" Type="http://schemas.openxmlformats.org/officeDocument/2006/relationships/image" Target="../media/image45.png"/><Relationship Id="rId5" Type="http://schemas.openxmlformats.org/officeDocument/2006/relationships/image" Target="../media/image38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3.png"/><Relationship Id="rId5" Type="http://schemas.openxmlformats.org/officeDocument/2006/relationships/image" Target="../media/image37.png"/><Relationship Id="rId6" Type="http://schemas.openxmlformats.org/officeDocument/2006/relationships/image" Target="../media/image36.png"/><Relationship Id="rId7" Type="http://schemas.openxmlformats.org/officeDocument/2006/relationships/image" Target="../media/image33.png"/><Relationship Id="rId8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1.png"/><Relationship Id="rId5" Type="http://schemas.openxmlformats.org/officeDocument/2006/relationships/image" Target="../media/image7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50.png"/><Relationship Id="rId9" Type="http://schemas.openxmlformats.org/officeDocument/2006/relationships/image" Target="../media/image44.png"/><Relationship Id="rId5" Type="http://schemas.openxmlformats.org/officeDocument/2006/relationships/image" Target="../media/image42.png"/><Relationship Id="rId6" Type="http://schemas.openxmlformats.org/officeDocument/2006/relationships/image" Target="../media/image65.png"/><Relationship Id="rId7" Type="http://schemas.openxmlformats.org/officeDocument/2006/relationships/image" Target="../media/image48.png"/><Relationship Id="rId8" Type="http://schemas.openxmlformats.org/officeDocument/2006/relationships/image" Target="../media/image6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52.png"/><Relationship Id="rId5" Type="http://schemas.openxmlformats.org/officeDocument/2006/relationships/image" Target="../media/image60.png"/><Relationship Id="rId6" Type="http://schemas.openxmlformats.org/officeDocument/2006/relationships/image" Target="../media/image49.png"/><Relationship Id="rId7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57.png"/><Relationship Id="rId6" Type="http://schemas.openxmlformats.org/officeDocument/2006/relationships/image" Target="../media/image56.png"/><Relationship Id="rId7" Type="http://schemas.openxmlformats.org/officeDocument/2006/relationships/image" Target="../media/image92.png"/><Relationship Id="rId8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54.png"/><Relationship Id="rId6" Type="http://schemas.openxmlformats.org/officeDocument/2006/relationships/image" Target="../media/image61.png"/><Relationship Id="rId7" Type="http://schemas.openxmlformats.org/officeDocument/2006/relationships/image" Target="../media/image6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50.png"/><Relationship Id="rId9" Type="http://schemas.openxmlformats.org/officeDocument/2006/relationships/image" Target="../media/image70.png"/><Relationship Id="rId5" Type="http://schemas.openxmlformats.org/officeDocument/2006/relationships/image" Target="../media/image42.png"/><Relationship Id="rId6" Type="http://schemas.openxmlformats.org/officeDocument/2006/relationships/image" Target="../media/image65.png"/><Relationship Id="rId7" Type="http://schemas.openxmlformats.org/officeDocument/2006/relationships/image" Target="../media/image58.png"/><Relationship Id="rId8" Type="http://schemas.openxmlformats.org/officeDocument/2006/relationships/image" Target="../media/image7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81.png"/><Relationship Id="rId5" Type="http://schemas.openxmlformats.org/officeDocument/2006/relationships/image" Target="../media/image6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57.png"/><Relationship Id="rId6" Type="http://schemas.openxmlformats.org/officeDocument/2006/relationships/image" Target="../media/image11.png"/><Relationship Id="rId7" Type="http://schemas.openxmlformats.org/officeDocument/2006/relationships/image" Target="../media/image88.png"/><Relationship Id="rId8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73.png"/><Relationship Id="rId6" Type="http://schemas.openxmlformats.org/officeDocument/2006/relationships/image" Target="../media/image6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77.png"/><Relationship Id="rId5" Type="http://schemas.openxmlformats.org/officeDocument/2006/relationships/image" Target="../media/image80.png"/><Relationship Id="rId6" Type="http://schemas.openxmlformats.org/officeDocument/2006/relationships/image" Target="../media/image13.png"/><Relationship Id="rId7" Type="http://schemas.openxmlformats.org/officeDocument/2006/relationships/image" Target="../media/image8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9" Type="http://schemas.openxmlformats.org/officeDocument/2006/relationships/image" Target="../media/image79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image" Target="../media/image85.png"/><Relationship Id="rId8" Type="http://schemas.openxmlformats.org/officeDocument/2006/relationships/image" Target="../media/image7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96.png"/><Relationship Id="rId6" Type="http://schemas.openxmlformats.org/officeDocument/2006/relationships/image" Target="../media/image8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86.png"/><Relationship Id="rId6" Type="http://schemas.openxmlformats.org/officeDocument/2006/relationships/image" Target="../media/image91.png"/><Relationship Id="rId7" Type="http://schemas.openxmlformats.org/officeDocument/2006/relationships/image" Target="../media/image116.png"/><Relationship Id="rId8" Type="http://schemas.openxmlformats.org/officeDocument/2006/relationships/image" Target="../media/image10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9" Type="http://schemas.openxmlformats.org/officeDocument/2006/relationships/image" Target="../media/image83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image" Target="../media/image132.png"/><Relationship Id="rId8" Type="http://schemas.openxmlformats.org/officeDocument/2006/relationships/image" Target="../media/image9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8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86.png"/><Relationship Id="rId6" Type="http://schemas.openxmlformats.org/officeDocument/2006/relationships/image" Target="../media/image93.png"/><Relationship Id="rId7" Type="http://schemas.openxmlformats.org/officeDocument/2006/relationships/image" Target="../media/image84.png"/><Relationship Id="rId8" Type="http://schemas.openxmlformats.org/officeDocument/2006/relationships/image" Target="../media/image1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86.png"/><Relationship Id="rId6" Type="http://schemas.openxmlformats.org/officeDocument/2006/relationships/image" Target="../media/image114.png"/><Relationship Id="rId7" Type="http://schemas.openxmlformats.org/officeDocument/2006/relationships/image" Target="../media/image99.png"/><Relationship Id="rId8" Type="http://schemas.openxmlformats.org/officeDocument/2006/relationships/image" Target="../media/image10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53.png"/><Relationship Id="rId5" Type="http://schemas.openxmlformats.org/officeDocument/2006/relationships/image" Target="../media/image112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image" Target="../media/image10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53.png"/><Relationship Id="rId5" Type="http://schemas.openxmlformats.org/officeDocument/2006/relationships/image" Target="../media/image103.png"/><Relationship Id="rId6" Type="http://schemas.openxmlformats.org/officeDocument/2006/relationships/image" Target="../media/image109.png"/><Relationship Id="rId7" Type="http://schemas.openxmlformats.org/officeDocument/2006/relationships/image" Target="../media/image52.png"/><Relationship Id="rId8" Type="http://schemas.openxmlformats.org/officeDocument/2006/relationships/image" Target="../media/image10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123.png"/><Relationship Id="rId5" Type="http://schemas.openxmlformats.org/officeDocument/2006/relationships/image" Target="../media/image98.png"/><Relationship Id="rId6" Type="http://schemas.openxmlformats.org/officeDocument/2006/relationships/image" Target="../media/image105.png"/><Relationship Id="rId7" Type="http://schemas.openxmlformats.org/officeDocument/2006/relationships/image" Target="../media/image10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100.png"/><Relationship Id="rId6" Type="http://schemas.openxmlformats.org/officeDocument/2006/relationships/image" Target="../media/image120.png"/><Relationship Id="rId7" Type="http://schemas.openxmlformats.org/officeDocument/2006/relationships/image" Target="../media/image115.png"/><Relationship Id="rId8" Type="http://schemas.openxmlformats.org/officeDocument/2006/relationships/image" Target="../media/image1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8.png"/><Relationship Id="rId4" Type="http://schemas.openxmlformats.org/officeDocument/2006/relationships/image" Target="../media/image1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Relationship Id="rId4" Type="http://schemas.openxmlformats.org/officeDocument/2006/relationships/image" Target="../media/image122.png"/><Relationship Id="rId9" Type="http://schemas.openxmlformats.org/officeDocument/2006/relationships/image" Target="../media/image117.png"/><Relationship Id="rId5" Type="http://schemas.openxmlformats.org/officeDocument/2006/relationships/image" Target="../media/image124.png"/><Relationship Id="rId6" Type="http://schemas.openxmlformats.org/officeDocument/2006/relationships/image" Target="../media/image118.png"/><Relationship Id="rId7" Type="http://schemas.openxmlformats.org/officeDocument/2006/relationships/image" Target="../media/image129.png"/><Relationship Id="rId8" Type="http://schemas.openxmlformats.org/officeDocument/2006/relationships/image" Target="../media/image1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Relationship Id="rId4" Type="http://schemas.openxmlformats.org/officeDocument/2006/relationships/image" Target="../media/image130.png"/><Relationship Id="rId5" Type="http://schemas.openxmlformats.org/officeDocument/2006/relationships/image" Target="../media/image126.png"/><Relationship Id="rId6" Type="http://schemas.openxmlformats.org/officeDocument/2006/relationships/image" Target="../media/image131.png"/><Relationship Id="rId7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872579"/>
            <a:ext cx="116014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Web Application Firewall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43212" y="3653879"/>
            <a:ext cx="65055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Protecting Web Applications from Online Threats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362450" y="5071169"/>
            <a:ext cx="34671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 Security Expert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362450" y="5574059"/>
            <a:ext cx="3467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Enterprise Security Architecture | AWS Certified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PRESENTATION AGENDA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296138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Intro to Web Security: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Fundamentals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344522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AWS WAF Overview: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core concepts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392906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Architecture: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Global infrastructure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441290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Components: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Web ACLs &amp; Rules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62750" y="296138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Rule Types: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IP, Geo, Rate-based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0" y="344522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Monitoring: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Metrics &amp; Logging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62750" y="392906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Best Practices: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Implementation tips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62750" y="441290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Cases: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Real-world scenarios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9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8332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71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5100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299948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4125" y="348332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34125" y="39671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34125" y="4451002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WHAT IS A WAF?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1995487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Web Application Firewall (WAF)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sits between web applications and the internet, monitoring and filtering HTTP traffic to block malicious requests.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000125" y="316125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Inspects Layer 7 traffic (Application)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364509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Filters specific HTTP/HTTPS requests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0125" y="412893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Complements Network Firewalls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99358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831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167038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1819"/>
            <a:ext cx="5286375" cy="2554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51819"/>
            <a:ext cx="5286375" cy="255448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THE NEED FOR WEB SECURITY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866775" y="2947094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Escalating Threat Landscape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3528119"/>
            <a:ext cx="4695825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Modern applications are primary targets for automated bots and sophisticated cyber-attacks. Standard perimeter security is no longer sufficient to protect sensitive customer data.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29400" y="2947094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API and App Protection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29400" y="3528119"/>
            <a:ext cx="4695825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 businesses shift to microservices, APIs become exposed. AWS WAF provides critical visibility and control to prevent unauthorized access and data exfiltration.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COMMON WEB APPLICATION ATTACKS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866775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SQL Injection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66775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Injecting malicious SQL queries to manipulate backend databases and steal data.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450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XSS Attacks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6450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Executing malicious scripts in a user's browser to hijack sessions or deface sites.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4233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Bot Attacks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4233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Automated scripts performing credential stuffing, scraping, or brute-force.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98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9841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98415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2495550" y="2567880"/>
            <a:ext cx="7200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AWS WAF Overview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271962" y="3996630"/>
            <a:ext cx="36480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Managed, Scalable Application Security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BENEFITS OF AWS WAF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866775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Easy Integration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66775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Native integration with CloudFront, ALB, API Gateway, and AppSync.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6450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Fully Scalable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6450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Auto-scales based on traffic volume without managing servers.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4233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Cost Effective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4233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Pay-as-you-go model. Pay only for what you use with no upfront costs.</a:t>
            </a:r>
            <a:endParaRPr/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98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98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98415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571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GLOBAL WAF ARCHITECTURE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571500"/>
            <a:ext cx="57150" cy="12382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2400300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AWS WAF sits at the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Network Edge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inspecting traffic before it reaches your application load balancers or backend servers.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000125" y="3680370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User Request (Internet)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000125" y="4164210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AWS WAF Inspection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000125" y="4648051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Validated Traffic to Backend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1847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023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86151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1309"/>
            <a:ext cx="3492549" cy="2615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21309"/>
            <a:ext cx="3492549" cy="2615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21309"/>
            <a:ext cx="3492549" cy="261550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WAF SUPPORTED AWS SERVICES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66775" y="356428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CloudFront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66775" y="4145309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Protecting global content delivery at edge locations.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45074" y="356428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App Load Balancer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45074" y="4145309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Inspecting regional traffic within your VPC.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423374" y="356428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API Gateway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423374" y="4145309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Securing RESTful and WebSocket APIs.</a:t>
            </a:r>
            <a:endParaRPr/>
          </a:p>
        </p:txBody>
      </p:sp>
      <p:pic>
        <p:nvPicPr>
          <p:cNvPr descr="image.png" id="218" name="Google Shape;21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4515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94515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945159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21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THE WEB ACL (ACCESS CONTROL LIST)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300287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6334125" y="2415629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Main Security Container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334125" y="2901404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Web ACL is the primary resource where you define your filtering logic. It contains a set of rules that tell AWS WAF how to handle web requests.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762750" y="3990975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Default Action (Allow/Block)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762750" y="4474815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Rule Priority Ordering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762750" y="4958655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Resource Association</a:t>
            </a:r>
            <a:endParaRPr/>
          </a:p>
        </p:txBody>
      </p:sp>
      <p:pic>
        <p:nvPicPr>
          <p:cNvPr descr="image.png" id="235" name="Google Shape;23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0290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51291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996755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8415"/>
            <a:ext cx="5286375" cy="2261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98415"/>
            <a:ext cx="5286375" cy="226114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WORKING WITH WAF RULES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866775" y="3093690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Detection Conditions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866775" y="3674715"/>
            <a:ext cx="469582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Rules define criteria such as originating IP addresses, HTTP headers, request bodies, and URI strings to identify malicious traffic patterns.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629400" y="3093690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Mitigation Actions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629400" y="3674715"/>
            <a:ext cx="469582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When a request matches a rule, WAF can perform actions: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Allow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Block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Count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(for testing), or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CAPTCHA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WHAT ARE RULE GROUPS?</a:t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866775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Logical Collections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866775" y="3851969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reusable collection of rules that you can apply to multiple Web ACLs simultaneously.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4645074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Management Styles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4645074" y="385196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Can be Managed by AWS, Managed by Marketplace vendors, or Custom groups built by you.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8423374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Consistency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8423374" y="3851969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Ensures that security policies are uniform across your entire AWS infrastructure.</a:t>
            </a:r>
            <a:endParaRPr/>
          </a:p>
        </p:txBody>
      </p:sp>
      <p:pic>
        <p:nvPicPr>
          <p:cNvPr descr="image.png" id="267" name="Google Shape;26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5181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5181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51819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MANAGED RULE GROUPS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1000125" y="296138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Rule Set (CRS):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Protects against common vulnerabilities including OWASP Top 10.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000125" y="344522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Admin Protection: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Blocks unauthorized access to administrative pages and interfaces.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000125" y="392906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Known Bad Inputs: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Targets malicious request patterns frequently used by attackers.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000125" y="441290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Bot Control: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Managed intelligence to detect and block malicious automated traffic.</a:t>
            </a:r>
            <a:endParaRPr/>
          </a:p>
        </p:txBody>
      </p:sp>
      <p:pic>
        <p:nvPicPr>
          <p:cNvPr descr="image.png" id="281" name="Google Shape;28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9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8332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7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5100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LEVERAGING CUSTOM RULES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571500" y="1995487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When managed rules aren't enough,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Custom Rules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allow you to tailor security to your specific application needs.</a:t>
            </a:r>
            <a:endParaRPr/>
          </a:p>
        </p:txBody>
      </p:sp>
      <p:pic>
        <p:nvPicPr>
          <p:cNvPr descr="image.png" id="294" name="Google Shape;29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 txBox="1"/>
          <p:nvPr/>
        </p:nvSpPr>
        <p:spPr>
          <a:xfrm>
            <a:off x="1000125" y="2791717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Inspect specific Headers or Cookies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1000125" y="327555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Regex pattern matching on URI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1000125" y="375939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Blacklist known malicious IPs</a:t>
            </a:r>
            <a:endParaRPr/>
          </a:p>
        </p:txBody>
      </p:sp>
      <p:pic>
        <p:nvPicPr>
          <p:cNvPr descr="image.png" id="298" name="Google Shape;29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2981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136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79749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3185636" y="2567880"/>
            <a:ext cx="582072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WAF Rule Types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4672012" y="3996630"/>
            <a:ext cx="28479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Specific Detection Mechanisms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IP MATCH RULES</a:t>
            </a:r>
            <a:endParaRPr/>
          </a:p>
        </p:txBody>
      </p:sp>
      <p:sp>
        <p:nvSpPr>
          <p:cNvPr id="315" name="Google Shape;315;p2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 txBox="1"/>
          <p:nvPr/>
        </p:nvSpPr>
        <p:spPr>
          <a:xfrm>
            <a:off x="571500" y="3001267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10k+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571500" y="4353817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IP addresses per set</a:t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6334125" y="314131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Granular Source Control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6334125" y="3627090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Block or allow traffic based on IP address ranges (CIDR blocks). This is the fastest way to stop known attackers or restrict access to trusted internal corporate networks.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GEO MATCH RULES</a:t>
            </a:r>
            <a:endParaRPr/>
          </a:p>
        </p:txBody>
      </p:sp>
      <p:sp>
        <p:nvSpPr>
          <p:cNvPr id="327" name="Google Shape;327;p2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Regional Restrictions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571500" y="2271712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Filter traffic based on the country of origin. Useful for compliance or when your application is only intended for a specific geographic market.</a:t>
            </a:r>
            <a:endParaRPr/>
          </a:p>
        </p:txBody>
      </p:sp>
      <p:pic>
        <p:nvPicPr>
          <p:cNvPr descr="image.png" id="330" name="Google Shape;33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9"/>
          <p:cNvSpPr txBox="1"/>
          <p:nvPr/>
        </p:nvSpPr>
        <p:spPr>
          <a:xfrm>
            <a:off x="1000125" y="33612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Country-level blocking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1000125" y="38451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Reducing attack surface</a:t>
            </a:r>
            <a:endParaRPr/>
          </a:p>
        </p:txBody>
      </p:sp>
      <p:pic>
        <p:nvPicPr>
          <p:cNvPr descr="image.png" id="333" name="Google Shape;33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99383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8322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27969"/>
            <a:ext cx="3492549" cy="320218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STRING &amp; REGEX MATCH</a:t>
            </a:r>
            <a:endParaRPr/>
          </a:p>
        </p:txBody>
      </p:sp>
      <p:sp>
        <p:nvSpPr>
          <p:cNvPr id="344" name="Google Shape;344;p3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866775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String Match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866775" y="385196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Looks for exact strings in headers, cookies, or query parameters (e.g., blocking "User-Agent: BadBot").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4645074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Regex Match</a:t>
            </a:r>
            <a:endParaRPr/>
          </a:p>
        </p:txBody>
      </p:sp>
      <p:sp>
        <p:nvSpPr>
          <p:cNvPr id="348" name="Google Shape;348;p30"/>
          <p:cNvSpPr txBox="1"/>
          <p:nvPr/>
        </p:nvSpPr>
        <p:spPr>
          <a:xfrm>
            <a:off x="4645074" y="385196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Powerful pattern matching for complex attack vectors or specific data formats within requests.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8423374" y="3270944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Body Inspection</a:t>
            </a:r>
            <a:endParaRPr/>
          </a:p>
        </p:txBody>
      </p:sp>
      <p:sp>
        <p:nvSpPr>
          <p:cNvPr id="350" name="Google Shape;350;p30"/>
          <p:cNvSpPr txBox="1"/>
          <p:nvPr/>
        </p:nvSpPr>
        <p:spPr>
          <a:xfrm>
            <a:off x="8423374" y="385196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Deeply inspect the JSON or XML content within POST request bodies for malicious payloads.</a:t>
            </a:r>
            <a:endParaRPr/>
          </a:p>
        </p:txBody>
      </p:sp>
      <p:pic>
        <p:nvPicPr>
          <p:cNvPr descr="image.png" id="351" name="Google Shape;35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51819"/>
            <a:ext cx="3429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51819"/>
            <a:ext cx="2762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51819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RATE-BASED RULES</a:t>
            </a:r>
            <a:endParaRPr/>
          </a:p>
        </p:txBody>
      </p:sp>
      <p:sp>
        <p:nvSpPr>
          <p:cNvPr id="360" name="Google Shape;360;p3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1" name="Google Shape;3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571500" y="5400675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DDoS Protection: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Automatically blocks IP addresses that exceed a set threshold of requests within a 5-minute window.</a:t>
            </a:r>
            <a:endParaRPr/>
          </a:p>
        </p:txBody>
      </p:sp>
      <p:pic>
        <p:nvPicPr>
          <p:cNvPr descr="image.png" id="363" name="Google Shape;36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5191125"/>
            <a:ext cx="5286375" cy="30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SQL INJECTION PROTECTION</a:t>
            </a:r>
            <a:endParaRPr/>
          </a:p>
        </p:txBody>
      </p:sp>
      <p:sp>
        <p:nvSpPr>
          <p:cNvPr id="371" name="Google Shape;371;p3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Prevent Database Exploits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571500" y="2271712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WAF inspects requests for common SQL injection signatures like OR '1'='1' or --.</a:t>
            </a:r>
            <a:endParaRPr/>
          </a:p>
        </p:txBody>
      </p:sp>
      <p:pic>
        <p:nvPicPr>
          <p:cNvPr descr="image.png" id="374" name="Google Shape;37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2"/>
          <p:cNvSpPr txBox="1"/>
          <p:nvPr/>
        </p:nvSpPr>
        <p:spPr>
          <a:xfrm>
            <a:off x="1000125" y="306794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Filters Query Strings</a:t>
            </a:r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1000125" y="35517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Protects POST parameters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1000125" y="40356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Blocks credential exfiltration</a:t>
            </a:r>
            <a:endParaRPr/>
          </a:p>
        </p:txBody>
      </p:sp>
      <p:pic>
        <p:nvPicPr>
          <p:cNvPr descr="image.png" id="378" name="Google Shape;37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060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89883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73723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5" name="Google Shape;3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XSS MITIGATION</a:t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Defending User Sessions</a:t>
            </a:r>
            <a:endParaRPr/>
          </a:p>
        </p:txBody>
      </p:sp>
      <p:sp>
        <p:nvSpPr>
          <p:cNvPr id="390" name="Google Shape;390;p33"/>
          <p:cNvSpPr txBox="1"/>
          <p:nvPr/>
        </p:nvSpPr>
        <p:spPr>
          <a:xfrm>
            <a:off x="571500" y="2271712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WAF detects &lt;/div&gt; tags and malicious JavaScript payloads meant to steal cookies or hijack browser sessions.</a:t>
            </a:r>
            <a:endParaRPr/>
          </a:p>
        </p:txBody>
      </p:sp>
      <p:pic>
        <p:nvPicPr>
          <p:cNvPr descr="image.png" id="391" name="Google Shape;39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 txBox="1"/>
          <p:nvPr/>
        </p:nvSpPr>
        <p:spPr>
          <a:xfrm>
            <a:off x="1000125" y="33612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Prevents defacement</a:t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1000125" y="38451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Protects Session Cookies</a:t>
            </a:r>
            <a:endParaRPr/>
          </a:p>
        </p:txBody>
      </p:sp>
      <p:sp>
        <p:nvSpPr>
          <p:cNvPr id="394" name="Google Shape;394;p33"/>
          <p:cNvSpPr txBox="1"/>
          <p:nvPr/>
        </p:nvSpPr>
        <p:spPr>
          <a:xfrm>
            <a:off x="1000125" y="432896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Secures user input forms</a:t>
            </a:r>
            <a:endParaRPr/>
          </a:p>
        </p:txBody>
      </p:sp>
      <p:pic>
        <p:nvPicPr>
          <p:cNvPr descr="image.png" id="395" name="Google Shape;39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9938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832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67063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2" name="Google Shape;40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4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2165508" y="2567880"/>
            <a:ext cx="7860982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WAF Implementation</a:t>
            </a:r>
            <a:endParaRPr/>
          </a:p>
        </p:txBody>
      </p:sp>
      <p:sp>
        <p:nvSpPr>
          <p:cNvPr id="405" name="Google Shape;405;p34"/>
          <p:cNvSpPr txBox="1"/>
          <p:nvPr/>
        </p:nvSpPr>
        <p:spPr>
          <a:xfrm>
            <a:off x="4400550" y="3996630"/>
            <a:ext cx="33909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Deployment and Configuration Steps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WAF SETUP STEPS</a:t>
            </a:r>
            <a:endParaRPr/>
          </a:p>
        </p:txBody>
      </p:sp>
      <p:sp>
        <p:nvSpPr>
          <p:cNvPr id="412" name="Google Shape;412;p3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571500" y="392906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521780" y="4310062"/>
            <a:ext cx="208822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WAF Console</a:t>
            </a:r>
            <a:endParaRPr/>
          </a:p>
        </p:txBody>
      </p:sp>
      <p:sp>
        <p:nvSpPr>
          <p:cNvPr id="415" name="Google Shape;415;p35"/>
          <p:cNvSpPr txBox="1"/>
          <p:nvPr/>
        </p:nvSpPr>
        <p:spPr>
          <a:xfrm>
            <a:off x="571500" y="4795837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Navigate to the WAF service in AWS console.</a:t>
            </a:r>
            <a:endParaRPr/>
          </a:p>
        </p:txBody>
      </p:sp>
      <p:sp>
        <p:nvSpPr>
          <p:cNvPr id="416" name="Google Shape;416;p35"/>
          <p:cNvSpPr txBox="1"/>
          <p:nvPr/>
        </p:nvSpPr>
        <p:spPr>
          <a:xfrm>
            <a:off x="2786795" y="1972716"/>
            <a:ext cx="208822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Create ACL</a:t>
            </a:r>
            <a:endParaRPr/>
          </a:p>
        </p:txBody>
      </p:sp>
      <p:sp>
        <p:nvSpPr>
          <p:cNvPr id="417" name="Google Shape;417;p35"/>
          <p:cNvSpPr txBox="1"/>
          <p:nvPr/>
        </p:nvSpPr>
        <p:spPr>
          <a:xfrm>
            <a:off x="2836515" y="2458491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Define your primary Access Control List container.</a:t>
            </a:r>
            <a:endParaRPr/>
          </a:p>
        </p:txBody>
      </p:sp>
      <p:sp>
        <p:nvSpPr>
          <p:cNvPr id="418" name="Google Shape;418;p35"/>
          <p:cNvSpPr txBox="1"/>
          <p:nvPr/>
        </p:nvSpPr>
        <p:spPr>
          <a:xfrm>
            <a:off x="5051810" y="4310062"/>
            <a:ext cx="208822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Add Rules</a:t>
            </a:r>
            <a:endParaRPr/>
          </a:p>
        </p:txBody>
      </p:sp>
      <p:sp>
        <p:nvSpPr>
          <p:cNvPr id="419" name="Google Shape;419;p35"/>
          <p:cNvSpPr txBox="1"/>
          <p:nvPr/>
        </p:nvSpPr>
        <p:spPr>
          <a:xfrm>
            <a:off x="5101530" y="4795837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Select Managed or build Custom security rules.</a:t>
            </a:r>
            <a:endParaRPr/>
          </a:p>
        </p:txBody>
      </p:sp>
      <p:sp>
        <p:nvSpPr>
          <p:cNvPr id="420" name="Google Shape;420;p35"/>
          <p:cNvSpPr txBox="1"/>
          <p:nvPr/>
        </p:nvSpPr>
        <p:spPr>
          <a:xfrm>
            <a:off x="7316825" y="1972716"/>
            <a:ext cx="208822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Associate</a:t>
            </a:r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7366545" y="2458491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Link your Web ACL to a resource (ALB, CloudFront).</a:t>
            </a:r>
            <a:endParaRPr/>
          </a:p>
        </p:txBody>
      </p:sp>
      <p:sp>
        <p:nvSpPr>
          <p:cNvPr id="422" name="Google Shape;422;p35"/>
          <p:cNvSpPr txBox="1"/>
          <p:nvPr/>
        </p:nvSpPr>
        <p:spPr>
          <a:xfrm>
            <a:off x="9581841" y="4310062"/>
            <a:ext cx="208822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Monitor</a:t>
            </a:r>
            <a:endParaRPr/>
          </a:p>
        </p:txBody>
      </p:sp>
      <p:sp>
        <p:nvSpPr>
          <p:cNvPr id="423" name="Google Shape;423;p35"/>
          <p:cNvSpPr txBox="1"/>
          <p:nvPr/>
        </p:nvSpPr>
        <p:spPr>
          <a:xfrm>
            <a:off x="9631560" y="4795837"/>
            <a:ext cx="198879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Analyze blocked traffic in CloudWatch logs.</a:t>
            </a:r>
            <a:endParaRPr/>
          </a:p>
        </p:txBody>
      </p:sp>
      <p:sp>
        <p:nvSpPr>
          <p:cNvPr id="424" name="Google Shape;424;p35"/>
          <p:cNvSpPr/>
          <p:nvPr/>
        </p:nvSpPr>
        <p:spPr>
          <a:xfrm>
            <a:off x="1451520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 cap="flat" cmpd="sng" w="38100">
            <a:solidFill>
              <a:srgbClr val="0B11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3716535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 cap="flat" cmpd="sng" w="38100">
            <a:solidFill>
              <a:srgbClr val="0B11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5981551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 cap="flat" cmpd="sng" w="38100">
            <a:solidFill>
              <a:srgbClr val="0B11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8246566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 cap="flat" cmpd="sng" w="38100">
            <a:solidFill>
              <a:srgbClr val="0B11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10511581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 cap="flat" cmpd="sng" w="38100">
            <a:solidFill>
              <a:srgbClr val="0B11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3" name="Google Shape;43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CREATING THE WEB ACL</a:t>
            </a:r>
            <a:endParaRPr/>
          </a:p>
        </p:txBody>
      </p:sp>
      <p:sp>
        <p:nvSpPr>
          <p:cNvPr id="435" name="Google Shape;435;p3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 txBox="1"/>
          <p:nvPr/>
        </p:nvSpPr>
        <p:spPr>
          <a:xfrm>
            <a:off x="1000125" y="296138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Resource Selection: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Choose between Regional (ALB/API Gateway) or Global (CloudFront).</a:t>
            </a:r>
            <a:endParaRPr/>
          </a:p>
        </p:txBody>
      </p:sp>
      <p:sp>
        <p:nvSpPr>
          <p:cNvPr id="437" name="Google Shape;437;p36"/>
          <p:cNvSpPr txBox="1"/>
          <p:nvPr/>
        </p:nvSpPr>
        <p:spPr>
          <a:xfrm>
            <a:off x="1000125" y="344522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Default Action: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Set to 'Allow' by default, then selectively block malicious traffic.</a:t>
            </a:r>
            <a:endParaRPr/>
          </a:p>
        </p:txBody>
      </p:sp>
      <p:sp>
        <p:nvSpPr>
          <p:cNvPr id="438" name="Google Shape;438;p36"/>
          <p:cNvSpPr txBox="1"/>
          <p:nvPr/>
        </p:nvSpPr>
        <p:spPr>
          <a:xfrm>
            <a:off x="1000125" y="392906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Rule Ordering: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WAF processes rules from top to bottom; priority 0 is first.</a:t>
            </a:r>
            <a:endParaRPr/>
          </a:p>
        </p:txBody>
      </p:sp>
      <p:sp>
        <p:nvSpPr>
          <p:cNvPr id="439" name="Google Shape;439;p36"/>
          <p:cNvSpPr txBox="1"/>
          <p:nvPr/>
        </p:nvSpPr>
        <p:spPr>
          <a:xfrm>
            <a:off x="1000125" y="441290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Deployment: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Deployment is near-instant across edge locations.</a:t>
            </a:r>
            <a:endParaRPr/>
          </a:p>
        </p:txBody>
      </p:sp>
      <p:pic>
        <p:nvPicPr>
          <p:cNvPr descr="image.png" id="440" name="Google Shape;44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9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8332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71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51002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8" name="Google Shape;44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ADDING RULE LAYERS</a:t>
            </a:r>
            <a:endParaRPr/>
          </a:p>
        </p:txBody>
      </p:sp>
      <p:sp>
        <p:nvSpPr>
          <p:cNvPr id="453" name="Google Shape;453;p3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7"/>
          <p:cNvSpPr txBox="1"/>
          <p:nvPr/>
        </p:nvSpPr>
        <p:spPr>
          <a:xfrm>
            <a:off x="866775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AWS Managed</a:t>
            </a:r>
            <a:endParaRPr/>
          </a:p>
        </p:txBody>
      </p:sp>
      <p:sp>
        <p:nvSpPr>
          <p:cNvPr id="455" name="Google Shape;455;p37"/>
          <p:cNvSpPr txBox="1"/>
          <p:nvPr/>
        </p:nvSpPr>
        <p:spPr>
          <a:xfrm>
            <a:off x="866775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Immediate protection against common internet threats with one click.</a:t>
            </a:r>
            <a:endParaRPr/>
          </a:p>
        </p:txBody>
      </p:sp>
      <p:sp>
        <p:nvSpPr>
          <p:cNvPr id="456" name="Google Shape;456;p37"/>
          <p:cNvSpPr txBox="1"/>
          <p:nvPr/>
        </p:nvSpPr>
        <p:spPr>
          <a:xfrm>
            <a:off x="46450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Custom Rules</a:t>
            </a:r>
            <a:endParaRPr/>
          </a:p>
        </p:txBody>
      </p:sp>
      <p:sp>
        <p:nvSpPr>
          <p:cNvPr id="457" name="Google Shape;457;p37"/>
          <p:cNvSpPr txBox="1"/>
          <p:nvPr/>
        </p:nvSpPr>
        <p:spPr>
          <a:xfrm>
            <a:off x="46450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Rules that match your application's unique URL structure and data format.</a:t>
            </a:r>
            <a:endParaRPr/>
          </a:p>
        </p:txBody>
      </p:sp>
      <p:sp>
        <p:nvSpPr>
          <p:cNvPr id="458" name="Google Shape;458;p37"/>
          <p:cNvSpPr txBox="1"/>
          <p:nvPr/>
        </p:nvSpPr>
        <p:spPr>
          <a:xfrm>
            <a:off x="84233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Rate Limiting</a:t>
            </a:r>
            <a:endParaRPr/>
          </a:p>
        </p:txBody>
      </p:sp>
      <p:sp>
        <p:nvSpPr>
          <p:cNvPr id="459" name="Google Shape;459;p37"/>
          <p:cNvSpPr txBox="1"/>
          <p:nvPr/>
        </p:nvSpPr>
        <p:spPr>
          <a:xfrm>
            <a:off x="8423374" y="3998565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Prevent brute-force and DDoS by limiting requests per IP.</a:t>
            </a:r>
            <a:endParaRPr/>
          </a:p>
        </p:txBody>
      </p:sp>
      <p:pic>
        <p:nvPicPr>
          <p:cNvPr descr="image.png" id="460" name="Google Shape;460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98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984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9841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7" name="Google Shape;46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8" name="Google Shape;46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ASSOCIATING RESOURCES</a:t>
            </a:r>
            <a:endParaRPr/>
          </a:p>
        </p:txBody>
      </p:sp>
      <p:sp>
        <p:nvSpPr>
          <p:cNvPr id="470" name="Google Shape;470;p3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8"/>
          <p:cNvSpPr txBox="1"/>
          <p:nvPr/>
        </p:nvSpPr>
        <p:spPr>
          <a:xfrm>
            <a:off x="571500" y="1995487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Web ACL is inactive until it is associated with a specific AWS resource.</a:t>
            </a:r>
            <a:endParaRPr/>
          </a:p>
        </p:txBody>
      </p:sp>
      <p:pic>
        <p:nvPicPr>
          <p:cNvPr descr="image.png" id="472" name="Google Shape;47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8"/>
          <p:cNvSpPr txBox="1"/>
          <p:nvPr/>
        </p:nvSpPr>
        <p:spPr>
          <a:xfrm>
            <a:off x="1000125" y="2791717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Attach to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ALB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Regional Apps</a:t>
            </a:r>
            <a:endParaRPr/>
          </a:p>
        </p:txBody>
      </p:sp>
      <p:sp>
        <p:nvSpPr>
          <p:cNvPr id="474" name="Google Shape;474;p38"/>
          <p:cNvSpPr txBox="1"/>
          <p:nvPr/>
        </p:nvSpPr>
        <p:spPr>
          <a:xfrm>
            <a:off x="1000125" y="327555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Attach to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CloudFront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Global</a:t>
            </a:r>
            <a:endParaRPr/>
          </a:p>
        </p:txBody>
      </p:sp>
      <p:sp>
        <p:nvSpPr>
          <p:cNvPr id="475" name="Google Shape;475;p38"/>
          <p:cNvSpPr txBox="1"/>
          <p:nvPr/>
        </p:nvSpPr>
        <p:spPr>
          <a:xfrm>
            <a:off x="1000125" y="375939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Attach to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AppSync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GraphQL</a:t>
            </a:r>
            <a:endParaRPr/>
          </a:p>
        </p:txBody>
      </p:sp>
      <p:pic>
        <p:nvPicPr>
          <p:cNvPr descr="image.png" id="476" name="Google Shape;476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2981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136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9749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9"/>
          <p:cNvSpPr txBox="1"/>
          <p:nvPr/>
        </p:nvSpPr>
        <p:spPr>
          <a:xfrm>
            <a:off x="1715452" y="2567880"/>
            <a:ext cx="876109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Monitoring and Logging</a:t>
            </a:r>
            <a:endParaRPr/>
          </a:p>
        </p:txBody>
      </p:sp>
      <p:sp>
        <p:nvSpPr>
          <p:cNvPr id="486" name="Google Shape;486;p39"/>
          <p:cNvSpPr txBox="1"/>
          <p:nvPr/>
        </p:nvSpPr>
        <p:spPr>
          <a:xfrm>
            <a:off x="5172075" y="3996630"/>
            <a:ext cx="18478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Operational Visibility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1" name="Google Shape;4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2" name="Google Shape;49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WAF VISIBILITY</a:t>
            </a:r>
            <a:endParaRPr/>
          </a:p>
        </p:txBody>
      </p:sp>
      <p:sp>
        <p:nvSpPr>
          <p:cNvPr id="494" name="Google Shape;494;p4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0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Real-time Metrics</a:t>
            </a:r>
            <a:endParaRPr/>
          </a:p>
        </p:txBody>
      </p:sp>
      <p:sp>
        <p:nvSpPr>
          <p:cNvPr id="496" name="Google Shape;496;p40"/>
          <p:cNvSpPr txBox="1"/>
          <p:nvPr/>
        </p:nvSpPr>
        <p:spPr>
          <a:xfrm>
            <a:off x="571500" y="2271712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Integration with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Amazon CloudWatch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provides immediate visibility into allowed and blocked traffic patterns.</a:t>
            </a:r>
            <a:endParaRPr/>
          </a:p>
        </p:txBody>
      </p:sp>
      <p:pic>
        <p:nvPicPr>
          <p:cNvPr descr="image.png" id="497" name="Google Shape;497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0"/>
          <p:cNvSpPr txBox="1"/>
          <p:nvPr/>
        </p:nvSpPr>
        <p:spPr>
          <a:xfrm>
            <a:off x="1000125" y="33612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Set Alarms on Block Spikes</a:t>
            </a:r>
            <a:endParaRPr/>
          </a:p>
        </p:txBody>
      </p:sp>
      <p:sp>
        <p:nvSpPr>
          <p:cNvPr id="499" name="Google Shape;499;p40"/>
          <p:cNvSpPr txBox="1"/>
          <p:nvPr/>
        </p:nvSpPr>
        <p:spPr>
          <a:xfrm>
            <a:off x="1000125" y="38451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Analyze Rule Matches</a:t>
            </a:r>
            <a:endParaRPr/>
          </a:p>
        </p:txBody>
      </p:sp>
      <p:sp>
        <p:nvSpPr>
          <p:cNvPr id="500" name="Google Shape;500;p40"/>
          <p:cNvSpPr txBox="1"/>
          <p:nvPr/>
        </p:nvSpPr>
        <p:spPr>
          <a:xfrm>
            <a:off x="1000125" y="432896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Audit Request IDs</a:t>
            </a:r>
            <a:endParaRPr/>
          </a:p>
        </p:txBody>
      </p:sp>
      <p:pic>
        <p:nvPicPr>
          <p:cNvPr descr="image.png" id="501" name="Google Shape;501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9938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2" name="Google Shape;502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8322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3" name="Google Shape;503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6706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8" name="Google Shape;50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9" name="Google Shape;50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0" name="Google Shape;51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1" name="Google Shape;511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74565"/>
            <a:ext cx="3492549" cy="290884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LOGGING WEB REQUESTS</a:t>
            </a:r>
            <a:endParaRPr/>
          </a:p>
        </p:txBody>
      </p:sp>
      <p:sp>
        <p:nvSpPr>
          <p:cNvPr id="513" name="Google Shape;513;p4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1"/>
          <p:cNvSpPr txBox="1"/>
          <p:nvPr/>
        </p:nvSpPr>
        <p:spPr>
          <a:xfrm>
            <a:off x="866775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S3 Destination</a:t>
            </a:r>
            <a:endParaRPr/>
          </a:p>
        </p:txBody>
      </p:sp>
      <p:sp>
        <p:nvSpPr>
          <p:cNvPr id="515" name="Google Shape;515;p41"/>
          <p:cNvSpPr txBox="1"/>
          <p:nvPr/>
        </p:nvSpPr>
        <p:spPr>
          <a:xfrm>
            <a:off x="866775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Store full request logs for long-term audit and compliance requirements.</a:t>
            </a:r>
            <a:endParaRPr/>
          </a:p>
        </p:txBody>
      </p:sp>
      <p:sp>
        <p:nvSpPr>
          <p:cNvPr id="516" name="Google Shape;516;p41"/>
          <p:cNvSpPr txBox="1"/>
          <p:nvPr/>
        </p:nvSpPr>
        <p:spPr>
          <a:xfrm>
            <a:off x="46450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Kinesis Firehose</a:t>
            </a:r>
            <a:endParaRPr/>
          </a:p>
        </p:txBody>
      </p:sp>
      <p:sp>
        <p:nvSpPr>
          <p:cNvPr id="517" name="Google Shape;517;p41"/>
          <p:cNvSpPr txBox="1"/>
          <p:nvPr/>
        </p:nvSpPr>
        <p:spPr>
          <a:xfrm>
            <a:off x="4645074" y="3998565"/>
            <a:ext cx="290199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Stream logs in real-time to external SIEMs or analysis tools.</a:t>
            </a:r>
            <a:endParaRPr/>
          </a:p>
        </p:txBody>
      </p:sp>
      <p:sp>
        <p:nvSpPr>
          <p:cNvPr id="518" name="Google Shape;518;p41"/>
          <p:cNvSpPr txBox="1"/>
          <p:nvPr/>
        </p:nvSpPr>
        <p:spPr>
          <a:xfrm>
            <a:off x="8423374" y="341754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CloudWatch Logs</a:t>
            </a:r>
            <a:endParaRPr/>
          </a:p>
        </p:txBody>
      </p:sp>
      <p:sp>
        <p:nvSpPr>
          <p:cNvPr id="519" name="Google Shape;519;p41"/>
          <p:cNvSpPr txBox="1"/>
          <p:nvPr/>
        </p:nvSpPr>
        <p:spPr>
          <a:xfrm>
            <a:off x="8423374" y="3998565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Perform rapid analysis using Log Insights for incident response.</a:t>
            </a:r>
            <a:endParaRPr/>
          </a:p>
        </p:txBody>
      </p:sp>
      <p:pic>
        <p:nvPicPr>
          <p:cNvPr descr="image.png" id="520" name="Google Shape;520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9841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1" name="Google Shape;521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98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9841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7" name="Google Shape;52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8" name="Google Shape;52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KEY WAF METRICS</a:t>
            </a:r>
            <a:endParaRPr/>
          </a:p>
        </p:txBody>
      </p:sp>
      <p:sp>
        <p:nvSpPr>
          <p:cNvPr id="530" name="Google Shape;530;p4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2"/>
          <p:cNvSpPr txBox="1"/>
          <p:nvPr/>
        </p:nvSpPr>
        <p:spPr>
          <a:xfrm>
            <a:off x="571500" y="5677792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Continuous monitoring helps refine rule thresholds and minimize false positives.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6" name="Google Shape;53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3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3"/>
          <p:cNvSpPr txBox="1"/>
          <p:nvPr/>
        </p:nvSpPr>
        <p:spPr>
          <a:xfrm>
            <a:off x="1265396" y="2567880"/>
            <a:ext cx="966120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AWS Security Integrations</a:t>
            </a:r>
            <a:endParaRPr/>
          </a:p>
        </p:txBody>
      </p:sp>
      <p:sp>
        <p:nvSpPr>
          <p:cNvPr id="539" name="Google Shape;539;p43"/>
          <p:cNvSpPr txBox="1"/>
          <p:nvPr/>
        </p:nvSpPr>
        <p:spPr>
          <a:xfrm>
            <a:off x="4872037" y="3996630"/>
            <a:ext cx="24479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Building a Layered Defense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4" name="Google Shape;54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5" name="Google Shape;54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SHIELD INTEGRATION</a:t>
            </a:r>
            <a:endParaRPr/>
          </a:p>
        </p:txBody>
      </p:sp>
      <p:sp>
        <p:nvSpPr>
          <p:cNvPr id="547" name="Google Shape;547;p4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4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Unified DDoS Protection</a:t>
            </a:r>
            <a:endParaRPr/>
          </a:p>
        </p:txBody>
      </p:sp>
      <p:sp>
        <p:nvSpPr>
          <p:cNvPr id="549" name="Google Shape;549;p44"/>
          <p:cNvSpPr txBox="1"/>
          <p:nvPr/>
        </p:nvSpPr>
        <p:spPr>
          <a:xfrm>
            <a:off x="571500" y="2271712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AWS WAF works with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AWS Shield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provide comprehensive Layer 3, 4, and 7 protection.</a:t>
            </a:r>
            <a:endParaRPr/>
          </a:p>
        </p:txBody>
      </p:sp>
      <p:pic>
        <p:nvPicPr>
          <p:cNvPr descr="image.png" id="550" name="Google Shape;55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4"/>
          <p:cNvSpPr txBox="1"/>
          <p:nvPr/>
        </p:nvSpPr>
        <p:spPr>
          <a:xfrm>
            <a:off x="1000125" y="306794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Shield Standard (Automatic)</a:t>
            </a:r>
            <a:endParaRPr/>
          </a:p>
        </p:txBody>
      </p:sp>
      <p:sp>
        <p:nvSpPr>
          <p:cNvPr id="552" name="Google Shape;552;p44"/>
          <p:cNvSpPr txBox="1"/>
          <p:nvPr/>
        </p:nvSpPr>
        <p:spPr>
          <a:xfrm>
            <a:off x="1000125" y="35517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Shield Advanced (Dedicated Team)</a:t>
            </a:r>
            <a:endParaRPr/>
          </a:p>
        </p:txBody>
      </p:sp>
      <p:sp>
        <p:nvSpPr>
          <p:cNvPr id="553" name="Google Shape;553;p44"/>
          <p:cNvSpPr txBox="1"/>
          <p:nvPr/>
        </p:nvSpPr>
        <p:spPr>
          <a:xfrm>
            <a:off x="1000125" y="40356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Automatic Layer 7 Mitigation</a:t>
            </a:r>
            <a:endParaRPr/>
          </a:p>
        </p:txBody>
      </p:sp>
      <p:pic>
        <p:nvPicPr>
          <p:cNvPr descr="image.png" id="554" name="Google Shape;554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060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5" name="Google Shape;555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89883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6" name="Google Shape;556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73723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1" name="Google Shape;56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FIREWALL MANAGER</a:t>
            </a:r>
            <a:endParaRPr/>
          </a:p>
        </p:txBody>
      </p:sp>
      <p:sp>
        <p:nvSpPr>
          <p:cNvPr id="564" name="Google Shape;564;p4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5"/>
          <p:cNvSpPr txBox="1"/>
          <p:nvPr/>
        </p:nvSpPr>
        <p:spPr>
          <a:xfrm>
            <a:off x="571500" y="17859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Centralized Policy Management</a:t>
            </a:r>
            <a:endParaRPr/>
          </a:p>
        </p:txBody>
      </p:sp>
      <p:sp>
        <p:nvSpPr>
          <p:cNvPr id="566" name="Google Shape;566;p45"/>
          <p:cNvSpPr txBox="1"/>
          <p:nvPr/>
        </p:nvSpPr>
        <p:spPr>
          <a:xfrm>
            <a:off x="571500" y="2271712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Manage security rules across multiple AWS accounts in an organization from a single place.</a:t>
            </a:r>
            <a:endParaRPr/>
          </a:p>
        </p:txBody>
      </p:sp>
      <p:pic>
        <p:nvPicPr>
          <p:cNvPr descr="image.png" id="567" name="Google Shape;56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5"/>
          <p:cNvSpPr txBox="1"/>
          <p:nvPr/>
        </p:nvSpPr>
        <p:spPr>
          <a:xfrm>
            <a:off x="1000125" y="306794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Scale to 100s of accounts</a:t>
            </a:r>
            <a:endParaRPr/>
          </a:p>
        </p:txBody>
      </p:sp>
      <p:sp>
        <p:nvSpPr>
          <p:cNvPr id="569" name="Google Shape;569;p45"/>
          <p:cNvSpPr txBox="1"/>
          <p:nvPr/>
        </p:nvSpPr>
        <p:spPr>
          <a:xfrm>
            <a:off x="1000125" y="35517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Ensure compliance with policies</a:t>
            </a:r>
            <a:endParaRPr/>
          </a:p>
        </p:txBody>
      </p:sp>
      <p:sp>
        <p:nvSpPr>
          <p:cNvPr id="570" name="Google Shape;570;p45"/>
          <p:cNvSpPr txBox="1"/>
          <p:nvPr/>
        </p:nvSpPr>
        <p:spPr>
          <a:xfrm>
            <a:off x="1000125" y="403562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Auto-remediate non-compliant ACLs</a:t>
            </a:r>
            <a:endParaRPr/>
          </a:p>
        </p:txBody>
      </p:sp>
      <p:pic>
        <p:nvPicPr>
          <p:cNvPr descr="image.png" id="571" name="Google Shape;571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0604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2" name="Google Shape;572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89883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3" name="Google Shape;573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73723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8" name="Google Shape;57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6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6"/>
          <p:cNvSpPr txBox="1"/>
          <p:nvPr/>
        </p:nvSpPr>
        <p:spPr>
          <a:xfrm>
            <a:off x="2120503" y="2567880"/>
            <a:ext cx="795099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Real World Use Cases</a:t>
            </a:r>
            <a:endParaRPr/>
          </a:p>
        </p:txBody>
      </p:sp>
      <p:sp>
        <p:nvSpPr>
          <p:cNvPr id="581" name="Google Shape;581;p46"/>
          <p:cNvSpPr txBox="1"/>
          <p:nvPr/>
        </p:nvSpPr>
        <p:spPr>
          <a:xfrm>
            <a:off x="4533900" y="3996630"/>
            <a:ext cx="31242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Practical Applications of AWS WAF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6" name="Google Shape;58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7" name="Google Shape;58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21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E-COMMERCE SECURITY</a:t>
            </a:r>
            <a:endParaRPr/>
          </a:p>
        </p:txBody>
      </p:sp>
      <p:sp>
        <p:nvSpPr>
          <p:cNvPr id="589" name="Google Shape;589;p4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90" name="Google Shape;590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300287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7"/>
          <p:cNvSpPr txBox="1"/>
          <p:nvPr/>
        </p:nvSpPr>
        <p:spPr>
          <a:xfrm>
            <a:off x="6334125" y="25622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Protecting Transactional Data</a:t>
            </a:r>
            <a:endParaRPr/>
          </a:p>
        </p:txBody>
      </p:sp>
      <p:sp>
        <p:nvSpPr>
          <p:cNvPr id="592" name="Google Shape;592;p47"/>
          <p:cNvSpPr txBox="1"/>
          <p:nvPr/>
        </p:nvSpPr>
        <p:spPr>
          <a:xfrm>
            <a:off x="6334125" y="3048000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E-commerce sites face high risks of SQL injection and automated price scraping.</a:t>
            </a:r>
            <a:endParaRPr/>
          </a:p>
        </p:txBody>
      </p:sp>
      <p:sp>
        <p:nvSpPr>
          <p:cNvPr id="593" name="Google Shape;593;p47"/>
          <p:cNvSpPr txBox="1"/>
          <p:nvPr/>
        </p:nvSpPr>
        <p:spPr>
          <a:xfrm>
            <a:off x="6762750" y="384423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Secure Payment Portals</a:t>
            </a:r>
            <a:endParaRPr/>
          </a:p>
        </p:txBody>
      </p:sp>
      <p:sp>
        <p:nvSpPr>
          <p:cNvPr id="594" name="Google Shape;594;p47"/>
          <p:cNvSpPr txBox="1"/>
          <p:nvPr/>
        </p:nvSpPr>
        <p:spPr>
          <a:xfrm>
            <a:off x="6762750" y="432807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Prevent Inventory Scraping</a:t>
            </a:r>
            <a:endParaRPr/>
          </a:p>
        </p:txBody>
      </p:sp>
      <p:sp>
        <p:nvSpPr>
          <p:cNvPr id="595" name="Google Shape;595;p47"/>
          <p:cNvSpPr txBox="1"/>
          <p:nvPr/>
        </p:nvSpPr>
        <p:spPr>
          <a:xfrm>
            <a:off x="6762750" y="481191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 Login Endpoints</a:t>
            </a:r>
            <a:endParaRPr/>
          </a:p>
        </p:txBody>
      </p:sp>
      <p:pic>
        <p:nvPicPr>
          <p:cNvPr descr="image.png" id="596" name="Google Shape;59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8233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7" name="Google Shape;597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36617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8" name="Google Shape;598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850010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3" name="Google Shape;60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4" name="Google Shape;60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21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PROTECTING APIS</a:t>
            </a:r>
            <a:endParaRPr/>
          </a:p>
        </p:txBody>
      </p:sp>
      <p:sp>
        <p:nvSpPr>
          <p:cNvPr id="606" name="Google Shape;606;p4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07" name="Google Shape;60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300287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8"/>
          <p:cNvSpPr txBox="1"/>
          <p:nvPr/>
        </p:nvSpPr>
        <p:spPr>
          <a:xfrm>
            <a:off x="6334125" y="25622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API Gateway Hardening</a:t>
            </a:r>
            <a:endParaRPr/>
          </a:p>
        </p:txBody>
      </p:sp>
      <p:sp>
        <p:nvSpPr>
          <p:cNvPr id="609" name="Google Shape;609;p48"/>
          <p:cNvSpPr txBox="1"/>
          <p:nvPr/>
        </p:nvSpPr>
        <p:spPr>
          <a:xfrm>
            <a:off x="6334125" y="3048000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Public APIs are vulnerable to abuse. WAF helps manage request volume and detect malformed payloads.</a:t>
            </a:r>
            <a:endParaRPr/>
          </a:p>
        </p:txBody>
      </p:sp>
      <p:sp>
        <p:nvSpPr>
          <p:cNvPr id="610" name="Google Shape;610;p48"/>
          <p:cNvSpPr txBox="1"/>
          <p:nvPr/>
        </p:nvSpPr>
        <p:spPr>
          <a:xfrm>
            <a:off x="6762750" y="384423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Granular Rate Limiting</a:t>
            </a:r>
            <a:endParaRPr/>
          </a:p>
        </p:txBody>
      </p:sp>
      <p:sp>
        <p:nvSpPr>
          <p:cNvPr id="611" name="Google Shape;611;p48"/>
          <p:cNvSpPr txBox="1"/>
          <p:nvPr/>
        </p:nvSpPr>
        <p:spPr>
          <a:xfrm>
            <a:off x="6762750" y="432807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Input Validation</a:t>
            </a:r>
            <a:endParaRPr/>
          </a:p>
        </p:txBody>
      </p:sp>
      <p:sp>
        <p:nvSpPr>
          <p:cNvPr id="612" name="Google Shape;612;p48"/>
          <p:cNvSpPr txBox="1"/>
          <p:nvPr/>
        </p:nvSpPr>
        <p:spPr>
          <a:xfrm>
            <a:off x="6762750" y="4811910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Key-based Filtering</a:t>
            </a:r>
            <a:endParaRPr/>
          </a:p>
        </p:txBody>
      </p:sp>
      <p:pic>
        <p:nvPicPr>
          <p:cNvPr descr="image.png" id="613" name="Google Shape;613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8233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4" name="Google Shape;614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3661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5" name="Google Shape;615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850010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0" name="Google Shape;62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9"/>
          <p:cNvSpPr txBox="1"/>
          <p:nvPr/>
        </p:nvSpPr>
        <p:spPr>
          <a:xfrm>
            <a:off x="762000" y="571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PREVENTING BOT ATTACKS</a:t>
            </a:r>
            <a:endParaRPr/>
          </a:p>
        </p:txBody>
      </p:sp>
      <p:sp>
        <p:nvSpPr>
          <p:cNvPr id="622" name="Google Shape;622;p49"/>
          <p:cNvSpPr/>
          <p:nvPr/>
        </p:nvSpPr>
        <p:spPr>
          <a:xfrm>
            <a:off x="571500" y="571500"/>
            <a:ext cx="57150" cy="12382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23" name="Google Shape;62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9"/>
          <p:cNvSpPr txBox="1"/>
          <p:nvPr/>
        </p:nvSpPr>
        <p:spPr>
          <a:xfrm>
            <a:off x="571500" y="2190750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Advanced Bot Control</a:t>
            </a:r>
            <a:endParaRPr/>
          </a:p>
        </p:txBody>
      </p:sp>
      <p:sp>
        <p:nvSpPr>
          <p:cNvPr id="625" name="Google Shape;625;p49"/>
          <p:cNvSpPr txBox="1"/>
          <p:nvPr/>
        </p:nvSpPr>
        <p:spPr>
          <a:xfrm>
            <a:off x="571500" y="2676525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Bots consume resources and skew analytics. AWS WAF provides bot labels to categorize and block scripts.</a:t>
            </a:r>
            <a:endParaRPr/>
          </a:p>
        </p:txBody>
      </p:sp>
      <p:sp>
        <p:nvSpPr>
          <p:cNvPr id="626" name="Google Shape;626;p49"/>
          <p:cNvSpPr txBox="1"/>
          <p:nvPr/>
        </p:nvSpPr>
        <p:spPr>
          <a:xfrm>
            <a:off x="1000125" y="3663255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Detect Search Engine Crawlers</a:t>
            </a:r>
            <a:endParaRPr/>
          </a:p>
        </p:txBody>
      </p:sp>
      <p:sp>
        <p:nvSpPr>
          <p:cNvPr id="627" name="Google Shape;627;p49"/>
          <p:cNvSpPr txBox="1"/>
          <p:nvPr/>
        </p:nvSpPr>
        <p:spPr>
          <a:xfrm>
            <a:off x="1000125" y="4147095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Block Malicious Scrapers</a:t>
            </a:r>
            <a:endParaRPr/>
          </a:p>
        </p:txBody>
      </p:sp>
      <p:sp>
        <p:nvSpPr>
          <p:cNvPr id="628" name="Google Shape;628;p49"/>
          <p:cNvSpPr txBox="1"/>
          <p:nvPr/>
        </p:nvSpPr>
        <p:spPr>
          <a:xfrm>
            <a:off x="1000125" y="4630935"/>
            <a:ext cx="4524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Stop Credential Stuffing</a:t>
            </a:r>
            <a:endParaRPr/>
          </a:p>
        </p:txBody>
      </p:sp>
      <p:pic>
        <p:nvPicPr>
          <p:cNvPr descr="image.png" id="629" name="Google Shape;629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0135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0" name="Google Shape;630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8519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1" name="Google Shape;631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69035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6" name="Google Shape;63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0"/>
          <p:cNvSpPr/>
          <p:nvPr/>
        </p:nvSpPr>
        <p:spPr>
          <a:xfrm>
            <a:off x="5619750" y="243453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50"/>
          <p:cNvSpPr txBox="1"/>
          <p:nvPr/>
        </p:nvSpPr>
        <p:spPr>
          <a:xfrm>
            <a:off x="3475672" y="2567880"/>
            <a:ext cx="52406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Best Practices</a:t>
            </a:r>
            <a:endParaRPr/>
          </a:p>
        </p:txBody>
      </p:sp>
      <p:sp>
        <p:nvSpPr>
          <p:cNvPr id="639" name="Google Shape;639;p50"/>
          <p:cNvSpPr txBox="1"/>
          <p:nvPr/>
        </p:nvSpPr>
        <p:spPr>
          <a:xfrm>
            <a:off x="4757737" y="3996630"/>
            <a:ext cx="26765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Optimizing Security and Cost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4" name="Google Shape;64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WAF BEST PRACTICES</a:t>
            </a:r>
            <a:endParaRPr/>
          </a:p>
        </p:txBody>
      </p:sp>
      <p:sp>
        <p:nvSpPr>
          <p:cNvPr id="646" name="Google Shape;646;p5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51"/>
          <p:cNvSpPr txBox="1"/>
          <p:nvPr/>
        </p:nvSpPr>
        <p:spPr>
          <a:xfrm>
            <a:off x="1000125" y="2909887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Enable Managed Rules: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Start with CRS and IP Reputation.</a:t>
            </a:r>
            <a:endParaRPr/>
          </a:p>
        </p:txBody>
      </p:sp>
      <p:sp>
        <p:nvSpPr>
          <p:cNvPr id="648" name="Google Shape;648;p51"/>
          <p:cNvSpPr txBox="1"/>
          <p:nvPr/>
        </p:nvSpPr>
        <p:spPr>
          <a:xfrm>
            <a:off x="1000125" y="3687067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Monitor Logs Regularly: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Audit false positives in Log Insights.</a:t>
            </a:r>
            <a:endParaRPr/>
          </a:p>
        </p:txBody>
      </p:sp>
      <p:sp>
        <p:nvSpPr>
          <p:cNvPr id="649" name="Google Shape;649;p51"/>
          <p:cNvSpPr txBox="1"/>
          <p:nvPr/>
        </p:nvSpPr>
        <p:spPr>
          <a:xfrm>
            <a:off x="1000125" y="446424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'Count' First: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Test rules before blocking traffic.</a:t>
            </a:r>
            <a:endParaRPr/>
          </a:p>
        </p:txBody>
      </p:sp>
      <p:sp>
        <p:nvSpPr>
          <p:cNvPr id="650" name="Google Shape;650;p51"/>
          <p:cNvSpPr txBox="1"/>
          <p:nvPr/>
        </p:nvSpPr>
        <p:spPr>
          <a:xfrm>
            <a:off x="6762750" y="2909887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 Rate Limits: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Protect every public endpoint.</a:t>
            </a:r>
            <a:endParaRPr/>
          </a:p>
        </p:txBody>
      </p:sp>
      <p:sp>
        <p:nvSpPr>
          <p:cNvPr id="651" name="Google Shape;651;p51"/>
          <p:cNvSpPr txBox="1"/>
          <p:nvPr/>
        </p:nvSpPr>
        <p:spPr>
          <a:xfrm>
            <a:off x="6762750" y="3687067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Layered Security: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 WAF with IAM, Shield, and CloudTrail.</a:t>
            </a:r>
            <a:endParaRPr/>
          </a:p>
        </p:txBody>
      </p:sp>
      <p:sp>
        <p:nvSpPr>
          <p:cNvPr id="652" name="Google Shape;652;p51"/>
          <p:cNvSpPr txBox="1"/>
          <p:nvPr/>
        </p:nvSpPr>
        <p:spPr>
          <a:xfrm>
            <a:off x="6762750" y="4464248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Cost Control: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Remove unused rules and sets.</a:t>
            </a:r>
            <a:endParaRPr/>
          </a:p>
        </p:txBody>
      </p:sp>
      <p:pic>
        <p:nvPicPr>
          <p:cNvPr descr="image.png" id="653" name="Google Shape;65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479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4" name="Google Shape;654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2516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5" name="Google Shape;655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02348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6" name="Google Shape;656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2947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7" name="Google Shape;657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50234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2" name="Google Shape;66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3" name="Google Shape;66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1625" y="899368"/>
            <a:ext cx="1428750" cy="803671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52"/>
          <p:cNvSpPr txBox="1"/>
          <p:nvPr/>
        </p:nvSpPr>
        <p:spPr>
          <a:xfrm>
            <a:off x="3760708" y="2084040"/>
            <a:ext cx="467058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665" name="Google Shape;665;p52"/>
          <p:cNvSpPr txBox="1"/>
          <p:nvPr/>
        </p:nvSpPr>
        <p:spPr>
          <a:xfrm>
            <a:off x="4667250" y="3722340"/>
            <a:ext cx="2857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Questions &amp; Answers</a:t>
            </a:r>
            <a:endParaRPr/>
          </a:p>
        </p:txBody>
      </p:sp>
      <p:sp>
        <p:nvSpPr>
          <p:cNvPr id="666" name="Google Shape;666;p52"/>
          <p:cNvSpPr txBox="1"/>
          <p:nvPr/>
        </p:nvSpPr>
        <p:spPr>
          <a:xfrm>
            <a:off x="4476750" y="5044380"/>
            <a:ext cx="32385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AWS Security Solutions Portfolio</a:t>
            </a:r>
            <a:endParaRPr/>
          </a:p>
        </p:txBody>
      </p:sp>
      <p:sp>
        <p:nvSpPr>
          <p:cNvPr id="667" name="Google Shape;667;p52"/>
          <p:cNvSpPr txBox="1"/>
          <p:nvPr/>
        </p:nvSpPr>
        <p:spPr>
          <a:xfrm>
            <a:off x="4476750" y="5547270"/>
            <a:ext cx="32385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Visit aws.amazon.com/waf for more details.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2" name="Google Shape;6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674" name="Google Shape;674;p5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3"/>
          <p:cNvSpPr/>
          <p:nvPr/>
        </p:nvSpPr>
        <p:spPr>
          <a:xfrm>
            <a:off x="571500" y="15716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3"/>
          <p:cNvSpPr/>
          <p:nvPr/>
        </p:nvSpPr>
        <p:spPr>
          <a:xfrm>
            <a:off x="571500" y="23431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3"/>
          <p:cNvSpPr/>
          <p:nvPr/>
        </p:nvSpPr>
        <p:spPr>
          <a:xfrm>
            <a:off x="571500" y="31146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3"/>
          <p:cNvSpPr/>
          <p:nvPr/>
        </p:nvSpPr>
        <p:spPr>
          <a:xfrm>
            <a:off x="571500" y="38862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3"/>
          <p:cNvSpPr/>
          <p:nvPr/>
        </p:nvSpPr>
        <p:spPr>
          <a:xfrm>
            <a:off x="571500" y="4657725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3"/>
          <p:cNvSpPr/>
          <p:nvPr/>
        </p:nvSpPr>
        <p:spPr>
          <a:xfrm>
            <a:off x="571500" y="2333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3"/>
          <p:cNvSpPr/>
          <p:nvPr/>
        </p:nvSpPr>
        <p:spPr>
          <a:xfrm>
            <a:off x="571500" y="2333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3"/>
          <p:cNvSpPr/>
          <p:nvPr/>
        </p:nvSpPr>
        <p:spPr>
          <a:xfrm>
            <a:off x="571500" y="3105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3"/>
          <p:cNvSpPr/>
          <p:nvPr/>
        </p:nvSpPr>
        <p:spPr>
          <a:xfrm>
            <a:off x="571500" y="3105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3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3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53"/>
          <p:cNvSpPr/>
          <p:nvPr/>
        </p:nvSpPr>
        <p:spPr>
          <a:xfrm>
            <a:off x="571500" y="4648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3"/>
          <p:cNvSpPr/>
          <p:nvPr/>
        </p:nvSpPr>
        <p:spPr>
          <a:xfrm>
            <a:off x="571500" y="4648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53"/>
          <p:cNvSpPr/>
          <p:nvPr/>
        </p:nvSpPr>
        <p:spPr>
          <a:xfrm>
            <a:off x="571500" y="55508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53"/>
          <p:cNvSpPr/>
          <p:nvPr/>
        </p:nvSpPr>
        <p:spPr>
          <a:xfrm>
            <a:off x="571500" y="55508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90" name="Google Shape;69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4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 txBox="1"/>
          <p:nvPr/>
        </p:nvSpPr>
        <p:spPr>
          <a:xfrm>
            <a:off x="1666875" y="173548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https://www.a10networks.com/wp-content/uploads/web-application-firewall-vs-network-firewall-1024x539.png</a:t>
            </a:r>
            <a:endParaRPr/>
          </a:p>
        </p:txBody>
      </p:sp>
      <p:sp>
        <p:nvSpPr>
          <p:cNvPr id="692" name="Google Shape;692;p53"/>
          <p:cNvSpPr txBox="1"/>
          <p:nvPr/>
        </p:nvSpPr>
        <p:spPr>
          <a:xfrm>
            <a:off x="1666875" y="195634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www.a10networks.com</a:t>
            </a:r>
            <a:endParaRPr/>
          </a:p>
        </p:txBody>
      </p:sp>
      <p:pic>
        <p:nvPicPr>
          <p:cNvPr descr="image.png" id="693" name="Google Shape;693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86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/>
        </p:nvSpPr>
        <p:spPr>
          <a:xfrm>
            <a:off x="1666875" y="250700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https://www.conceptdraw.com/How-To-Guide/picture/Computer-Networks-Cloud-Computing-Diagrams-Cloud-Computing.png</a:t>
            </a:r>
            <a:endParaRPr/>
          </a:p>
        </p:txBody>
      </p:sp>
      <p:sp>
        <p:nvSpPr>
          <p:cNvPr id="695" name="Google Shape;695;p53"/>
          <p:cNvSpPr txBox="1"/>
          <p:nvPr/>
        </p:nvSpPr>
        <p:spPr>
          <a:xfrm>
            <a:off x="1666875" y="272787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www.conceptdraw.com</a:t>
            </a:r>
            <a:endParaRPr/>
          </a:p>
        </p:txBody>
      </p:sp>
      <p:pic>
        <p:nvPicPr>
          <p:cNvPr descr="image.png" id="696" name="Google Shape;696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57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53"/>
          <p:cNvSpPr txBox="1"/>
          <p:nvPr/>
        </p:nvSpPr>
        <p:spPr>
          <a:xfrm>
            <a:off x="1666875" y="327853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https://static.vecteezy.com/system/resources/previews/067/903/076/non_2x/security-logo-design-blue-shield-and-lock-symbol-for-safe-digital-access-and-protection-vector.jpg</a:t>
            </a:r>
            <a:endParaRPr/>
          </a:p>
        </p:txBody>
      </p:sp>
      <p:sp>
        <p:nvSpPr>
          <p:cNvPr id="698" name="Google Shape;698;p53"/>
          <p:cNvSpPr txBox="1"/>
          <p:nvPr/>
        </p:nvSpPr>
        <p:spPr>
          <a:xfrm>
            <a:off x="1666875" y="349939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699" name="Google Shape;699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290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53"/>
          <p:cNvSpPr txBox="1"/>
          <p:nvPr/>
        </p:nvSpPr>
        <p:spPr>
          <a:xfrm>
            <a:off x="1666875" y="405005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https://images.ctfassets.net/4un77bcsnjzw/5f4WTLP2LxjP8VX90lKt7I/efc24ee13738349d555ffe6c9f866c58/SQL_Injection_Attack.svg</a:t>
            </a:r>
            <a:endParaRPr/>
          </a:p>
        </p:txBody>
      </p:sp>
      <p:sp>
        <p:nvSpPr>
          <p:cNvPr id="701" name="Google Shape;701;p53"/>
          <p:cNvSpPr txBox="1"/>
          <p:nvPr/>
        </p:nvSpPr>
        <p:spPr>
          <a:xfrm>
            <a:off x="1666875" y="427092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learn.snyk.io</a:t>
            </a:r>
            <a:endParaRPr/>
          </a:p>
        </p:txBody>
      </p:sp>
      <p:pic>
        <p:nvPicPr>
          <p:cNvPr descr="image.png" id="702" name="Google Shape;702;p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660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3"/>
          <p:cNvSpPr txBox="1"/>
          <p:nvPr/>
        </p:nvSpPr>
        <p:spPr>
          <a:xfrm>
            <a:off x="1666875" y="4800600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https://static.vecteezy.com/system/resources/previews/069/816/984/large_2x/global-network-map-digital-connections-glowing-nodes-dark-background-website-banner-photo.jpg</a:t>
            </a:r>
            <a:endParaRPr/>
          </a:p>
        </p:txBody>
      </p:sp>
      <p:sp>
        <p:nvSpPr>
          <p:cNvPr id="704" name="Google Shape;704;p53"/>
          <p:cNvSpPr txBox="1"/>
          <p:nvPr/>
        </p:nvSpPr>
        <p:spPr>
          <a:xfrm>
            <a:off x="1666875" y="5194696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705" name="Google Shape;705;p5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7032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3"/>
          <p:cNvSpPr txBox="1"/>
          <p:nvPr/>
        </p:nvSpPr>
        <p:spPr>
          <a:xfrm>
            <a:off x="1666875" y="572422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https://img.freepik.com/premium-vector/cyber-security-fingerprint-dark-blue-abstract-digital-conceptual-technology-background_87946-472.jpg</a:t>
            </a:r>
            <a:endParaRPr/>
          </a:p>
        </p:txBody>
      </p:sp>
      <p:sp>
        <p:nvSpPr>
          <p:cNvPr id="707" name="Google Shape;707;p53"/>
          <p:cNvSpPr txBox="1"/>
          <p:nvPr/>
        </p:nvSpPr>
        <p:spPr>
          <a:xfrm>
            <a:off x="1666875" y="594508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12" name="Google Shape;71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714" name="Google Shape;714;p5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4"/>
          <p:cNvSpPr/>
          <p:nvPr/>
        </p:nvSpPr>
        <p:spPr>
          <a:xfrm>
            <a:off x="571500" y="2325141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4"/>
          <p:cNvSpPr/>
          <p:nvPr/>
        </p:nvSpPr>
        <p:spPr>
          <a:xfrm>
            <a:off x="571500" y="3227784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4"/>
          <p:cNvSpPr/>
          <p:nvPr/>
        </p:nvSpPr>
        <p:spPr>
          <a:xfrm>
            <a:off x="571500" y="3999309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4"/>
          <p:cNvSpPr/>
          <p:nvPr/>
        </p:nvSpPr>
        <p:spPr>
          <a:xfrm>
            <a:off x="571500" y="32182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4"/>
          <p:cNvSpPr/>
          <p:nvPr/>
        </p:nvSpPr>
        <p:spPr>
          <a:xfrm>
            <a:off x="571500" y="32182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4"/>
          <p:cNvSpPr/>
          <p:nvPr/>
        </p:nvSpPr>
        <p:spPr>
          <a:xfrm>
            <a:off x="571500" y="3989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54"/>
          <p:cNvSpPr/>
          <p:nvPr/>
        </p:nvSpPr>
        <p:spPr>
          <a:xfrm>
            <a:off x="571500" y="3989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54"/>
          <p:cNvSpPr/>
          <p:nvPr/>
        </p:nvSpPr>
        <p:spPr>
          <a:xfrm>
            <a:off x="571500" y="47613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54"/>
          <p:cNvSpPr/>
          <p:nvPr/>
        </p:nvSpPr>
        <p:spPr>
          <a:xfrm>
            <a:off x="571500" y="47613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24" name="Google Shape;72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35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4"/>
          <p:cNvSpPr txBox="1"/>
          <p:nvPr/>
        </p:nvSpPr>
        <p:spPr>
          <a:xfrm>
            <a:off x="1666875" y="2468016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https://static.vecteezy.com/system/resources/previews/048/967/243/non_2x/e-commerce-checkout-page-concept-with-payment-method-in-shopping-cart-secure-payment-gateway-select-and-activate-a-suitable-mobile-payment-method-for-a-seamless-online-shopping-experience-vector.jpg</a:t>
            </a:r>
            <a:endParaRPr/>
          </a:p>
        </p:txBody>
      </p:sp>
      <p:sp>
        <p:nvSpPr>
          <p:cNvPr id="726" name="Google Shape;726;p54"/>
          <p:cNvSpPr txBox="1"/>
          <p:nvPr/>
        </p:nvSpPr>
        <p:spPr>
          <a:xfrm>
            <a:off x="1666875" y="286211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727" name="Google Shape;72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706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4"/>
          <p:cNvSpPr txBox="1"/>
          <p:nvPr/>
        </p:nvSpPr>
        <p:spPr>
          <a:xfrm>
            <a:off x="1666875" y="339164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https://miro.medium.com/1*YrVYFtEiQC6ySf1JxmUraQ.png</a:t>
            </a:r>
            <a:endParaRPr/>
          </a:p>
        </p:txBody>
      </p:sp>
      <p:sp>
        <p:nvSpPr>
          <p:cNvPr id="729" name="Google Shape;729;p54"/>
          <p:cNvSpPr txBox="1"/>
          <p:nvPr/>
        </p:nvSpPr>
        <p:spPr>
          <a:xfrm>
            <a:off x="1666875" y="361250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qa-nora.medium.com</a:t>
            </a:r>
            <a:endParaRPr/>
          </a:p>
        </p:txBody>
      </p:sp>
      <p:pic>
        <p:nvPicPr>
          <p:cNvPr descr="image.png" id="730" name="Google Shape;730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421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4"/>
          <p:cNvSpPr txBox="1"/>
          <p:nvPr/>
        </p:nvSpPr>
        <p:spPr>
          <a:xfrm>
            <a:off x="1666875" y="416316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https://offensoacademy.com/wp-content/uploads/2026/01/image.png</a:t>
            </a:r>
            <a:endParaRPr/>
          </a:p>
        </p:txBody>
      </p:sp>
      <p:sp>
        <p:nvSpPr>
          <p:cNvPr id="732" name="Google Shape;732;p54"/>
          <p:cNvSpPr txBox="1"/>
          <p:nvPr/>
        </p:nvSpPr>
        <p:spPr>
          <a:xfrm>
            <a:off x="1666875" y="438403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offensoacademy.com</a:t>
            </a:r>
            <a:endParaRPr/>
          </a:p>
        </p:txBody>
      </p:sp>
      <p:pic>
        <p:nvPicPr>
          <p:cNvPr descr="image.png" id="733" name="Google Shape;733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137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4"/>
          <p:cNvSpPr txBox="1"/>
          <p:nvPr/>
        </p:nvSpPr>
        <p:spPr>
          <a:xfrm>
            <a:off x="1666875" y="493469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https://miro.medium.com/1*9lwFCltCReo4MmizE4piiQ.png</a:t>
            </a:r>
            <a:endParaRPr/>
          </a:p>
        </p:txBody>
      </p:sp>
      <p:sp>
        <p:nvSpPr>
          <p:cNvPr id="735" name="Google Shape;735;p54"/>
          <p:cNvSpPr txBox="1"/>
          <p:nvPr/>
        </p:nvSpPr>
        <p:spPr>
          <a:xfrm>
            <a:off x="1666875" y="515555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blog.prateekjain.dev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