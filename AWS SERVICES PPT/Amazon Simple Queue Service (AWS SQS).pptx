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12192000"/>
  <p:notesSz cx="6858000" cy="9144000"/>
  <p:embeddedFontLst>
    <p:embeddedFont>
      <p:font typeface="DM Sans Medium"/>
      <p:regular r:id="rId49"/>
      <p:bold r:id="rId50"/>
      <p:italic r:id="rId51"/>
      <p:boldItalic r:id="rId52"/>
    </p:embeddedFont>
    <p:embeddedFont>
      <p:font typeface="Urbanist"/>
      <p:regular r:id="rId53"/>
      <p:bold r:id="rId54"/>
      <p:italic r:id="rId55"/>
      <p:boldItalic r:id="rId56"/>
    </p:embeddedFont>
    <p:embeddedFont>
      <p:font typeface="DM Sans SemiBold"/>
      <p:regular r:id="rId57"/>
      <p:bold r:id="rId58"/>
      <p:italic r:id="rId59"/>
      <p:boldItalic r:id="rId60"/>
    </p:embeddedFont>
    <p:embeddedFont>
      <p:font typeface="DM Sans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121A2C-7FF8-4008-ADE9-5FFF3505F073}">
  <a:tblStyle styleId="{B2121A2C-7FF8-4008-ADE9-5FFF3505F0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DMSa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-bold.fntdata"/><Relationship Id="rId61" Type="http://schemas.openxmlformats.org/officeDocument/2006/relationships/font" Target="fonts/DMSans-regular.fntdata"/><Relationship Id="rId20" Type="http://schemas.openxmlformats.org/officeDocument/2006/relationships/slide" Target="slides/slide14.xml"/><Relationship Id="rId64" Type="http://schemas.openxmlformats.org/officeDocument/2006/relationships/font" Target="fonts/DMSans-boldItalic.fntdata"/><Relationship Id="rId63" Type="http://schemas.openxmlformats.org/officeDocument/2006/relationships/font" Target="fonts/DM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DMSansSemiBold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Medium-italic.fntdata"/><Relationship Id="rId50" Type="http://schemas.openxmlformats.org/officeDocument/2006/relationships/font" Target="fonts/DMSansMedium-bold.fntdata"/><Relationship Id="rId53" Type="http://schemas.openxmlformats.org/officeDocument/2006/relationships/font" Target="fonts/Urbanist-regular.fntdata"/><Relationship Id="rId52" Type="http://schemas.openxmlformats.org/officeDocument/2006/relationships/font" Target="fonts/DMSans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Urbanist-italic.fntdata"/><Relationship Id="rId10" Type="http://schemas.openxmlformats.org/officeDocument/2006/relationships/slide" Target="slides/slide4.xml"/><Relationship Id="rId54" Type="http://schemas.openxmlformats.org/officeDocument/2006/relationships/font" Target="fonts/Urbanist-bold.fntdata"/><Relationship Id="rId13" Type="http://schemas.openxmlformats.org/officeDocument/2006/relationships/slide" Target="slides/slide7.xml"/><Relationship Id="rId57" Type="http://schemas.openxmlformats.org/officeDocument/2006/relationships/font" Target="fonts/DMSansSemiBold-regular.fntdata"/><Relationship Id="rId12" Type="http://schemas.openxmlformats.org/officeDocument/2006/relationships/slide" Target="slides/slide6.xml"/><Relationship Id="rId56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59" Type="http://schemas.openxmlformats.org/officeDocument/2006/relationships/font" Target="fonts/DMSansSemiBold-italic.fntdata"/><Relationship Id="rId14" Type="http://schemas.openxmlformats.org/officeDocument/2006/relationships/slide" Target="slides/slide8.xml"/><Relationship Id="rId58" Type="http://schemas.openxmlformats.org/officeDocument/2006/relationships/font" Target="fonts/DMSans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38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25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46.png"/><Relationship Id="rId6" Type="http://schemas.openxmlformats.org/officeDocument/2006/relationships/image" Target="../media/image55.png"/><Relationship Id="rId7" Type="http://schemas.openxmlformats.org/officeDocument/2006/relationships/image" Target="../media/image45.png"/><Relationship Id="rId8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62.png"/><Relationship Id="rId6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46.png"/><Relationship Id="rId6" Type="http://schemas.openxmlformats.org/officeDocument/2006/relationships/image" Target="../media/image79.png"/><Relationship Id="rId7" Type="http://schemas.openxmlformats.org/officeDocument/2006/relationships/image" Target="../media/image67.png"/><Relationship Id="rId8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81.png"/><Relationship Id="rId7" Type="http://schemas.openxmlformats.org/officeDocument/2006/relationships/image" Target="../media/image48.png"/><Relationship Id="rId8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9.png"/><Relationship Id="rId6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74.png"/><Relationship Id="rId7" Type="http://schemas.openxmlformats.org/officeDocument/2006/relationships/image" Target="../media/image64.png"/><Relationship Id="rId8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46.png"/><Relationship Id="rId6" Type="http://schemas.openxmlformats.org/officeDocument/2006/relationships/image" Target="../media/image70.png"/><Relationship Id="rId7" Type="http://schemas.openxmlformats.org/officeDocument/2006/relationships/image" Target="../media/image61.png"/><Relationship Id="rId8" Type="http://schemas.openxmlformats.org/officeDocument/2006/relationships/image" Target="../media/image7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6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76.png"/><Relationship Id="rId5" Type="http://schemas.openxmlformats.org/officeDocument/2006/relationships/image" Target="../media/image6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Relationship Id="rId4" Type="http://schemas.openxmlformats.org/officeDocument/2006/relationships/image" Target="../media/image69.png"/><Relationship Id="rId9" Type="http://schemas.openxmlformats.org/officeDocument/2006/relationships/image" Target="../media/image77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Relationship Id="rId7" Type="http://schemas.openxmlformats.org/officeDocument/2006/relationships/image" Target="../media/image80.png"/><Relationship Id="rId8" Type="http://schemas.openxmlformats.org/officeDocument/2006/relationships/image" Target="../media/image7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75.png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282154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Amazon Simple Queue Service (AWS SQS)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44304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Fully Managed Message Queuing for Scalable Applications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7006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Presenter Name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07295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Date | Organization / College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AGENDA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257666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Introduction to Message Queuing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134766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Amazon SQS Core Concepts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692872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Architecture &amp; Workflows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250977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Queue Types (Standard vs FIFO)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809083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Key Features &amp; Lifecycle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257666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Integration with AWS Services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3134766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Implementation &amp; Polling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0" y="3692872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Security &amp; Monitoring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0" y="4250977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Real-time Use Cases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4809083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Best Practices &amp; Conclusion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66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3476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28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5097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090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766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13476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6928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25097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8090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WHAT IS MESSAGE QUEUING?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Definition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message queue is a form of asynchronous service-to-service communication used in serverless and microservices architectures.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81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Producer-Consumer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81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Producers add messages to the queue, and Consumers pick them up when ready, allowing systems to operate independently.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5569"/>
            <a:ext cx="3492400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75569"/>
            <a:ext cx="3492549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175569"/>
            <a:ext cx="3492400" cy="344031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PROBLEMS WITHOUT MESSAGE QUEUES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4233" y="332809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Tight Coupling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04875" y="3861494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Direct service calls mean if one service fails, the entire application chain breaks.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12380" y="332809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Traffic Spikes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83025" y="3861494"/>
            <a:ext cx="28257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Sudden surges can overwhelm databases or downstream services without a buffer.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90684" y="332809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61325" y="3861494"/>
            <a:ext cx="282565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Hard to scale services independently when they are synchronously dependent.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7662" y="256609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301" y="2566094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4113" y="2566094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WHAT IS AMAZON SQS?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2200275"/>
            <a:ext cx="53340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Amazon SQS is a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fully managed</a:t>
            </a: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message queuing service that enables you to decouple and scale microservices, distributed systems, and serverless applications.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2009775"/>
            <a:ext cx="11715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952500" y="3583185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Serverless - No infrastructure to manage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52500" y="414129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Highly Available &amp; Scalable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0" y="4699396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Eliminates administrative overhead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318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129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99396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22165"/>
            <a:ext cx="3492549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KEY BENEFITS OF SQS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34233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Scaling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Scales from 1 to millions of messages per second automatically.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12380" y="3474690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Reliability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83025" y="4008090"/>
            <a:ext cx="28257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Messages are stored redundantly across multiple Availability Zones.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390684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Cost-Effective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46132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Pay only for what you use with no upfront costs or minimum fees.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575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7450" y="2712690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5715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SQS ARCHITECTURE</a:t>
            </a:r>
            <a:endParaRPr/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71500" y="15049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Decoupled Infrastructure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1933575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core architecture consists of three main entities: Producers (creators), The Queue (buffer), and Consumers (receivers).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3232695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This separation ensures that the producer can continue functioning even if the consumer is offline or slow.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695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2710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72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2741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775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SQS ARCHITECTURE FLOW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349850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2178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Send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Producer sends message to Queue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2786795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Store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2836515" y="4393852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SQS stores message redundantly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05181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Poll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10153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polls for messages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316825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366545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processes data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581841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Delete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63156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deletes message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22165"/>
            <a:ext cx="3492549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AWS SQS COMPONENTS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34233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Queue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0487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temporary repository for messages waiting to be processed.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612380" y="3474690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Message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83025" y="4008090"/>
            <a:ext cx="28257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data packet (up to 256KB) containing instructions or info.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390684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IDs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46132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 ID and Receipt Handle for tracking and deletion.</a:t>
            </a:r>
            <a:endParaRPr/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575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SQS QUEUE TYPES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66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Standard Queue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66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Default type. High throughput, best-effort ordering, and at-least-once delivery.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581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FIFO Queue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581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First-In-First-Out. Guarantees ordering and exactly-once processing.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STANDARD QUEUE FEATURES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952500" y="2814786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Unlimited Throughput: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Supports a nearly unlimited number of transactions per second.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952500" y="3372891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Best-Effort Ordering: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Occasionally, messages might be delivered in an order different from which they were sent.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52500" y="4250977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At-Least-Once Delivery: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 message is delivered at least once, but occasionally more than one copy of a message is delivered.</a:t>
            </a:r>
            <a:endParaRPr/>
          </a:p>
        </p:txBody>
      </p:sp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478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7289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50977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FIFO QUEUE FEATURES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952500" y="2814786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Strict Ordering: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order in which messages are sent and received is strictly preserved (First-In-First-Out).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952500" y="3692872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Exactly-Once Processing: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 message is delivered once and remains available until a consumer processes and deletes it.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952500" y="4570958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Limited Throughput: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Supports up to 300 messages per second (3,000 with batching).</a:t>
            </a:r>
            <a:endParaRPr/>
          </a:p>
        </p:txBody>
      </p:sp>
      <p:pic>
        <p:nvPicPr>
          <p:cNvPr descr="image.png"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478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28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70958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QUEUE COMPARISON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571500" y="2357437"/>
            <a:ext cx="11049000" cy="30765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25"/>
          <p:cNvGraphicFramePr/>
          <p:nvPr/>
        </p:nvGraphicFramePr>
        <p:xfrm>
          <a:off x="571500" y="2357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{B2121A2C-7FF8-4008-ADE9-5FFF3505F073}</a:tableStyleId>
              </a:tblPr>
              <a:tblGrid>
                <a:gridCol w="2527400"/>
                <a:gridCol w="3825175"/>
                <a:gridCol w="4696425"/>
              </a:tblGrid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Standard Queue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FIFO Queue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Ordering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Best-effort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First-In-First-Out (Strict)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Delivery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At-least-once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Exactly-once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Throughput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Unlimited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Limited (300/s)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Possible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(Deduplication)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25"/>
          <p:cNvSpPr/>
          <p:nvPr/>
        </p:nvSpPr>
        <p:spPr>
          <a:xfrm>
            <a:off x="571500" y="3619500"/>
            <a:ext cx="25273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3098899" y="3619500"/>
            <a:ext cx="38251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924079" y="3619500"/>
            <a:ext cx="46964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4219575"/>
            <a:ext cx="25273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3098899" y="4219575"/>
            <a:ext cx="38251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6924079" y="4219575"/>
            <a:ext cx="46964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4819650"/>
            <a:ext cx="25273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3098899" y="4819650"/>
            <a:ext cx="38251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6924079" y="4819650"/>
            <a:ext cx="46964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5419725"/>
            <a:ext cx="25273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3098899" y="5419725"/>
            <a:ext cx="38251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6924079" y="5419725"/>
            <a:ext cx="46964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68909"/>
            <a:ext cx="3492549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KEY PLATFORM FEATURES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34233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90487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Infinite scaling for standard queues.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4612380" y="362143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Retention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4683025" y="4154834"/>
            <a:ext cx="28257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Messages stay for up to 14 days (Default 4).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8390684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Dead Letter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846132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Handles failed messages for debugging.</a:t>
            </a:r>
            <a:endParaRPr/>
          </a:p>
        </p:txBody>
      </p:sp>
      <p:pic>
        <p:nvPicPr>
          <p:cNvPr descr="image.png" id="299" name="Google Shape;29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7662" y="285943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85943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4600" y="2859434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695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771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773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75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MESSAGE LIFECYCLE</a:t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571500" y="349850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52178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Produce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57150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 sent to SQS endpoint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354180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Hidden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3591520" y="4393852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polls; message becomes invisible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56182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661154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executes business logic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9581841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Delete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963156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removes from queue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MESSAGE ATTRIBUTES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866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Message Body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866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primary content (XML, JSON, or Unformatted text). Up to 256KB total size.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6581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Metadata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6581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Key-value pairs (up to 10) providing structured information without parsing the body.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3244"/>
            <a:ext cx="5334000" cy="254496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VISIBILITY TIMEOUT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571500" y="2623244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30s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571500" y="4147244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Default Timeout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6581775" y="291851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What is it?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6581775" y="3490019"/>
            <a:ext cx="474345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Period during which SQS prevents other consumers from receiving and processing the message. If processing fails, message becomes visible again after this time.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MESSAGE RETENTION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571500" y="276984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14d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571500" y="429384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Maximum Duration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6581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Persistence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6581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Messages stay in the queue even if consumers go offline. Default is 4 days. After retention expires, messages are automatically deleted.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8500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DEAD LETTER QUEUE (DLQ)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571500" y="19907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Handling Failures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571500" y="2419350"/>
            <a:ext cx="5334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DLQ is a queue that other queues can use as a target for messages that cannot be processed successfully.</a:t>
            </a:r>
            <a:endParaRPr/>
          </a:p>
        </p:txBody>
      </p:sp>
      <p:pic>
        <p:nvPicPr>
          <p:cNvPr descr="image.png" id="364" name="Google Shape;36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7550" y="2009775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/>
          <p:cNvSpPr txBox="1"/>
          <p:nvPr/>
        </p:nvSpPr>
        <p:spPr>
          <a:xfrm>
            <a:off x="952500" y="3508920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Debugging faulty consumers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952500" y="4067026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Isolating poison-pill messages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952500" y="462513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Redrive policy configuration</a:t>
            </a:r>
            <a:endParaRPr/>
          </a:p>
        </p:txBody>
      </p:sp>
      <p:pic>
        <p:nvPicPr>
          <p:cNvPr descr="image.png" id="368" name="Google Shape;36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892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702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25131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68909"/>
            <a:ext cx="3492549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ECOSYSTEM INTEGRATION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834233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Lambda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90487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Trigger serverless functions from queue events.</a:t>
            </a:r>
            <a:endParaRPr/>
          </a:p>
        </p:txBody>
      </p:sp>
      <p:sp>
        <p:nvSpPr>
          <p:cNvPr id="382" name="Google Shape;382;p32"/>
          <p:cNvSpPr txBox="1"/>
          <p:nvPr/>
        </p:nvSpPr>
        <p:spPr>
          <a:xfrm>
            <a:off x="4612380" y="362143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SNS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4683025" y="4154834"/>
            <a:ext cx="28257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Fan-out messages to multiple queues.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8390684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 Scaling</a:t>
            </a:r>
            <a:endParaRPr/>
          </a:p>
        </p:txBody>
      </p:sp>
      <p:sp>
        <p:nvSpPr>
          <p:cNvPr id="385" name="Google Shape;385;p32"/>
          <p:cNvSpPr txBox="1"/>
          <p:nvPr/>
        </p:nvSpPr>
        <p:spPr>
          <a:xfrm>
            <a:off x="846132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Scale EC2 instances based on queue length.</a:t>
            </a:r>
            <a:endParaRPr/>
          </a:p>
        </p:txBody>
      </p:sp>
      <p:pic>
        <p:nvPicPr>
          <p:cNvPr descr="image.png" id="386" name="Google Shape;38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7662" y="285943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85943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859434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3" name="Google Shape;3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3"/>
          <p:cNvSpPr txBox="1"/>
          <p:nvPr/>
        </p:nvSpPr>
        <p:spPr>
          <a:xfrm>
            <a:off x="571500" y="5715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SQS + LAMBDA</a:t>
            </a:r>
            <a:endParaRPr/>
          </a:p>
        </p:txBody>
      </p:sp>
      <p:pic>
        <p:nvPicPr>
          <p:cNvPr descr="image.png" id="395" name="Google Shape;39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3"/>
          <p:cNvSpPr txBox="1"/>
          <p:nvPr/>
        </p:nvSpPr>
        <p:spPr>
          <a:xfrm>
            <a:off x="571500" y="15049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Event-Driven Serverless</a:t>
            </a:r>
            <a:endParaRPr/>
          </a:p>
        </p:txBody>
      </p:sp>
      <p:sp>
        <p:nvSpPr>
          <p:cNvPr id="397" name="Google Shape;397;p33"/>
          <p:cNvSpPr txBox="1"/>
          <p:nvPr/>
        </p:nvSpPr>
        <p:spPr>
          <a:xfrm>
            <a:off x="571500" y="1933575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SQS acts as an event source for AWS Lambda. SQS automatically polls the queue and invokes Lambda with message batches.</a:t>
            </a:r>
            <a:endParaRPr/>
          </a:p>
        </p:txBody>
      </p:sp>
      <p:sp>
        <p:nvSpPr>
          <p:cNvPr id="398" name="Google Shape;398;p33"/>
          <p:cNvSpPr txBox="1"/>
          <p:nvPr/>
        </p:nvSpPr>
        <p:spPr>
          <a:xfrm>
            <a:off x="571500" y="3232695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If Lambda fails, SQS retries processing based on the visibility timeout.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SNS + SQS FAN-OUT</a:t>
            </a:r>
            <a:endParaRPr/>
          </a:p>
        </p:txBody>
      </p:sp>
      <p:sp>
        <p:nvSpPr>
          <p:cNvPr id="406" name="Google Shape;406;p34"/>
          <p:cNvSpPr txBox="1"/>
          <p:nvPr/>
        </p:nvSpPr>
        <p:spPr>
          <a:xfrm>
            <a:off x="571500" y="19907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Fan-out Pattern</a:t>
            </a:r>
            <a:endParaRPr/>
          </a:p>
        </p:txBody>
      </p:sp>
      <p:sp>
        <p:nvSpPr>
          <p:cNvPr id="407" name="Google Shape;407;p34"/>
          <p:cNvSpPr txBox="1"/>
          <p:nvPr/>
        </p:nvSpPr>
        <p:spPr>
          <a:xfrm>
            <a:off x="571500" y="2419350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message sent to an SNS topic is replicated to multiple SQS queues simultaneously.</a:t>
            </a:r>
            <a:endParaRPr/>
          </a:p>
        </p:txBody>
      </p:sp>
      <p:sp>
        <p:nvSpPr>
          <p:cNvPr id="408" name="Google Shape;408;p34"/>
          <p:cNvSpPr txBox="1"/>
          <p:nvPr/>
        </p:nvSpPr>
        <p:spPr>
          <a:xfrm>
            <a:off x="571500" y="3215580"/>
            <a:ext cx="5334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Useful for parallel processing where multiple microservices need the same data (e.g., Analytics, Email, and Database services).</a:t>
            </a:r>
            <a:endParaRPr/>
          </a:p>
        </p:txBody>
      </p:sp>
      <p:pic>
        <p:nvPicPr>
          <p:cNvPr descr="image.png" id="409" name="Google Shape;40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2009775"/>
            <a:ext cx="529590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CREATING A QUEUE</a:t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952500" y="2576661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1: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Log in to AWS Console and open the SQS dashboard.</a:t>
            </a:r>
            <a:endParaRPr/>
          </a:p>
        </p:txBody>
      </p:sp>
      <p:sp>
        <p:nvSpPr>
          <p:cNvPr id="417" name="Google Shape;417;p35"/>
          <p:cNvSpPr txBox="1"/>
          <p:nvPr/>
        </p:nvSpPr>
        <p:spPr>
          <a:xfrm>
            <a:off x="952500" y="3134766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2: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Click "Create Queue" and choose Standard or FIFO.</a:t>
            </a:r>
            <a:endParaRPr/>
          </a:p>
        </p:txBody>
      </p:sp>
      <p:sp>
        <p:nvSpPr>
          <p:cNvPr id="418" name="Google Shape;418;p35"/>
          <p:cNvSpPr txBox="1"/>
          <p:nvPr/>
        </p:nvSpPr>
        <p:spPr>
          <a:xfrm>
            <a:off x="952500" y="3692872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3: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Configure "Visibility Timeout" and "Message Retention".</a:t>
            </a:r>
            <a:endParaRPr/>
          </a:p>
        </p:txBody>
      </p:sp>
      <p:sp>
        <p:nvSpPr>
          <p:cNvPr id="419" name="Google Shape;419;p35"/>
          <p:cNvSpPr txBox="1"/>
          <p:nvPr/>
        </p:nvSpPr>
        <p:spPr>
          <a:xfrm>
            <a:off x="952500" y="4250977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4: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Setup Access Policies (IAM) and Encryption (KMS).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952500" y="4809083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5: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Review and click "Create Queue".</a:t>
            </a:r>
            <a:endParaRPr/>
          </a:p>
        </p:txBody>
      </p:sp>
      <p:pic>
        <p:nvPicPr>
          <p:cNvPr descr="image.png" id="421" name="Google Shape;42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66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3476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28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5097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090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0" name="Google Shape;43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SENDING MESSAGES</a:t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952500" y="2846189"/>
            <a:ext cx="10668000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API call: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SendMessage</a:t>
            </a:r>
            <a:endParaRPr/>
          </a:p>
        </p:txBody>
      </p:sp>
      <p:sp>
        <p:nvSpPr>
          <p:cNvPr id="433" name="Google Shape;433;p36"/>
          <p:cNvSpPr txBox="1"/>
          <p:nvPr/>
        </p:nvSpPr>
        <p:spPr>
          <a:xfrm>
            <a:off x="952500" y="3413819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SDK Support: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Java, Python (Boto3), Node.js, etc.</a:t>
            </a:r>
            <a:endParaRPr/>
          </a:p>
        </p:txBody>
      </p:sp>
      <p:sp>
        <p:nvSpPr>
          <p:cNvPr id="434" name="Google Shape;434;p36"/>
          <p:cNvSpPr txBox="1"/>
          <p:nvPr/>
        </p:nvSpPr>
        <p:spPr>
          <a:xfrm>
            <a:off x="952500" y="3971925"/>
            <a:ext cx="10668000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Batching: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Use SendMessageBatch to send up to 10 messages (saves cost).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952500" y="4539555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Delay: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You can set a delay (up to 15m) before a message becomes visible.</a:t>
            </a:r>
            <a:endParaRPr/>
          </a:p>
        </p:txBody>
      </p:sp>
      <p:pic>
        <p:nvPicPr>
          <p:cNvPr descr="image.png" id="436" name="Google Shape;43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618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1381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719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3955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4" name="Google Shape;44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RECEIVING &amp; POLLING</a:t>
            </a:r>
            <a:endParaRPr/>
          </a:p>
        </p:txBody>
      </p:sp>
      <p:sp>
        <p:nvSpPr>
          <p:cNvPr id="448" name="Google Shape;448;p37"/>
          <p:cNvSpPr txBox="1"/>
          <p:nvPr/>
        </p:nvSpPr>
        <p:spPr>
          <a:xfrm>
            <a:off x="866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Short Polling</a:t>
            </a:r>
            <a:endParaRPr/>
          </a:p>
        </p:txBody>
      </p:sp>
      <p:sp>
        <p:nvSpPr>
          <p:cNvPr id="449" name="Google Shape;449;p37"/>
          <p:cNvSpPr txBox="1"/>
          <p:nvPr/>
        </p:nvSpPr>
        <p:spPr>
          <a:xfrm>
            <a:off x="866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Returns immediately, even if the queue is empty. Can increase costs due to empty responses.</a:t>
            </a:r>
            <a:endParaRPr/>
          </a:p>
        </p:txBody>
      </p:sp>
      <p:sp>
        <p:nvSpPr>
          <p:cNvPr id="450" name="Google Shape;450;p37"/>
          <p:cNvSpPr txBox="1"/>
          <p:nvPr/>
        </p:nvSpPr>
        <p:spPr>
          <a:xfrm>
            <a:off x="6581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Long Polling</a:t>
            </a:r>
            <a:endParaRPr/>
          </a:p>
        </p:txBody>
      </p:sp>
      <p:sp>
        <p:nvSpPr>
          <p:cNvPr id="451" name="Google Shape;451;p37"/>
          <p:cNvSpPr txBox="1"/>
          <p:nvPr/>
        </p:nvSpPr>
        <p:spPr>
          <a:xfrm>
            <a:off x="6581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Wait up to 20 seconds for a message to arrive. Reduces cost and empty responses significantly.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6" name="Google Shape;45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76500"/>
            <a:ext cx="5334000" cy="283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MESSAGE DELETION</a:t>
            </a:r>
            <a:endParaRPr/>
          </a:p>
        </p:txBody>
      </p:sp>
      <p:sp>
        <p:nvSpPr>
          <p:cNvPr id="459" name="Google Shape;459;p38"/>
          <p:cNvSpPr txBox="1"/>
          <p:nvPr/>
        </p:nvSpPr>
        <p:spPr>
          <a:xfrm>
            <a:off x="571500" y="24765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460" name="Google Shape;460;p38"/>
          <p:cNvSpPr txBox="1"/>
          <p:nvPr/>
        </p:nvSpPr>
        <p:spPr>
          <a:xfrm>
            <a:off x="571500" y="400050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Required Action</a:t>
            </a:r>
            <a:endParaRPr/>
          </a:p>
        </p:txBody>
      </p:sp>
      <p:sp>
        <p:nvSpPr>
          <p:cNvPr id="461" name="Google Shape;461;p38"/>
          <p:cNvSpPr txBox="1"/>
          <p:nvPr/>
        </p:nvSpPr>
        <p:spPr>
          <a:xfrm>
            <a:off x="6581775" y="277177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Why Delete?</a:t>
            </a:r>
            <a:endParaRPr/>
          </a:p>
        </p:txBody>
      </p:sp>
      <p:sp>
        <p:nvSpPr>
          <p:cNvPr id="462" name="Google Shape;462;p38"/>
          <p:cNvSpPr txBox="1"/>
          <p:nvPr/>
        </p:nvSpPr>
        <p:spPr>
          <a:xfrm>
            <a:off x="6581775" y="3343275"/>
            <a:ext cx="4743450" cy="14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SQS does not automatically delete messages after receipt. Consumers must call DeleteMessage using the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Receipt Handle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to prevent the message from being processed again.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7" name="Google Shape;4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22165"/>
            <a:ext cx="3492549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SECURITY &amp; COMPLIANCE</a:t>
            </a:r>
            <a:endParaRPr/>
          </a:p>
        </p:txBody>
      </p:sp>
      <p:sp>
        <p:nvSpPr>
          <p:cNvPr id="472" name="Google Shape;472;p39"/>
          <p:cNvSpPr txBox="1"/>
          <p:nvPr/>
        </p:nvSpPr>
        <p:spPr>
          <a:xfrm>
            <a:off x="834233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IAM Policies</a:t>
            </a:r>
            <a:endParaRPr/>
          </a:p>
        </p:txBody>
      </p:sp>
      <p:sp>
        <p:nvSpPr>
          <p:cNvPr id="473" name="Google Shape;473;p39"/>
          <p:cNvSpPr txBox="1"/>
          <p:nvPr/>
        </p:nvSpPr>
        <p:spPr>
          <a:xfrm>
            <a:off x="904875" y="4008090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Granular access control for producers and consumers.</a:t>
            </a:r>
            <a:endParaRPr/>
          </a:p>
        </p:txBody>
      </p:sp>
      <p:sp>
        <p:nvSpPr>
          <p:cNvPr id="474" name="Google Shape;474;p39"/>
          <p:cNvSpPr txBox="1"/>
          <p:nvPr/>
        </p:nvSpPr>
        <p:spPr>
          <a:xfrm>
            <a:off x="4612380" y="3474690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Encryption</a:t>
            </a:r>
            <a:endParaRPr/>
          </a:p>
        </p:txBody>
      </p:sp>
      <p:sp>
        <p:nvSpPr>
          <p:cNvPr id="475" name="Google Shape;475;p39"/>
          <p:cNvSpPr txBox="1"/>
          <p:nvPr/>
        </p:nvSpPr>
        <p:spPr>
          <a:xfrm>
            <a:off x="4683025" y="4008090"/>
            <a:ext cx="28257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Server-side encryption for data at rest (SSE).</a:t>
            </a:r>
            <a:endParaRPr/>
          </a:p>
        </p:txBody>
      </p:sp>
      <p:sp>
        <p:nvSpPr>
          <p:cNvPr id="476" name="Google Shape;476;p39"/>
          <p:cNvSpPr txBox="1"/>
          <p:nvPr/>
        </p:nvSpPr>
        <p:spPr>
          <a:xfrm>
            <a:off x="8390684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VPC Endpoints</a:t>
            </a:r>
            <a:endParaRPr/>
          </a:p>
        </p:txBody>
      </p:sp>
      <p:sp>
        <p:nvSpPr>
          <p:cNvPr id="477" name="Google Shape;477;p39"/>
          <p:cNvSpPr txBox="1"/>
          <p:nvPr/>
        </p:nvSpPr>
        <p:spPr>
          <a:xfrm>
            <a:off x="846132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Connect privately without traversing the public internet.</a:t>
            </a:r>
            <a:endParaRPr/>
          </a:p>
        </p:txBody>
      </p:sp>
      <p:pic>
        <p:nvPicPr>
          <p:cNvPr descr="image.png" id="478" name="Google Shape;478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7662" y="271269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301" y="271269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4113" y="2712690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5" name="Google Shape;4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8500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ENCRYPTION AT REST</a:t>
            </a:r>
            <a:endParaRPr/>
          </a:p>
        </p:txBody>
      </p:sp>
      <p:sp>
        <p:nvSpPr>
          <p:cNvPr id="488" name="Google Shape;488;p40"/>
          <p:cNvSpPr txBox="1"/>
          <p:nvPr/>
        </p:nvSpPr>
        <p:spPr>
          <a:xfrm>
            <a:off x="571500" y="19907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KMS Integration</a:t>
            </a:r>
            <a:endParaRPr/>
          </a:p>
        </p:txBody>
      </p:sp>
      <p:sp>
        <p:nvSpPr>
          <p:cNvPr id="489" name="Google Shape;489;p40"/>
          <p:cNvSpPr txBox="1"/>
          <p:nvPr/>
        </p:nvSpPr>
        <p:spPr>
          <a:xfrm>
            <a:off x="571500" y="2419350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SQS integrates with AWS Key Management Service (KMS) to manage keys that encrypt your messages.</a:t>
            </a:r>
            <a:endParaRPr/>
          </a:p>
        </p:txBody>
      </p:sp>
      <p:pic>
        <p:nvPicPr>
          <p:cNvPr descr="image.png" id="490" name="Google Shape;49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7550" y="2009775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0"/>
          <p:cNvSpPr txBox="1"/>
          <p:nvPr/>
        </p:nvSpPr>
        <p:spPr>
          <a:xfrm>
            <a:off x="952500" y="3215580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SSE-SQS: Managed by SQS</a:t>
            </a:r>
            <a:endParaRPr/>
          </a:p>
        </p:txBody>
      </p:sp>
      <p:sp>
        <p:nvSpPr>
          <p:cNvPr id="492" name="Google Shape;492;p40"/>
          <p:cNvSpPr txBox="1"/>
          <p:nvPr/>
        </p:nvSpPr>
        <p:spPr>
          <a:xfrm>
            <a:off x="952500" y="3773685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SSE-KMS: Customer managed keys</a:t>
            </a:r>
            <a:endParaRPr/>
          </a:p>
        </p:txBody>
      </p:sp>
      <p:sp>
        <p:nvSpPr>
          <p:cNvPr id="493" name="Google Shape;493;p40"/>
          <p:cNvSpPr txBox="1"/>
          <p:nvPr/>
        </p:nvSpPr>
        <p:spPr>
          <a:xfrm>
            <a:off x="952500" y="433179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Protects sensitive PII/Financial data</a:t>
            </a:r>
            <a:endParaRPr/>
          </a:p>
        </p:txBody>
      </p:sp>
      <p:pic>
        <p:nvPicPr>
          <p:cNvPr descr="image.png" id="494" name="Google Shape;49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1558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5" name="Google Shape;495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7368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31791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1" name="Google Shape;50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IAM PERMISSIONS</a:t>
            </a:r>
            <a:endParaRPr/>
          </a:p>
        </p:txBody>
      </p:sp>
      <p:sp>
        <p:nvSpPr>
          <p:cNvPr id="503" name="Google Shape;503;p41"/>
          <p:cNvSpPr/>
          <p:nvPr/>
        </p:nvSpPr>
        <p:spPr>
          <a:xfrm>
            <a:off x="571500" y="2338387"/>
            <a:ext cx="11049000" cy="31146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4" name="Google Shape;504;p41"/>
          <p:cNvGraphicFramePr/>
          <p:nvPr/>
        </p:nvGraphicFramePr>
        <p:xfrm>
          <a:off x="571500" y="2338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{B2121A2C-7FF8-4008-ADE9-5FFF3505F073}</a:tableStyleId>
              </a:tblPr>
              <a:tblGrid>
                <a:gridCol w="4133400"/>
                <a:gridCol w="6915600"/>
              </a:tblGrid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sqs:SendMessage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Required for Producers to add messages.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sqs:ReceiveMessage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Required for Consumers to read messages.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sqs:DeleteMessage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Required to remove processed messages.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sqs:GetQueueAttributes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Required for monitoring queue metadata.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5" name="Google Shape;505;p41"/>
          <p:cNvSpPr/>
          <p:nvPr/>
        </p:nvSpPr>
        <p:spPr>
          <a:xfrm>
            <a:off x="571500" y="3609975"/>
            <a:ext cx="41334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4704903" y="3609975"/>
            <a:ext cx="69155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1"/>
          <p:cNvSpPr/>
          <p:nvPr/>
        </p:nvSpPr>
        <p:spPr>
          <a:xfrm>
            <a:off x="571500" y="4219575"/>
            <a:ext cx="41334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1"/>
          <p:cNvSpPr/>
          <p:nvPr/>
        </p:nvSpPr>
        <p:spPr>
          <a:xfrm>
            <a:off x="4704903" y="4219575"/>
            <a:ext cx="69155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1"/>
          <p:cNvSpPr/>
          <p:nvPr/>
        </p:nvSpPr>
        <p:spPr>
          <a:xfrm>
            <a:off x="571500" y="4829175"/>
            <a:ext cx="41334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1"/>
          <p:cNvSpPr/>
          <p:nvPr/>
        </p:nvSpPr>
        <p:spPr>
          <a:xfrm>
            <a:off x="4704903" y="4829175"/>
            <a:ext cx="69155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1"/>
          <p:cNvSpPr/>
          <p:nvPr/>
        </p:nvSpPr>
        <p:spPr>
          <a:xfrm>
            <a:off x="571500" y="5438775"/>
            <a:ext cx="41334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1"/>
          <p:cNvSpPr/>
          <p:nvPr/>
        </p:nvSpPr>
        <p:spPr>
          <a:xfrm>
            <a:off x="4704903" y="5438775"/>
            <a:ext cx="69155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7" name="Google Shape;51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CLOUDWATCH MONITORING</a:t>
            </a:r>
            <a:endParaRPr/>
          </a:p>
        </p:txBody>
      </p:sp>
      <p:pic>
        <p:nvPicPr>
          <p:cNvPr descr="image.png" id="520" name="Google Shape;52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009775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2"/>
          <p:cNvSpPr txBox="1"/>
          <p:nvPr/>
        </p:nvSpPr>
        <p:spPr>
          <a:xfrm>
            <a:off x="6667500" y="2143125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NumberOfMessagesSent: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Volume of incoming traffic.</a:t>
            </a:r>
            <a:endParaRPr/>
          </a:p>
        </p:txBody>
      </p:sp>
      <p:sp>
        <p:nvSpPr>
          <p:cNvPr id="522" name="Google Shape;522;p42"/>
          <p:cNvSpPr txBox="1"/>
          <p:nvPr/>
        </p:nvSpPr>
        <p:spPr>
          <a:xfrm>
            <a:off x="6667500" y="3021210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ApproximateNumberOfMessagesVisible: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Backlog size.</a:t>
            </a:r>
            <a:endParaRPr/>
          </a:p>
        </p:txBody>
      </p:sp>
      <p:sp>
        <p:nvSpPr>
          <p:cNvPr id="523" name="Google Shape;523;p42"/>
          <p:cNvSpPr txBox="1"/>
          <p:nvPr/>
        </p:nvSpPr>
        <p:spPr>
          <a:xfrm>
            <a:off x="6667500" y="3899296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ApproximateAgeOfOldestMessage: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Processing delay metric.</a:t>
            </a:r>
            <a:endParaRPr/>
          </a:p>
        </p:txBody>
      </p:sp>
      <p:pic>
        <p:nvPicPr>
          <p:cNvPr descr="image.png" id="524" name="Google Shape;52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1431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2121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6" name="Google Shape;52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99296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1" name="Google Shape;5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5569"/>
            <a:ext cx="3492400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75569"/>
            <a:ext cx="3492549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4" name="Google Shape;53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175569"/>
            <a:ext cx="3492400" cy="344031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COMMON TROUBLESHOOTING</a:t>
            </a:r>
            <a:endParaRPr/>
          </a:p>
        </p:txBody>
      </p:sp>
      <p:sp>
        <p:nvSpPr>
          <p:cNvPr id="536" name="Google Shape;536;p43"/>
          <p:cNvSpPr txBox="1"/>
          <p:nvPr/>
        </p:nvSpPr>
        <p:spPr>
          <a:xfrm>
            <a:off x="834233" y="332809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Duplication</a:t>
            </a:r>
            <a:endParaRPr/>
          </a:p>
        </p:txBody>
      </p:sp>
      <p:sp>
        <p:nvSpPr>
          <p:cNvPr id="537" name="Google Shape;537;p43"/>
          <p:cNvSpPr txBox="1"/>
          <p:nvPr/>
        </p:nvSpPr>
        <p:spPr>
          <a:xfrm>
            <a:off x="904875" y="3861494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Caused by short visibility timeout. Increase timeout to match processing time.</a:t>
            </a:r>
            <a:endParaRPr/>
          </a:p>
        </p:txBody>
      </p:sp>
      <p:sp>
        <p:nvSpPr>
          <p:cNvPr id="538" name="Google Shape;538;p43"/>
          <p:cNvSpPr txBox="1"/>
          <p:nvPr/>
        </p:nvSpPr>
        <p:spPr>
          <a:xfrm>
            <a:off x="4612380" y="332809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Delayed Processing</a:t>
            </a:r>
            <a:endParaRPr/>
          </a:p>
        </p:txBody>
      </p:sp>
      <p:sp>
        <p:nvSpPr>
          <p:cNvPr id="539" name="Google Shape;539;p43"/>
          <p:cNvSpPr txBox="1"/>
          <p:nvPr/>
        </p:nvSpPr>
        <p:spPr>
          <a:xfrm>
            <a:off x="4683025" y="3861494"/>
            <a:ext cx="28257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Check "ApproximateQueueLength". Scale consumers using Auto Scaling.</a:t>
            </a:r>
            <a:endParaRPr/>
          </a:p>
        </p:txBody>
      </p:sp>
      <p:sp>
        <p:nvSpPr>
          <p:cNvPr id="540" name="Google Shape;540;p43"/>
          <p:cNvSpPr txBox="1"/>
          <p:nvPr/>
        </p:nvSpPr>
        <p:spPr>
          <a:xfrm>
            <a:off x="8390684" y="332809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DLQ Overflow</a:t>
            </a:r>
            <a:endParaRPr/>
          </a:p>
        </p:txBody>
      </p:sp>
      <p:sp>
        <p:nvSpPr>
          <p:cNvPr id="541" name="Google Shape;541;p43"/>
          <p:cNvSpPr txBox="1"/>
          <p:nvPr/>
        </p:nvSpPr>
        <p:spPr>
          <a:xfrm>
            <a:off x="8461325" y="3861494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Indicates recurring code errors. Inspect message bodies and code logs.</a:t>
            </a:r>
            <a:endParaRPr/>
          </a:p>
        </p:txBody>
      </p:sp>
      <p:pic>
        <p:nvPicPr>
          <p:cNvPr descr="image.png" id="542" name="Google Shape;54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8150" y="2566094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3" name="Google Shape;54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14876" y="2566094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4" name="Google Shape;544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566094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9" name="Google Shape;54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0" name="Google Shape;55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1" name="Google Shape;55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68909"/>
            <a:ext cx="3492549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REAL-WORLD USE CASES</a:t>
            </a:r>
            <a:endParaRPr/>
          </a:p>
        </p:txBody>
      </p:sp>
      <p:sp>
        <p:nvSpPr>
          <p:cNvPr id="554" name="Google Shape;554;p44"/>
          <p:cNvSpPr txBox="1"/>
          <p:nvPr/>
        </p:nvSpPr>
        <p:spPr>
          <a:xfrm>
            <a:off x="834233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E-Commerce</a:t>
            </a:r>
            <a:endParaRPr/>
          </a:p>
        </p:txBody>
      </p:sp>
      <p:sp>
        <p:nvSpPr>
          <p:cNvPr id="555" name="Google Shape;555;p44"/>
          <p:cNvSpPr txBox="1"/>
          <p:nvPr/>
        </p:nvSpPr>
        <p:spPr>
          <a:xfrm>
            <a:off x="90487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Decoupling order placement from payment processing.</a:t>
            </a:r>
            <a:endParaRPr/>
          </a:p>
        </p:txBody>
      </p:sp>
      <p:sp>
        <p:nvSpPr>
          <p:cNvPr id="556" name="Google Shape;556;p44"/>
          <p:cNvSpPr txBox="1"/>
          <p:nvPr/>
        </p:nvSpPr>
        <p:spPr>
          <a:xfrm>
            <a:off x="4612380" y="362143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Media Encoding</a:t>
            </a:r>
            <a:endParaRPr/>
          </a:p>
        </p:txBody>
      </p:sp>
      <p:sp>
        <p:nvSpPr>
          <p:cNvPr id="557" name="Google Shape;557;p44"/>
          <p:cNvSpPr txBox="1"/>
          <p:nvPr/>
        </p:nvSpPr>
        <p:spPr>
          <a:xfrm>
            <a:off x="4683025" y="4154834"/>
            <a:ext cx="28257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Queueing video files for background conversion.</a:t>
            </a:r>
            <a:endParaRPr/>
          </a:p>
        </p:txBody>
      </p:sp>
      <p:sp>
        <p:nvSpPr>
          <p:cNvPr id="558" name="Google Shape;558;p44"/>
          <p:cNvSpPr txBox="1"/>
          <p:nvPr/>
        </p:nvSpPr>
        <p:spPr>
          <a:xfrm>
            <a:off x="8390684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Notifications</a:t>
            </a:r>
            <a:endParaRPr/>
          </a:p>
        </p:txBody>
      </p:sp>
      <p:sp>
        <p:nvSpPr>
          <p:cNvPr id="559" name="Google Shape;559;p44"/>
          <p:cNvSpPr txBox="1"/>
          <p:nvPr/>
        </p:nvSpPr>
        <p:spPr>
          <a:xfrm>
            <a:off x="846132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Sending massive volumes of async emails or SMS.</a:t>
            </a:r>
            <a:endParaRPr/>
          </a:p>
        </p:txBody>
      </p:sp>
      <p:pic>
        <p:nvPicPr>
          <p:cNvPr descr="image.png" id="560" name="Google Shape;560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1000" y="2859434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151" y="2859434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4600" y="2859434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7" name="Google Shape;56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5"/>
          <p:cNvSpPr txBox="1"/>
          <p:nvPr/>
        </p:nvSpPr>
        <p:spPr>
          <a:xfrm>
            <a:off x="571500" y="5715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E-COMMERCE FLOW</a:t>
            </a:r>
            <a:endParaRPr/>
          </a:p>
        </p:txBody>
      </p:sp>
      <p:pic>
        <p:nvPicPr>
          <p:cNvPr descr="image.png" id="569" name="Google Shape;56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5"/>
          <p:cNvSpPr txBox="1"/>
          <p:nvPr/>
        </p:nvSpPr>
        <p:spPr>
          <a:xfrm>
            <a:off x="571500" y="15049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Ordering Pipeline</a:t>
            </a:r>
            <a:endParaRPr/>
          </a:p>
        </p:txBody>
      </p:sp>
      <p:sp>
        <p:nvSpPr>
          <p:cNvPr id="571" name="Google Shape;571;p45"/>
          <p:cNvSpPr txBox="1"/>
          <p:nvPr/>
        </p:nvSpPr>
        <p:spPr>
          <a:xfrm>
            <a:off x="571500" y="1933575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1. User clicks "Buy" → Web tier sends JSON to SQS.</a:t>
            </a:r>
            <a:endParaRPr/>
          </a:p>
        </p:txBody>
      </p:sp>
      <p:sp>
        <p:nvSpPr>
          <p:cNvPr id="572" name="Google Shape;572;p45"/>
          <p:cNvSpPr txBox="1"/>
          <p:nvPr/>
        </p:nvSpPr>
        <p:spPr>
          <a:xfrm>
            <a:off x="571500" y="2646015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2. SQS buffers the order → Fulfillment service pulls when ready.</a:t>
            </a:r>
            <a:endParaRPr/>
          </a:p>
        </p:txBody>
      </p:sp>
      <p:sp>
        <p:nvSpPr>
          <p:cNvPr id="573" name="Google Shape;573;p45"/>
          <p:cNvSpPr txBox="1"/>
          <p:nvPr/>
        </p:nvSpPr>
        <p:spPr>
          <a:xfrm>
            <a:off x="571500" y="3651795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3. Fulfillment calls Payment API and clears SQS message.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8" name="Google Shape;57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BEST PRACTICES</a:t>
            </a:r>
            <a:endParaRPr/>
          </a:p>
        </p:txBody>
      </p:sp>
      <p:sp>
        <p:nvSpPr>
          <p:cNvPr id="580" name="Google Shape;580;p46"/>
          <p:cNvSpPr txBox="1"/>
          <p:nvPr/>
        </p:nvSpPr>
        <p:spPr>
          <a:xfrm>
            <a:off x="952500" y="2850951"/>
            <a:ext cx="10668000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Always use Long Polling: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Set WaitTimeSeconds to 20s to reduce costs.</a:t>
            </a:r>
            <a:endParaRPr/>
          </a:p>
        </p:txBody>
      </p:sp>
      <p:sp>
        <p:nvSpPr>
          <p:cNvPr id="581" name="Google Shape;581;p46"/>
          <p:cNvSpPr txBox="1"/>
          <p:nvPr/>
        </p:nvSpPr>
        <p:spPr>
          <a:xfrm>
            <a:off x="952500" y="3418582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Configure DLQ: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Always have a Dead Letter Queue for failed message isolation.</a:t>
            </a:r>
            <a:endParaRPr/>
          </a:p>
        </p:txBody>
      </p:sp>
      <p:sp>
        <p:nvSpPr>
          <p:cNvPr id="582" name="Google Shape;582;p46"/>
          <p:cNvSpPr txBox="1"/>
          <p:nvPr/>
        </p:nvSpPr>
        <p:spPr>
          <a:xfrm>
            <a:off x="952500" y="3976687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Idempotent Consumers: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Ensure your app can process the same message twice without side effects.</a:t>
            </a:r>
            <a:endParaRPr/>
          </a:p>
        </p:txBody>
      </p:sp>
      <p:sp>
        <p:nvSpPr>
          <p:cNvPr id="583" name="Google Shape;583;p46"/>
          <p:cNvSpPr txBox="1"/>
          <p:nvPr/>
        </p:nvSpPr>
        <p:spPr>
          <a:xfrm>
            <a:off x="952500" y="4534792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Right-size Visibility Timeout: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Set it to 6x your average processing time.</a:t>
            </a:r>
            <a:endParaRPr/>
          </a:p>
        </p:txBody>
      </p:sp>
      <p:pic>
        <p:nvPicPr>
          <p:cNvPr descr="image.png" id="584" name="Google Shape;58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095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5" name="Google Shape;58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1858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6" name="Google Shape;5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7668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7" name="Google Shape;58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34792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2" name="Google Shape;59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3" name="Google Shape;59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4" name="Google Shape;594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WHY CHOOSE SQS?</a:t>
            </a:r>
            <a:endParaRPr/>
          </a:p>
        </p:txBody>
      </p:sp>
      <p:sp>
        <p:nvSpPr>
          <p:cNvPr id="596" name="Google Shape;596;p47"/>
          <p:cNvSpPr txBox="1"/>
          <p:nvPr/>
        </p:nvSpPr>
        <p:spPr>
          <a:xfrm>
            <a:off x="866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Admin Free</a:t>
            </a:r>
            <a:endParaRPr/>
          </a:p>
        </p:txBody>
      </p:sp>
      <p:sp>
        <p:nvSpPr>
          <p:cNvPr id="597" name="Google Shape;597;p47"/>
          <p:cNvSpPr txBox="1"/>
          <p:nvPr/>
        </p:nvSpPr>
        <p:spPr>
          <a:xfrm>
            <a:off x="866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No software to install, no servers to manage, and no message durability to worry about.</a:t>
            </a:r>
            <a:endParaRPr/>
          </a:p>
        </p:txBody>
      </p:sp>
      <p:sp>
        <p:nvSpPr>
          <p:cNvPr id="598" name="Google Shape;598;p47"/>
          <p:cNvSpPr txBox="1"/>
          <p:nvPr/>
        </p:nvSpPr>
        <p:spPr>
          <a:xfrm>
            <a:off x="6581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Elasticity</a:t>
            </a:r>
            <a:endParaRPr/>
          </a:p>
        </p:txBody>
      </p:sp>
      <p:sp>
        <p:nvSpPr>
          <p:cNvPr id="599" name="Google Shape;599;p47"/>
          <p:cNvSpPr txBox="1"/>
          <p:nvPr/>
        </p:nvSpPr>
        <p:spPr>
          <a:xfrm>
            <a:off x="6581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Handles bursts of any size seamlessly without any manual intervention or pre-provisioning.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4" name="Google Shape;60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CONSTRAINTS TO NOTE</a:t>
            </a:r>
            <a:endParaRPr/>
          </a:p>
        </p:txBody>
      </p:sp>
      <p:sp>
        <p:nvSpPr>
          <p:cNvPr id="606" name="Google Shape;606;p48"/>
          <p:cNvSpPr txBox="1"/>
          <p:nvPr/>
        </p:nvSpPr>
        <p:spPr>
          <a:xfrm>
            <a:off x="952500" y="2855714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 Size: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Maximum 256KB (Use S3 for larger files).</a:t>
            </a:r>
            <a:endParaRPr/>
          </a:p>
        </p:txBody>
      </p:sp>
      <p:sp>
        <p:nvSpPr>
          <p:cNvPr id="607" name="Google Shape;607;p48"/>
          <p:cNvSpPr txBox="1"/>
          <p:nvPr/>
        </p:nvSpPr>
        <p:spPr>
          <a:xfrm>
            <a:off x="952500" y="3413819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No Broadcasting: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One consumer per message (Use SNS for 1-to-many).</a:t>
            </a:r>
            <a:endParaRPr/>
          </a:p>
        </p:txBody>
      </p:sp>
      <p:sp>
        <p:nvSpPr>
          <p:cNvPr id="608" name="Google Shape;608;p48"/>
          <p:cNvSpPr txBox="1"/>
          <p:nvPr/>
        </p:nvSpPr>
        <p:spPr>
          <a:xfrm>
            <a:off x="952500" y="3971925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FIFO Limits: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300 tps is lower than Standard's unlimited scale.</a:t>
            </a:r>
            <a:endParaRPr/>
          </a:p>
        </p:txBody>
      </p:sp>
      <p:sp>
        <p:nvSpPr>
          <p:cNvPr id="609" name="Google Shape;609;p48"/>
          <p:cNvSpPr txBox="1"/>
          <p:nvPr/>
        </p:nvSpPr>
        <p:spPr>
          <a:xfrm>
            <a:off x="952500" y="4530030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Polling Costs: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Frequent short polling can lead to high AWS bills.</a:t>
            </a:r>
            <a:endParaRPr/>
          </a:p>
        </p:txBody>
      </p:sp>
      <p:pic>
        <p:nvPicPr>
          <p:cNvPr descr="image.png" id="610" name="Google Shape;61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571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1" name="Google Shape;61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1381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2" name="Google Shape;61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719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3" name="Google Shape;61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30030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8" name="Google Shape;61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COMPARISON WITH ALTERNATIVES</a:t>
            </a:r>
            <a:endParaRPr/>
          </a:p>
        </p:txBody>
      </p:sp>
      <p:sp>
        <p:nvSpPr>
          <p:cNvPr id="620" name="Google Shape;620;p49"/>
          <p:cNvSpPr/>
          <p:nvPr/>
        </p:nvSpPr>
        <p:spPr>
          <a:xfrm>
            <a:off x="571500" y="2657475"/>
            <a:ext cx="11049000" cy="24765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1" name="Google Shape;621;p49"/>
          <p:cNvGraphicFramePr/>
          <p:nvPr/>
        </p:nvGraphicFramePr>
        <p:xfrm>
          <a:off x="571500" y="2657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{B2121A2C-7FF8-4008-ADE9-5FFF3505F073}</a:tableStyleId>
              </a:tblPr>
              <a:tblGrid>
                <a:gridCol w="1714200"/>
                <a:gridCol w="2865975"/>
                <a:gridCol w="2839200"/>
                <a:gridCol w="3629625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AWS SQS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Amazon MQ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Amazon MSK (Kafka)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Serverless Queue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Broker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Streaming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Protocols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 (API)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AMQP, MQTT, JMS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Kafka Binary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Cloud-native apps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Migration (Legacy)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Real-time analytics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2" name="Google Shape;622;p49"/>
          <p:cNvSpPr/>
          <p:nvPr/>
        </p:nvSpPr>
        <p:spPr>
          <a:xfrm>
            <a:off x="571500" y="3919537"/>
            <a:ext cx="17142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2285702" y="3919537"/>
            <a:ext cx="28659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9"/>
          <p:cNvSpPr/>
          <p:nvPr/>
        </p:nvSpPr>
        <p:spPr>
          <a:xfrm>
            <a:off x="5151685" y="3919537"/>
            <a:ext cx="28391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9"/>
          <p:cNvSpPr/>
          <p:nvPr/>
        </p:nvSpPr>
        <p:spPr>
          <a:xfrm>
            <a:off x="7990879" y="3919537"/>
            <a:ext cx="36296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9"/>
          <p:cNvSpPr/>
          <p:nvPr/>
        </p:nvSpPr>
        <p:spPr>
          <a:xfrm>
            <a:off x="571500" y="4519612"/>
            <a:ext cx="17142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9"/>
          <p:cNvSpPr/>
          <p:nvPr/>
        </p:nvSpPr>
        <p:spPr>
          <a:xfrm>
            <a:off x="2285702" y="4519612"/>
            <a:ext cx="28659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9"/>
          <p:cNvSpPr/>
          <p:nvPr/>
        </p:nvSpPr>
        <p:spPr>
          <a:xfrm>
            <a:off x="5151685" y="4519612"/>
            <a:ext cx="28391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9"/>
          <p:cNvSpPr/>
          <p:nvPr/>
        </p:nvSpPr>
        <p:spPr>
          <a:xfrm>
            <a:off x="7990879" y="4519612"/>
            <a:ext cx="36296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9"/>
          <p:cNvSpPr/>
          <p:nvPr/>
        </p:nvSpPr>
        <p:spPr>
          <a:xfrm>
            <a:off x="571500" y="5119687"/>
            <a:ext cx="17142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9"/>
          <p:cNvSpPr/>
          <p:nvPr/>
        </p:nvSpPr>
        <p:spPr>
          <a:xfrm>
            <a:off x="2285702" y="5119687"/>
            <a:ext cx="28659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9"/>
          <p:cNvSpPr/>
          <p:nvPr/>
        </p:nvSpPr>
        <p:spPr>
          <a:xfrm>
            <a:off x="5151685" y="5119687"/>
            <a:ext cx="28391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9"/>
          <p:cNvSpPr/>
          <p:nvPr/>
        </p:nvSpPr>
        <p:spPr>
          <a:xfrm>
            <a:off x="7990879" y="5119687"/>
            <a:ext cx="36296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8" name="Google Shape;63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0"/>
          <p:cNvSpPr txBox="1"/>
          <p:nvPr/>
        </p:nvSpPr>
        <p:spPr>
          <a:xfrm>
            <a:off x="295275" y="197926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SUMMARY</a:t>
            </a:r>
            <a:endParaRPr/>
          </a:p>
        </p:txBody>
      </p:sp>
      <p:sp>
        <p:nvSpPr>
          <p:cNvPr id="640" name="Google Shape;640;p50"/>
          <p:cNvSpPr/>
          <p:nvPr/>
        </p:nvSpPr>
        <p:spPr>
          <a:xfrm>
            <a:off x="5619750" y="3198465"/>
            <a:ext cx="952500" cy="952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0"/>
          <p:cNvSpPr txBox="1"/>
          <p:nvPr/>
        </p:nvSpPr>
        <p:spPr>
          <a:xfrm>
            <a:off x="571500" y="3789015"/>
            <a:ext cx="11049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Amazon SQS is the backbone of cloud-native scalability. By providing a reliable, durable, and serverless messaging layer, it allows developers to build resilient distributed systems without the burden of infrastructure management.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6" name="Google Shape;64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7" name="Google Shape;64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8" name="Google Shape;64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THE FUTURE OF SQS</a:t>
            </a:r>
            <a:endParaRPr/>
          </a:p>
        </p:txBody>
      </p:sp>
      <p:sp>
        <p:nvSpPr>
          <p:cNvPr id="650" name="Google Shape;650;p51"/>
          <p:cNvSpPr txBox="1"/>
          <p:nvPr/>
        </p:nvSpPr>
        <p:spPr>
          <a:xfrm>
            <a:off x="866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Event-Driven Growth</a:t>
            </a:r>
            <a:endParaRPr/>
          </a:p>
        </p:txBody>
      </p:sp>
      <p:sp>
        <p:nvSpPr>
          <p:cNvPr id="651" name="Google Shape;651;p51"/>
          <p:cNvSpPr txBox="1"/>
          <p:nvPr/>
        </p:nvSpPr>
        <p:spPr>
          <a:xfrm>
            <a:off x="866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As microservices move towards "Event-Driven Everything," SQS integration with EventBridge and Lambda will become even tighter.</a:t>
            </a:r>
            <a:endParaRPr/>
          </a:p>
        </p:txBody>
      </p:sp>
      <p:sp>
        <p:nvSpPr>
          <p:cNvPr id="652" name="Google Shape;652;p51"/>
          <p:cNvSpPr txBox="1"/>
          <p:nvPr/>
        </p:nvSpPr>
        <p:spPr>
          <a:xfrm>
            <a:off x="6581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Enhanced Tooling</a:t>
            </a:r>
            <a:endParaRPr/>
          </a:p>
        </p:txBody>
      </p:sp>
      <p:sp>
        <p:nvSpPr>
          <p:cNvPr id="653" name="Google Shape;653;p51"/>
          <p:cNvSpPr txBox="1"/>
          <p:nvPr/>
        </p:nvSpPr>
        <p:spPr>
          <a:xfrm>
            <a:off x="6581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Increased AI/ML integration for anomaly detection in message queues and automated DLQ redrive processing.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8" name="Google Shape;65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2"/>
          <p:cNvSpPr txBox="1"/>
          <p:nvPr/>
        </p:nvSpPr>
        <p:spPr>
          <a:xfrm>
            <a:off x="295275" y="131072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660" name="Google Shape;660;p52"/>
          <p:cNvSpPr txBox="1"/>
          <p:nvPr/>
        </p:nvSpPr>
        <p:spPr>
          <a:xfrm>
            <a:off x="571500" y="2739479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Any Questions?</a:t>
            </a:r>
            <a:endParaRPr/>
          </a:p>
        </p:txBody>
      </p:sp>
      <p:sp>
        <p:nvSpPr>
          <p:cNvPr id="661" name="Google Shape;661;p52"/>
          <p:cNvSpPr txBox="1"/>
          <p:nvPr/>
        </p:nvSpPr>
        <p:spPr>
          <a:xfrm>
            <a:off x="571500" y="454149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aws.amazon.com/sqs</a:t>
            </a:r>
            <a:endParaRPr/>
          </a:p>
        </p:txBody>
      </p:sp>
      <p:sp>
        <p:nvSpPr>
          <p:cNvPr id="662" name="Google Shape;662;p52"/>
          <p:cNvSpPr txBox="1"/>
          <p:nvPr/>
        </p:nvSpPr>
        <p:spPr>
          <a:xfrm>
            <a:off x="571500" y="504438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contact@yourorganization.com</a:t>
            </a:r>
            <a:endParaRPr/>
          </a:p>
        </p:txBody>
      </p:sp>
      <p:pic>
        <p:nvPicPr>
          <p:cNvPr descr="image.png" id="663" name="Google Shape;66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4425" y="457006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600" y="5072955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9" name="Google Shape;66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671" name="Google Shape;671;p53"/>
          <p:cNvSpPr/>
          <p:nvPr/>
        </p:nvSpPr>
        <p:spPr>
          <a:xfrm>
            <a:off x="571500" y="15859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3"/>
          <p:cNvSpPr/>
          <p:nvPr/>
        </p:nvSpPr>
        <p:spPr>
          <a:xfrm>
            <a:off x="571500" y="23574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53"/>
          <p:cNvSpPr/>
          <p:nvPr/>
        </p:nvSpPr>
        <p:spPr>
          <a:xfrm>
            <a:off x="571500" y="3128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3"/>
          <p:cNvSpPr/>
          <p:nvPr/>
        </p:nvSpPr>
        <p:spPr>
          <a:xfrm>
            <a:off x="571500" y="3900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3"/>
          <p:cNvSpPr/>
          <p:nvPr/>
        </p:nvSpPr>
        <p:spPr>
          <a:xfrm>
            <a:off x="571500" y="4672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3"/>
          <p:cNvSpPr/>
          <p:nvPr/>
        </p:nvSpPr>
        <p:spPr>
          <a:xfrm>
            <a:off x="571500" y="2347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3"/>
          <p:cNvSpPr/>
          <p:nvPr/>
        </p:nvSpPr>
        <p:spPr>
          <a:xfrm>
            <a:off x="571500" y="2347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3"/>
          <p:cNvSpPr/>
          <p:nvPr/>
        </p:nvSpPr>
        <p:spPr>
          <a:xfrm>
            <a:off x="571500" y="3119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3"/>
          <p:cNvSpPr/>
          <p:nvPr/>
        </p:nvSpPr>
        <p:spPr>
          <a:xfrm>
            <a:off x="571500" y="3119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3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3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3"/>
          <p:cNvSpPr/>
          <p:nvPr/>
        </p:nvSpPr>
        <p:spPr>
          <a:xfrm>
            <a:off x="571500" y="4662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3"/>
          <p:cNvSpPr/>
          <p:nvPr/>
        </p:nvSpPr>
        <p:spPr>
          <a:xfrm>
            <a:off x="571500" y="4662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3"/>
          <p:cNvSpPr/>
          <p:nvPr/>
        </p:nvSpPr>
        <p:spPr>
          <a:xfrm>
            <a:off x="571500" y="5434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3"/>
          <p:cNvSpPr/>
          <p:nvPr/>
        </p:nvSpPr>
        <p:spPr>
          <a:xfrm>
            <a:off x="571500" y="5434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86" name="Google Shape;68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8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3"/>
          <p:cNvSpPr txBox="1"/>
          <p:nvPr/>
        </p:nvSpPr>
        <p:spPr>
          <a:xfrm>
            <a:off x="1666875" y="17497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https://images.seeklogo.com/logo-png/27/1/aws-sqs-simple-queue-service-logo-png_seeklogo-272861.png</a:t>
            </a:r>
            <a:endParaRPr/>
          </a:p>
        </p:txBody>
      </p:sp>
      <p:sp>
        <p:nvSpPr>
          <p:cNvPr id="688" name="Google Shape;688;p53"/>
          <p:cNvSpPr txBox="1"/>
          <p:nvPr/>
        </p:nvSpPr>
        <p:spPr>
          <a:xfrm>
            <a:off x="1666875" y="19706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seeklogo.com</a:t>
            </a:r>
            <a:endParaRPr/>
          </a:p>
        </p:txBody>
      </p:sp>
      <p:pic>
        <p:nvPicPr>
          <p:cNvPr descr="image.png" id="689" name="Google Shape;689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00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 txBox="1"/>
          <p:nvPr/>
        </p:nvSpPr>
        <p:spPr>
          <a:xfrm>
            <a:off x="1666875" y="25212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https://miro.medium.com/1*_72m2NwynZpceFcxfRySBg.png</a:t>
            </a:r>
            <a:endParaRPr/>
          </a:p>
        </p:txBody>
      </p:sp>
      <p:sp>
        <p:nvSpPr>
          <p:cNvPr id="691" name="Google Shape;691;p53"/>
          <p:cNvSpPr txBox="1"/>
          <p:nvPr/>
        </p:nvSpPr>
        <p:spPr>
          <a:xfrm>
            <a:off x="1666875" y="27421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descr="image.png" id="692" name="Google Shape;692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71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53"/>
          <p:cNvSpPr txBox="1"/>
          <p:nvPr/>
        </p:nvSpPr>
        <p:spPr>
          <a:xfrm>
            <a:off x="1666875" y="32928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https://www.metricfire.com/assets/images/nav/mf-nav-ai-observability.svg</a:t>
            </a:r>
            <a:endParaRPr/>
          </a:p>
        </p:txBody>
      </p:sp>
      <p:sp>
        <p:nvSpPr>
          <p:cNvPr id="694" name="Google Shape;694;p53"/>
          <p:cNvSpPr txBox="1"/>
          <p:nvPr/>
        </p:nvSpPr>
        <p:spPr>
          <a:xfrm>
            <a:off x="1666875" y="35136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www.metricfire.com</a:t>
            </a:r>
            <a:endParaRPr/>
          </a:p>
        </p:txBody>
      </p:sp>
      <p:pic>
        <p:nvPicPr>
          <p:cNvPr descr="image.png" id="695" name="Google Shape;695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43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53"/>
          <p:cNvSpPr txBox="1"/>
          <p:nvPr/>
        </p:nvSpPr>
        <p:spPr>
          <a:xfrm>
            <a:off x="1666875" y="406434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https://miro.medium.com/v2/resize:fit:1400/1*WK_-gPDoCp29u8_MfStF7g.png</a:t>
            </a:r>
            <a:endParaRPr/>
          </a:p>
        </p:txBody>
      </p:sp>
      <p:sp>
        <p:nvSpPr>
          <p:cNvPr id="697" name="Google Shape;697;p53"/>
          <p:cNvSpPr txBox="1"/>
          <p:nvPr/>
        </p:nvSpPr>
        <p:spPr>
          <a:xfrm>
            <a:off x="1666875" y="428520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descr="image.png" id="698" name="Google Shape;698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14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3"/>
          <p:cNvSpPr txBox="1"/>
          <p:nvPr/>
        </p:nvSpPr>
        <p:spPr>
          <a:xfrm>
            <a:off x="1666875" y="48358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https://miro.medium.com/1*9z3sbaE6yGT1Ukau8iq4ew.png</a:t>
            </a:r>
            <a:endParaRPr/>
          </a:p>
        </p:txBody>
      </p:sp>
      <p:sp>
        <p:nvSpPr>
          <p:cNvPr id="700" name="Google Shape;700;p53"/>
          <p:cNvSpPr txBox="1"/>
          <p:nvPr/>
        </p:nvSpPr>
        <p:spPr>
          <a:xfrm>
            <a:off x="1666875" y="50567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descr="image.png" id="701" name="Google Shape;701;p5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586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3"/>
          <p:cNvSpPr txBox="1"/>
          <p:nvPr/>
        </p:nvSpPr>
        <p:spPr>
          <a:xfrm>
            <a:off x="1666875" y="56073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https://miro.medium.com/0*jfMz4ACeBfob5Lrq</a:t>
            </a:r>
            <a:endParaRPr/>
          </a:p>
        </p:txBody>
      </p:sp>
      <p:sp>
        <p:nvSpPr>
          <p:cNvPr id="703" name="Google Shape;703;p53"/>
          <p:cNvSpPr txBox="1"/>
          <p:nvPr/>
        </p:nvSpPr>
        <p:spPr>
          <a:xfrm>
            <a:off x="1666875" y="58282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8" name="Google Shape;70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5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710" name="Google Shape;710;p54"/>
          <p:cNvSpPr/>
          <p:nvPr/>
        </p:nvSpPr>
        <p:spPr>
          <a:xfrm>
            <a:off x="571500" y="3063329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4"/>
          <p:cNvSpPr/>
          <p:nvPr/>
        </p:nvSpPr>
        <p:spPr>
          <a:xfrm>
            <a:off x="571500" y="39564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54"/>
          <p:cNvSpPr/>
          <p:nvPr/>
        </p:nvSpPr>
        <p:spPr>
          <a:xfrm>
            <a:off x="571500" y="39564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13" name="Google Shape;71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716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4"/>
          <p:cNvSpPr txBox="1"/>
          <p:nvPr/>
        </p:nvSpPr>
        <p:spPr>
          <a:xfrm>
            <a:off x="1666875" y="3206204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https://img1.wsimg.com/isteam/ip/f7e478d3-6dac-4a37-bc3e-e80341a46568/PRTG%20Graph%202.png/:/cr=t:0%25,l:20.25%25,w:59.51%25,h:100%25/rs=w:400,h:533.3333333333334,cg:true</a:t>
            </a:r>
            <a:endParaRPr/>
          </a:p>
        </p:txBody>
      </p:sp>
      <p:sp>
        <p:nvSpPr>
          <p:cNvPr id="715" name="Google Shape;715;p54"/>
          <p:cNvSpPr txBox="1"/>
          <p:nvPr/>
        </p:nvSpPr>
        <p:spPr>
          <a:xfrm>
            <a:off x="1666875" y="360030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iconcloud.com</a:t>
            </a:r>
            <a:endParaRPr/>
          </a:p>
        </p:txBody>
      </p:sp>
      <p:pic>
        <p:nvPicPr>
          <p:cNvPr descr="image.png" id="716" name="Google Shape;716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088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4"/>
          <p:cNvSpPr txBox="1"/>
          <p:nvPr/>
        </p:nvSpPr>
        <p:spPr>
          <a:xfrm>
            <a:off x="1666875" y="412983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https://img.freepik.com/premium-vector/cart-processing-icon-vector-image-can-be-used-ecommerce-store_120816-51971.jpg</a:t>
            </a:r>
            <a:endParaRPr/>
          </a:p>
        </p:txBody>
      </p:sp>
      <p:sp>
        <p:nvSpPr>
          <p:cNvPr id="718" name="Google Shape;718;p54"/>
          <p:cNvSpPr txBox="1"/>
          <p:nvPr/>
        </p:nvSpPr>
        <p:spPr>
          <a:xfrm>
            <a:off x="1666875" y="435069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www.freepik.com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