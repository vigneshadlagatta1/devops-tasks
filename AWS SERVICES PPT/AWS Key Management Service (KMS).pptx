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y="6858000" cx="12192000"/>
  <p:notesSz cx="6858000" cy="9144000"/>
  <p:embeddedFontLst>
    <p:embeddedFont>
      <p:font typeface="Inter"/>
      <p:regular r:id="rId28"/>
      <p:bold r:id="rId29"/>
      <p:italic r:id="rId30"/>
      <p:boldItalic r:id="rId31"/>
    </p:embeddedFont>
    <p:embeddedFont>
      <p:font typeface="DM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476C930-2C56-4858-A588-F657968CD419}">
  <a:tblStyle styleId="{7476C930-2C56-4858-A588-F657968CD41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Inter-regular.fntdata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-boldItalic.fntdata"/><Relationship Id="rId30" Type="http://schemas.openxmlformats.org/officeDocument/2006/relationships/font" Target="fonts/Inter-italic.fntdata"/><Relationship Id="rId11" Type="http://schemas.openxmlformats.org/officeDocument/2006/relationships/slide" Target="slides/slide5.xml"/><Relationship Id="rId33" Type="http://schemas.openxmlformats.org/officeDocument/2006/relationships/font" Target="fonts/DMSans-bold.fntdata"/><Relationship Id="rId10" Type="http://schemas.openxmlformats.org/officeDocument/2006/relationships/slide" Target="slides/slide4.xml"/><Relationship Id="rId32" Type="http://schemas.openxmlformats.org/officeDocument/2006/relationships/font" Target="fonts/DMSans-regular.fntdata"/><Relationship Id="rId13" Type="http://schemas.openxmlformats.org/officeDocument/2006/relationships/slide" Target="slides/slide7.xml"/><Relationship Id="rId35" Type="http://schemas.openxmlformats.org/officeDocument/2006/relationships/font" Target="fonts/DMSans-boldItalic.fntdata"/><Relationship Id="rId12" Type="http://schemas.openxmlformats.org/officeDocument/2006/relationships/slide" Target="slides/slide6.xml"/><Relationship Id="rId34" Type="http://schemas.openxmlformats.org/officeDocument/2006/relationships/font" Target="fonts/DM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9" Type="http://schemas.openxmlformats.org/officeDocument/2006/relationships/image" Target="../media/image17.png"/><Relationship Id="rId5" Type="http://schemas.openxmlformats.org/officeDocument/2006/relationships/image" Target="../media/image5.png"/><Relationship Id="rId6" Type="http://schemas.openxmlformats.org/officeDocument/2006/relationships/image" Target="../media/image3.png"/><Relationship Id="rId7" Type="http://schemas.openxmlformats.org/officeDocument/2006/relationships/image" Target="../media/image41.png"/><Relationship Id="rId8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11.png"/><Relationship Id="rId7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21.png"/><Relationship Id="rId5" Type="http://schemas.openxmlformats.org/officeDocument/2006/relationships/image" Target="../media/image38.png"/><Relationship Id="rId6" Type="http://schemas.openxmlformats.org/officeDocument/2006/relationships/image" Target="../media/image34.png"/><Relationship Id="rId7" Type="http://schemas.openxmlformats.org/officeDocument/2006/relationships/image" Target="../media/image40.png"/><Relationship Id="rId8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36.png"/><Relationship Id="rId6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Relationship Id="rId5" Type="http://schemas.openxmlformats.org/officeDocument/2006/relationships/image" Target="../media/image35.png"/><Relationship Id="rId6" Type="http://schemas.openxmlformats.org/officeDocument/2006/relationships/image" Target="../media/image42.png"/><Relationship Id="rId7" Type="http://schemas.openxmlformats.org/officeDocument/2006/relationships/image" Target="../media/image39.png"/><Relationship Id="rId8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67250" y="4814738"/>
            <a:ext cx="2857500" cy="600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48300" y="1443037"/>
            <a:ext cx="12954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5333" y="2681287"/>
            <a:ext cx="10661332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AWS </a:t>
            </a:r>
            <a:r>
              <a:rPr b="1" i="0" lang="en-US" sz="5400" u="none" cap="none" strike="noStrik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Key Management Service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590800" y="3816548"/>
            <a:ext cx="70104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Cloud Encryption &amp; Strategic Key Management at Scale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924425" y="5014763"/>
            <a:ext cx="2343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Cloud Security Architecture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90787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6202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Foundations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6202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Introduction to encryption concepts and cloud data challenges.</a:t>
            </a:r>
            <a:endParaRPr/>
          </a:p>
        </p:txBody>
      </p:sp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740175" y="35290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AWS KMS Core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740175" y="396716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Features, architecture, and the mechanics of envelope encryption.</a:t>
            </a:r>
            <a:endParaRPr/>
          </a:p>
        </p:txBody>
      </p:sp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28813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51847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Operations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851847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Implementation workflow, integrations, and security best practices.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SESSION AGENDA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01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The Fundamentals of Encryption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Securing data in the modern cloud landscape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18811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Encryption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is the process of converting plaintext information into ciphertext using mathematical algorithms and a secret key.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952500" y="29860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Confidentiality: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Only authorized parties can read data.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952500" y="37861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Integrity: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Detect unauthorized changes to information.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952500" y="45862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Authenticity: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Verify the identity of the sender.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5081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Compliance: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Meet regulatory standards (GDPR, HIPAA, PCI-DSS).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DEFINING DATA ENCRYPTION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9860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861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862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50815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14637"/>
            <a:ext cx="34924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814637"/>
            <a:ext cx="3492549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814637"/>
            <a:ext cx="3492400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962025" y="320516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Symmetric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962025" y="364331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Same key for encryption and decryption. High speed, ideal for bulk data.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4740175" y="320516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Asymmetric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4740175" y="3643312"/>
            <a:ext cx="2711499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Public/Private key pairs. Secure key exchange and digital signatures.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518475" y="320516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At Rest / Transit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518475" y="364331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Protecting data stored on disks vs. data moving across networks.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ENCRYPTION MODALITIES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02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Introduction to AWS KMS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The heart of AWS security infrastructure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6381750" y="2033587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AWS KMS is a managed service that makes it easy for you to create and control the cryptographic keys used to protect your data.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62750" y="31384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FIPS 140-2 Level 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Hardware-backed security modules (HSM).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6762750" y="393858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Highly Integrated: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Native support for 100+ AWS services.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6762750" y="47386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Scalable: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Handles billions of requests per day.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762750" y="5233987"/>
            <a:ext cx="4857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Auditable: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Every usage is logged in AWS CloudTrail.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MANAGED KEY INFRASTRUCTURE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3" name="Google Shape;173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1384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39385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473868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81750" y="523398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490787"/>
            <a:ext cx="3492549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4" name="Google Shape;18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7950" y="2490787"/>
            <a:ext cx="34924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5" name="Google Shape;18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6202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0"/>
          <p:cNvSpPr txBox="1"/>
          <p:nvPr/>
        </p:nvSpPr>
        <p:spPr>
          <a:xfrm>
            <a:off x="96202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Auto Rotation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962025" y="3967162"/>
            <a:ext cx="27113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Lower the blast radius by automatically rotating keys annually.</a:t>
            </a:r>
            <a:endParaRPr/>
          </a:p>
        </p:txBody>
      </p:sp>
      <p:pic>
        <p:nvPicPr>
          <p:cNvPr descr="image.png" id="188" name="Google Shape;18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0175" y="2881312"/>
            <a:ext cx="5143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 txBox="1"/>
          <p:nvPr/>
        </p:nvSpPr>
        <p:spPr>
          <a:xfrm>
            <a:off x="4740175" y="35290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Cost-Effective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4740175" y="3967162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$1 per KMS key per month. Pay only for what you use.</a:t>
            </a:r>
            <a:endParaRPr/>
          </a:p>
        </p:txBody>
      </p:sp>
      <p:pic>
        <p:nvPicPr>
          <p:cNvPr descr="image.png" id="191" name="Google Shape;191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8475" y="28813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8518475" y="35290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HSM Protection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8518475" y="39671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Keys are generated and used within specialized hardware.</a:t>
            </a:r>
            <a:endParaRPr/>
          </a:p>
        </p:txBody>
      </p:sp>
      <p:sp>
        <p:nvSpPr>
          <p:cNvPr id="194" name="Google Shape;194;p2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STRATEGIC VALUE PROPOSITION</a:t>
            </a:r>
            <a:endParaRPr/>
          </a:p>
        </p:txBody>
      </p:sp>
      <p:sp>
        <p:nvSpPr>
          <p:cNvPr id="195" name="Google Shape;195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03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Core Concepts &amp; CMKs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Understanding the building blocks of KMS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48625" y="4310062"/>
            <a:ext cx="1905000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 txBox="1"/>
          <p:nvPr/>
        </p:nvSpPr>
        <p:spPr>
          <a:xfrm>
            <a:off x="952500" y="22812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KMS Keys (CMKs):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Logical representation of a master key. Used to protect Data Keys.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952500" y="3081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Keys: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Encryption keys used to encrypt large datasets directly.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952500" y="3881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Key Policies: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Resource-based policies that control access to KMS keys.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952500" y="46815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Grants: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Temporary delegation of permissions to other AWS principals.</a:t>
            </a:r>
            <a:endParaRPr/>
          </a:p>
        </p:txBody>
      </p:sp>
      <p:pic>
        <p:nvPicPr>
          <p:cNvPr descr="image.png" id="214" name="Google Shape;214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24875" y="2881312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2"/>
          <p:cNvSpPr/>
          <p:nvPr/>
        </p:nvSpPr>
        <p:spPr>
          <a:xfrm>
            <a:off x="8991600" y="3833812"/>
            <a:ext cx="19050" cy="4762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HIERARCHICAL KEY MODEL</a:t>
            </a:r>
            <a:endParaRPr/>
          </a:p>
        </p:txBody>
      </p:sp>
      <p:sp>
        <p:nvSpPr>
          <p:cNvPr id="217" name="Google Shape;217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18" name="Google Shape;218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81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81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1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815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6812" y="3167062"/>
            <a:ext cx="42862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7" name="Google Shape;22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 txBox="1"/>
          <p:nvPr/>
        </p:nvSpPr>
        <p:spPr>
          <a:xfrm>
            <a:off x="762000" y="571500"/>
            <a:ext cx="5350668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ENVELOPE ENCRYPTION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571500" y="1476375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The method of protecting data by encrypting it with a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Data Key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, and then encrypting that data key with a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KMS Master Key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952500" y="25812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Performance: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Large data is encrypted locally with symmetric keys.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952500" y="33813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Security: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Data keys are stored alongside encrypted data in an encrypted format.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952500" y="418147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No need to send massive datasets to KMS over the network.</a:t>
            </a:r>
            <a:endParaRPr/>
          </a:p>
        </p:txBody>
      </p:sp>
      <p:pic>
        <p:nvPicPr>
          <p:cNvPr descr="image.png" id="235" name="Google Shape;23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812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81375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7" name="Google Shape;237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181475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2" name="Google Shape;24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04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Architecture &amp; Workflows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How encryption happens in real-time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5"/>
          <p:cNvSpPr/>
          <p:nvPr/>
        </p:nvSpPr>
        <p:spPr>
          <a:xfrm>
            <a:off x="571500" y="3871912"/>
            <a:ext cx="11049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1729680" y="40624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510733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Request</a:t>
            </a:r>
            <a:endParaRPr/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requests a Data Key from KMS using a CMK ID.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4602360" y="40624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3383413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Generate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344418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KMS sends Plaintext Data Key + Encrypted Data Key.</a:t>
            </a:r>
            <a:endParaRPr/>
          </a:p>
        </p:txBody>
      </p:sp>
      <p:sp>
        <p:nvSpPr>
          <p:cNvPr id="258" name="Google Shape;258;p25"/>
          <p:cNvSpPr/>
          <p:nvPr/>
        </p:nvSpPr>
        <p:spPr>
          <a:xfrm>
            <a:off x="7475041" y="40624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 txBox="1"/>
          <p:nvPr/>
        </p:nvSpPr>
        <p:spPr>
          <a:xfrm>
            <a:off x="6256094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Encrypt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6316860" y="3948112"/>
            <a:ext cx="243066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App encrypts data locally; deletes Plaintext Data Key.</a:t>
            </a:r>
            <a:endParaRPr/>
          </a:p>
        </p:txBody>
      </p:sp>
      <p:sp>
        <p:nvSpPr>
          <p:cNvPr id="261" name="Google Shape;261;p25"/>
          <p:cNvSpPr/>
          <p:nvPr/>
        </p:nvSpPr>
        <p:spPr>
          <a:xfrm>
            <a:off x="10347721" y="4062412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9128774" y="3757612"/>
            <a:ext cx="2552193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Storage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9189541" y="3948112"/>
            <a:ext cx="243066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Encrypted data + Encrypted Data Key are stored.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SYSTEM ARCHITECTURE</a:t>
            </a:r>
            <a:endParaRPr/>
          </a:p>
        </p:txBody>
      </p:sp>
      <p:sp>
        <p:nvSpPr>
          <p:cNvPr id="265" name="Google Shape;265;p2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0" name="Google Shape;27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6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05</a:t>
            </a:r>
            <a:endParaRPr/>
          </a:p>
        </p:txBody>
      </p:sp>
      <p:sp>
        <p:nvSpPr>
          <p:cNvPr id="272" name="Google Shape;272;p26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AWS Service Integrations</a:t>
            </a:r>
            <a:endParaRPr/>
          </a:p>
        </p:txBody>
      </p:sp>
      <p:sp>
        <p:nvSpPr>
          <p:cNvPr id="273" name="Google Shape;273;p26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Seamless protection across the ecosystem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8" name="Google Shape;27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43187"/>
            <a:ext cx="34924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650" y="2643187"/>
            <a:ext cx="3492549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27950" y="2643187"/>
            <a:ext cx="3492400" cy="2476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2025" y="3033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 txBox="1"/>
          <p:nvPr/>
        </p:nvSpPr>
        <p:spPr>
          <a:xfrm>
            <a:off x="962025" y="36814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S3</a:t>
            </a:r>
            <a:endParaRPr/>
          </a:p>
        </p:txBody>
      </p:sp>
      <p:sp>
        <p:nvSpPr>
          <p:cNvPr id="284" name="Google Shape;284;p27"/>
          <p:cNvSpPr txBox="1"/>
          <p:nvPr/>
        </p:nvSpPr>
        <p:spPr>
          <a:xfrm>
            <a:off x="962025" y="41195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Server-side encryption for buckets and objects.</a:t>
            </a:r>
            <a:endParaRPr/>
          </a:p>
        </p:txBody>
      </p:sp>
      <p:pic>
        <p:nvPicPr>
          <p:cNvPr descr="image.png" id="285" name="Google Shape;285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40175" y="30337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7"/>
          <p:cNvSpPr txBox="1"/>
          <p:nvPr/>
        </p:nvSpPr>
        <p:spPr>
          <a:xfrm>
            <a:off x="4740175" y="3681412"/>
            <a:ext cx="2847074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EBS</a:t>
            </a:r>
            <a:endParaRPr/>
          </a:p>
        </p:txBody>
      </p:sp>
      <p:sp>
        <p:nvSpPr>
          <p:cNvPr id="287" name="Google Shape;287;p27"/>
          <p:cNvSpPr txBox="1"/>
          <p:nvPr/>
        </p:nvSpPr>
        <p:spPr>
          <a:xfrm>
            <a:off x="4740175" y="4119562"/>
            <a:ext cx="271149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Encrypted volumes and snapshots for EC2.</a:t>
            </a:r>
            <a:endParaRPr/>
          </a:p>
        </p:txBody>
      </p:sp>
      <p:pic>
        <p:nvPicPr>
          <p:cNvPr descr="image.png" id="288" name="Google Shape;288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18475" y="3033712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7"/>
          <p:cNvSpPr txBox="1"/>
          <p:nvPr/>
        </p:nvSpPr>
        <p:spPr>
          <a:xfrm>
            <a:off x="8518475" y="3681412"/>
            <a:ext cx="284691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Amazon RDS</a:t>
            </a:r>
            <a:endParaRPr/>
          </a:p>
        </p:txBody>
      </p:sp>
      <p:sp>
        <p:nvSpPr>
          <p:cNvPr id="290" name="Google Shape;290;p27"/>
          <p:cNvSpPr txBox="1"/>
          <p:nvPr/>
        </p:nvSpPr>
        <p:spPr>
          <a:xfrm>
            <a:off x="8518475" y="4119562"/>
            <a:ext cx="27113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Encryption at rest for databases and backups.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UNIFIED KEY MANAGEMENT</a:t>
            </a:r>
            <a:endParaRPr/>
          </a:p>
        </p:txBody>
      </p:sp>
      <p:sp>
        <p:nvSpPr>
          <p:cNvPr id="292" name="Google Shape;292;p2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7" name="Google Shape;29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28"/>
          <p:cNvGraphicFramePr/>
          <p:nvPr/>
        </p:nvGraphicFramePr>
        <p:xfrm>
          <a:off x="571500" y="2481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{7476C930-2C56-4858-A588-F657968CD419}</a:tableStyleId>
              </a:tblPr>
              <a:tblGrid>
                <a:gridCol w="2546750"/>
                <a:gridCol w="3513075"/>
                <a:gridCol w="4989175"/>
              </a:tblGrid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Security Layer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Mechanism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650" u="none" cap="none" strike="noStrike">
                          <a:solidFill>
                            <a:srgbClr val="38BDF8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Impact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93B"/>
                    </a:solidFill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Access Control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 Policies + IAM Policies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Granular multi-factor authorization.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Auditability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AWS CloudTrail Logs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History of key creation and usage.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Storage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FIPS 140-2 Level 2 HSMs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Keys never leave the hardware module.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81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Availability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99.999999999% Durability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Redundant regional infrastructure.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99" name="Google Shape;299;p28"/>
          <p:cNvSpPr/>
          <p:nvPr/>
        </p:nvSpPr>
        <p:spPr>
          <a:xfrm>
            <a:off x="571500" y="368617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8"/>
          <p:cNvSpPr/>
          <p:nvPr/>
        </p:nvSpPr>
        <p:spPr>
          <a:xfrm>
            <a:off x="3118246" y="368617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28"/>
          <p:cNvSpPr/>
          <p:nvPr/>
        </p:nvSpPr>
        <p:spPr>
          <a:xfrm>
            <a:off x="6631334" y="368617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8"/>
          <p:cNvSpPr/>
          <p:nvPr/>
        </p:nvSpPr>
        <p:spPr>
          <a:xfrm>
            <a:off x="571500" y="427672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8"/>
          <p:cNvSpPr/>
          <p:nvPr/>
        </p:nvSpPr>
        <p:spPr>
          <a:xfrm>
            <a:off x="3118246" y="427672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8"/>
          <p:cNvSpPr/>
          <p:nvPr/>
        </p:nvSpPr>
        <p:spPr>
          <a:xfrm>
            <a:off x="6631334" y="427672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8"/>
          <p:cNvSpPr/>
          <p:nvPr/>
        </p:nvSpPr>
        <p:spPr>
          <a:xfrm>
            <a:off x="571500" y="486727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8"/>
          <p:cNvSpPr/>
          <p:nvPr/>
        </p:nvSpPr>
        <p:spPr>
          <a:xfrm>
            <a:off x="3118246" y="486727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28"/>
          <p:cNvSpPr/>
          <p:nvPr/>
        </p:nvSpPr>
        <p:spPr>
          <a:xfrm>
            <a:off x="6631334" y="486727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8"/>
          <p:cNvSpPr/>
          <p:nvPr/>
        </p:nvSpPr>
        <p:spPr>
          <a:xfrm>
            <a:off x="571500" y="5457825"/>
            <a:ext cx="254674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8"/>
          <p:cNvSpPr/>
          <p:nvPr/>
        </p:nvSpPr>
        <p:spPr>
          <a:xfrm>
            <a:off x="3118246" y="5457825"/>
            <a:ext cx="351308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8"/>
          <p:cNvSpPr/>
          <p:nvPr/>
        </p:nvSpPr>
        <p:spPr>
          <a:xfrm>
            <a:off x="6631334" y="5457825"/>
            <a:ext cx="498916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KMS SECURITY MODEL</a:t>
            </a:r>
            <a:endParaRPr/>
          </a:p>
        </p:txBody>
      </p:sp>
      <p:sp>
        <p:nvSpPr>
          <p:cNvPr id="312" name="Google Shape;312;p2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7" name="Google Shape;317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29"/>
          <p:cNvSpPr txBox="1"/>
          <p:nvPr/>
        </p:nvSpPr>
        <p:spPr>
          <a:xfrm>
            <a:off x="295275" y="571500"/>
            <a:ext cx="116014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38BDF8"/>
                </a:solidFill>
                <a:latin typeface="DM Sans"/>
                <a:ea typeface="DM Sans"/>
                <a:cs typeface="DM Sans"/>
                <a:sym typeface="DM Sans"/>
              </a:rPr>
              <a:t>06</a:t>
            </a:r>
            <a:endParaRPr/>
          </a:p>
        </p:txBody>
      </p:sp>
      <p:sp>
        <p:nvSpPr>
          <p:cNvPr id="319" name="Google Shape;319;p29"/>
          <p:cNvSpPr txBox="1"/>
          <p:nvPr/>
        </p:nvSpPr>
        <p:spPr>
          <a:xfrm>
            <a:off x="295275" y="2171700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Best Practices &amp; Costs</a:t>
            </a:r>
            <a:endParaRPr/>
          </a:p>
        </p:txBody>
      </p:sp>
      <p:sp>
        <p:nvSpPr>
          <p:cNvPr id="320" name="Google Shape;320;p29"/>
          <p:cNvSpPr txBox="1"/>
          <p:nvPr/>
        </p:nvSpPr>
        <p:spPr>
          <a:xfrm>
            <a:off x="571500" y="311646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Optimizing for security and performance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5" name="Google Shape;32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76437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85962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30"/>
          <p:cNvSpPr txBox="1"/>
          <p:nvPr/>
        </p:nvSpPr>
        <p:spPr>
          <a:xfrm>
            <a:off x="952500" y="22812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Principle of Least Privilege: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Segregate administrators from key users.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952500" y="30813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Enable Rotation: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Use AWS Managed rotation for security hygiene.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952500" y="38814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Region Strategy: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Multi-Region keys for global compliance/DR.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952500" y="4681537"/>
            <a:ext cx="4857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Monitoring: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Alert on "ScheduleKeyDeletion" events immediately.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SECURITY GOVERNANCE</a:t>
            </a:r>
            <a:endParaRPr/>
          </a:p>
        </p:txBody>
      </p:sp>
      <p:sp>
        <p:nvSpPr>
          <p:cNvPr id="333" name="Google Shape;333;p3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4" name="Google Shape;334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2812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5" name="Google Shape;335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0813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6" name="Google Shape;336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881437"/>
            <a:ext cx="1714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7" name="Google Shape;337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681537"/>
            <a:ext cx="171450" cy="20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2" name="Google Shape;34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1"/>
          <p:cNvSpPr txBox="1"/>
          <p:nvPr/>
        </p:nvSpPr>
        <p:spPr>
          <a:xfrm>
            <a:off x="571500" y="549116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*Use AWS Managed Keys whenever possible to eliminate per-key storage costs.</a:t>
            </a:r>
            <a:endParaRPr/>
          </a:p>
        </p:txBody>
      </p:sp>
      <p:sp>
        <p:nvSpPr>
          <p:cNvPr id="345" name="Google Shape;345;p3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KMS COST EFFICIENCY</a:t>
            </a:r>
            <a:endParaRPr/>
          </a:p>
        </p:txBody>
      </p:sp>
      <p:sp>
        <p:nvSpPr>
          <p:cNvPr id="346" name="Google Shape;346;p3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1" name="Google Shape;35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295275" y="571500"/>
            <a:ext cx="1160145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0" u="none" cap="none" strike="noStrike">
                <a:solidFill>
                  <a:srgbClr val="FF9900"/>
                </a:solidFill>
                <a:latin typeface="DM Sans"/>
                <a:ea typeface="DM Sans"/>
                <a:cs typeface="DM Sans"/>
                <a:sym typeface="DM Sans"/>
              </a:rPr>
              <a:t>Q&amp;A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71500" y="2247900"/>
            <a:ext cx="11049000" cy="4266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Secure your cloud journey with strategic key management.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71500" y="32460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For more details, visit: </a:t>
            </a:r>
            <a:r>
              <a:rPr b="1" i="0" lang="en-US" sz="1500" u="none" cap="none" strike="noStrike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aws.amazon.com/kms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71500" y="355089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Follow AWS Security Best Practices Whitepapers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0" name="Google Shape;36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/>
          <p:nvPr/>
        </p:nvSpPr>
        <p:spPr>
          <a:xfrm>
            <a:off x="571500" y="1476375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3"/>
          <p:cNvSpPr/>
          <p:nvPr/>
        </p:nvSpPr>
        <p:spPr>
          <a:xfrm>
            <a:off x="571500" y="2459235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3"/>
          <p:cNvSpPr/>
          <p:nvPr/>
        </p:nvSpPr>
        <p:spPr>
          <a:xfrm>
            <a:off x="571500" y="3244006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3"/>
          <p:cNvSpPr/>
          <p:nvPr/>
        </p:nvSpPr>
        <p:spPr>
          <a:xfrm>
            <a:off x="571500" y="4226867"/>
            <a:ext cx="11049000" cy="7847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3"/>
          <p:cNvSpPr/>
          <p:nvPr/>
        </p:nvSpPr>
        <p:spPr>
          <a:xfrm>
            <a:off x="571500" y="5011638"/>
            <a:ext cx="11049000" cy="982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3"/>
          <p:cNvSpPr/>
          <p:nvPr/>
        </p:nvSpPr>
        <p:spPr>
          <a:xfrm>
            <a:off x="571500" y="2449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3"/>
          <p:cNvSpPr/>
          <p:nvPr/>
        </p:nvSpPr>
        <p:spPr>
          <a:xfrm>
            <a:off x="571500" y="244971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3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3"/>
          <p:cNvSpPr/>
          <p:nvPr/>
        </p:nvSpPr>
        <p:spPr>
          <a:xfrm>
            <a:off x="571500" y="3234481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3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3"/>
          <p:cNvSpPr/>
          <p:nvPr/>
        </p:nvSpPr>
        <p:spPr>
          <a:xfrm>
            <a:off x="571500" y="421734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3"/>
          <p:cNvSpPr/>
          <p:nvPr/>
        </p:nvSpPr>
        <p:spPr>
          <a:xfrm>
            <a:off x="571500" y="5002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571500" y="5002113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/>
          <p:nvPr/>
        </p:nvSpPr>
        <p:spPr>
          <a:xfrm>
            <a:off x="571500" y="598497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3"/>
          <p:cNvSpPr/>
          <p:nvPr/>
        </p:nvSpPr>
        <p:spPr>
          <a:xfrm>
            <a:off x="571500" y="5984974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76" name="Google Shape;37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72491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1666875" y="1619250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https://conceptdraw.com/a3130c3/p19/preview/640/pict--aws-kms-aws-security,-identity-and-compliance---vector-stencils-library.png--diagram-flowchart-example.png</a:t>
            </a:r>
            <a:endParaRPr/>
          </a:p>
        </p:txBody>
      </p:sp>
      <p:sp>
        <p:nvSpPr>
          <p:cNvPr id="378" name="Google Shape;378;p33"/>
          <p:cNvSpPr txBox="1"/>
          <p:nvPr/>
        </p:nvSpPr>
        <p:spPr>
          <a:xfrm>
            <a:off x="1666875" y="2063055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www.conceptdraw.com</a:t>
            </a:r>
            <a:endParaRPr/>
          </a:p>
        </p:txBody>
      </p:sp>
      <p:pic>
        <p:nvPicPr>
          <p:cNvPr descr="image.png" id="379" name="Google Shape;37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0865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3"/>
          <p:cNvSpPr txBox="1"/>
          <p:nvPr/>
        </p:nvSpPr>
        <p:spPr>
          <a:xfrm>
            <a:off x="1666875" y="2602110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https://cdn.prod.website-files.com/63e21dce115cee384ab9eeca/68cbd087750df3344ac51fa2_Cloud%20data%20security%20guide%20visual%204.webp</a:t>
            </a:r>
            <a:endParaRPr/>
          </a:p>
        </p:txBody>
      </p:sp>
      <p:sp>
        <p:nvSpPr>
          <p:cNvPr id="381" name="Google Shape;381;p33"/>
          <p:cNvSpPr txBox="1"/>
          <p:nvPr/>
        </p:nvSpPr>
        <p:spPr>
          <a:xfrm>
            <a:off x="1666875" y="2847826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www.sentra.io</a:t>
            </a:r>
            <a:endParaRPr/>
          </a:p>
        </p:txBody>
      </p:sp>
      <p:pic>
        <p:nvPicPr>
          <p:cNvPr descr="image.png" id="382" name="Google Shape;382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49254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3"/>
          <p:cNvSpPr txBox="1"/>
          <p:nvPr/>
        </p:nvSpPr>
        <p:spPr>
          <a:xfrm>
            <a:off x="1666875" y="3386881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https://static.vecteezy.com/system/resources/previews/035/728/677/non_2x/3d-security-shield-lock-check-mark-and-cloud-cyber-protection-3d-rendering-password-protected-icon-for-mobile-applications-and-website-concept-illustration-vector.jpg</a:t>
            </a:r>
            <a:endParaRPr/>
          </a:p>
        </p:txBody>
      </p:sp>
      <p:sp>
        <p:nvSpPr>
          <p:cNvPr id="384" name="Google Shape;384;p33"/>
          <p:cNvSpPr txBox="1"/>
          <p:nvPr/>
        </p:nvSpPr>
        <p:spPr>
          <a:xfrm>
            <a:off x="1666875" y="383068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85" name="Google Shape;385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37629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Google Shape;386;p33"/>
          <p:cNvSpPr txBox="1"/>
          <p:nvPr/>
        </p:nvSpPr>
        <p:spPr>
          <a:xfrm>
            <a:off x="1666875" y="4369742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https://cdn.hashnode.com/res/hashnode/image/upload/v1635198756845/mXf8rwGhU.png</a:t>
            </a:r>
            <a:endParaRPr/>
          </a:p>
        </p:txBody>
      </p:sp>
      <p:sp>
        <p:nvSpPr>
          <p:cNvPr id="387" name="Google Shape;387;p33"/>
          <p:cNvSpPr txBox="1"/>
          <p:nvPr/>
        </p:nvSpPr>
        <p:spPr>
          <a:xfrm>
            <a:off x="1666875" y="4615457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www.freecodecamp.org</a:t>
            </a:r>
            <a:endParaRPr/>
          </a:p>
        </p:txBody>
      </p:sp>
      <p:pic>
        <p:nvPicPr>
          <p:cNvPr descr="image.png" id="388" name="Google Shape;388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260181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3"/>
          <p:cNvSpPr txBox="1"/>
          <p:nvPr/>
        </p:nvSpPr>
        <p:spPr>
          <a:xfrm>
            <a:off x="1666875" y="5154513"/>
            <a:ext cx="9953625" cy="396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https://static.vecteezy.com/system/resources/previews/015/286/163/non_2x/abstract-background-digital-concept-cybersecurity-shield-anti-virus-malware-spy-protection-cyber-theft-security-on-a-blue-black-background-vector.jpg</a:t>
            </a:r>
            <a:endParaRPr/>
          </a:p>
        </p:txBody>
      </p:sp>
      <p:sp>
        <p:nvSpPr>
          <p:cNvPr id="390" name="Google Shape;390;p33"/>
          <p:cNvSpPr txBox="1"/>
          <p:nvPr/>
        </p:nvSpPr>
        <p:spPr>
          <a:xfrm>
            <a:off x="1666875" y="5598318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www.vecteezy.com</a:t>
            </a:r>
            <a:endParaRPr/>
          </a:p>
        </p:txBody>
      </p:sp>
      <p:pic>
        <p:nvPicPr>
          <p:cNvPr descr="image.png" id="391" name="Google Shape;391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614392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33"/>
          <p:cNvSpPr txBox="1"/>
          <p:nvPr/>
        </p:nvSpPr>
        <p:spPr>
          <a:xfrm>
            <a:off x="1666875" y="6137374"/>
            <a:ext cx="9953625" cy="19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https://img.freepik.com/premium-vector/exploring-global-computer-network-infrastructure_18660-6632.jpg</a:t>
            </a:r>
            <a:endParaRPr/>
          </a:p>
        </p:txBody>
      </p:sp>
      <p:sp>
        <p:nvSpPr>
          <p:cNvPr id="393" name="Google Shape;393;p33"/>
          <p:cNvSpPr txBox="1"/>
          <p:nvPr/>
        </p:nvSpPr>
        <p:spPr>
          <a:xfrm>
            <a:off x="1666875" y="6383089"/>
            <a:ext cx="99536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www.freepik.com</a:t>
            </a:r>
            <a:endParaRPr/>
          </a:p>
        </p:txBody>
      </p:sp>
      <p:sp>
        <p:nvSpPr>
          <p:cNvPr id="394" name="Google Shape;394;p33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IMAGE SOURCES</a:t>
            </a:r>
            <a:endParaRPr/>
          </a:p>
        </p:txBody>
      </p:sp>
      <p:sp>
        <p:nvSpPr>
          <p:cNvPr id="395" name="Google Shape;395;p33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