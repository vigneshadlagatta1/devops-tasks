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9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embeddedFontLst>
    <p:embeddedFont>
      <p:font typeface="Inter" panose="020B0604020202020204" charset="0"/>
      <p:regular r:id="rId45"/>
      <p:bold r:id="rId46"/>
      <p:italic r:id="rId47"/>
      <p:boldItalic r:id="rId48"/>
    </p:embeddedFont>
    <p:embeddedFont>
      <p:font typeface="Inter Medium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2.png"/><Relationship Id="rId4" Type="http://schemas.openxmlformats.org/officeDocument/2006/relationships/image" Target="../media/image13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6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47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130.png"/><Relationship Id="rId4" Type="http://schemas.openxmlformats.org/officeDocument/2006/relationships/image" Target="../media/image123.png"/><Relationship Id="rId9" Type="http://schemas.openxmlformats.org/officeDocument/2006/relationships/image" Target="../media/image1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23.png"/><Relationship Id="rId9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5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51.png"/><Relationship Id="rId10" Type="http://schemas.openxmlformats.org/officeDocument/2006/relationships/image" Target="../media/image153.png"/><Relationship Id="rId4" Type="http://schemas.openxmlformats.org/officeDocument/2006/relationships/image" Target="../media/image13.png"/><Relationship Id="rId9" Type="http://schemas.openxmlformats.org/officeDocument/2006/relationships/image" Target="../media/image15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15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59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23.png"/><Relationship Id="rId9" Type="http://schemas.openxmlformats.org/officeDocument/2006/relationships/image" Target="../media/image1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70.png"/><Relationship Id="rId7" Type="http://schemas.openxmlformats.org/officeDocument/2006/relationships/image" Target="../media/image17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CB433-6578-C670-5049-6F861256D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9432"/>
            <a:ext cx="12192000" cy="74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85711" y="2304157"/>
            <a:ext cx="462057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AB4F8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 — API 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0329" y="2669827"/>
            <a:ext cx="10731341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AWS API Gateway Complete Guide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14787" y="3734692"/>
            <a:ext cx="41624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From Basics to Real-Time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1000" y="6300787"/>
            <a:ext cx="873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81000" y="6300787"/>
            <a:ext cx="873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4163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Introduction to APIs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290214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What is AWS API Gateway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38792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Architecture and Request Flow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87369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HTTP Methods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3594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Security and Authentication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290214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Monitoring and Logging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338792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7. Real-world Examples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387369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8. Best Practices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4501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3078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1656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023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29450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3430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391656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an API?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81000" y="6300787"/>
            <a:ext cx="83254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20306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pplication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rogramming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nterface.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25163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Allows two independent software systems to communicate and share data securely.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3164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Flow: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Client → API → Server → Database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411658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mobile weather app retrieving the current forecast from a meteorological server.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924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934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59448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The Restaurant Analogy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1000" y="6300787"/>
            <a:ext cx="80114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= 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You, sitting at the table, requesting food.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Waiter = API: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Takes your order, translates it for the kitchen, and brings the food back.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Kitchen = Backend Server: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Prepares the requested food out of sight.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Food Returned = API Response: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final product delivered to you.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AWS API Gateway Overview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36328"/>
            <a:ext cx="5286375" cy="218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AWS API Gateway?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381000" y="6300787"/>
            <a:ext cx="7878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12004" y="3498353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Fully Managed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29400" y="3915519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No servers to patch. AWS handles traffic management, authorization, access control, and monitoring.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fully managed AWS service that makes it easy to create, publish, and maintain APIs.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Acts as the "front door" for applications to access backend data or functionality.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Capable of handling hundreds of thousands of concurrent API calls.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for: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Mobile apps, Web apps, IoT devices, and Microservices architecture.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0612" y="2879228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1914"/>
            <a:ext cx="5286375" cy="2337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61914"/>
            <a:ext cx="5286375" cy="23379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Why API Gateway is Needed?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381000" y="6300787"/>
            <a:ext cx="81155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50001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Without API Gateway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334125" y="250001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API Gateway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04875" y="285675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Clients connect directly to servers.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334253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High security risks (exposed IPs).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04875" y="382830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Servers overwhelmed by connection limits.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04875" y="431408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Hard to manage, scale, and update APIs.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667500" y="285675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Single, unified entry point.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67500" y="334253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Backend servers remain strictly private.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67500" y="382830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Offloads authentication and throttling.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67500" y="431408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Easily route traffic to Lambdas, EC2, or S3.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9961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8539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7116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5694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8996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3853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711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5694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3: Types of API Gateway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81000" y="6300787"/>
            <a:ext cx="90145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93432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66775" y="3529905"/>
            <a:ext cx="29337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Full-featured API. Supports API Keys, usage plans, request validation, and complex mapping templates. Ideal for enterprise public APIs.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555807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629150" y="3529905"/>
            <a:ext cx="29337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Lower cost and lower latency compared to REST. Optimized for serverless workloads and AWS Lambda integrations. Very fast setup.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318182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WebSocket API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391525" y="3529905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Enables two-way, persistent, real-time communication. Best for chat applications, live dashboards, and multiplayer games.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0737" y="249361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49361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91675" y="2493615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4: AWS Architecture Diagram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81000" y="6300787"/>
            <a:ext cx="75604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904875" y="23449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device making an HTTP request.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04875" y="28307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Receives and validates the request.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04875" y="33164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Routes to AWS Lambda, EC2 instances, or an external HTTP backend.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04875" y="41165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Backend compute interacts with DynamoDB or RDS.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8779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3593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15944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Standard Request Flow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81000" y="6300787"/>
            <a:ext cx="93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 Request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 sends HTTP request to endpoint.</a:t>
            </a:r>
            <a:endParaRPr/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9835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278679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283651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Gateway checks payload formatting.</a:t>
            </a:r>
            <a:endParaRPr/>
          </a:p>
        </p:txBody>
      </p:sp>
      <p:pic>
        <p:nvPicPr>
          <p:cNvPr id="258" name="Google Shape;25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85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505181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10153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Identity verified via IAM or Cognito.</a:t>
            </a:r>
            <a:endParaRPr/>
          </a:p>
        </p:txBody>
      </p:sp>
      <p:pic>
        <p:nvPicPr>
          <p:cNvPr id="261" name="Google Shape;2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9866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731682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736654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Request routed to backend (Lambda).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Backend data returned to the client.</a:t>
            </a:r>
            <a:endParaRPr/>
          </a:p>
        </p:txBody>
      </p:sp>
      <p:pic>
        <p:nvPicPr>
          <p:cNvPr id="267" name="Google Shape;26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383" y="3230760"/>
            <a:ext cx="1428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40348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05363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51328" y="3230760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35394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5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HTTP Methods (Verbs)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381000" y="6300787"/>
            <a:ext cx="104760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GET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381000" y="6300787"/>
            <a:ext cx="9676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ECC71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Retrieve data from the server. It should never modify data.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Fetching a user profile, loading a product catalog.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(List all users)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(Get order #101)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&amp; 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Calling it multiple times yields the same result.</a:t>
            </a:r>
            <a:endParaRPr/>
          </a:p>
        </p:txBody>
      </p:sp>
      <p:pic>
        <p:nvPicPr>
          <p:cNvPr id="293" name="Google Shape;29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1620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5906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POST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381000" y="6300787"/>
            <a:ext cx="8652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498DB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Create new data or submit a payload to the server.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Registering a new user account, placing a new shopping order.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(Create a user)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(Submit an order)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Clicking submit twice might create two separate orders!</a:t>
            </a:r>
            <a:endParaRPr/>
          </a:p>
        </p:txBody>
      </p:sp>
      <p:pic>
        <p:nvPicPr>
          <p:cNvPr id="312" name="Google Shape;31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2477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3335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PUT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381000" y="6300787"/>
            <a:ext cx="9194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6667500" y="18591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a complete resource. It replaces the entire target object.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6667500" y="26592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Updating a user's entire profile where all fields must be supplied.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6667500" y="3459360"/>
            <a:ext cx="4953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667500" y="46023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Updating the exact same data 10 times leaves the system in the same state.</a:t>
            </a:r>
            <a:endParaRPr/>
          </a:p>
        </p:txBody>
      </p:sp>
      <p:pic>
        <p:nvPicPr>
          <p:cNvPr id="331" name="Google Shape;33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68935"/>
            <a:ext cx="15049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20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70212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5022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64522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PATCH</a:t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381000" y="6300787"/>
            <a:ext cx="9249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C40F"/>
                </a:solidFill>
                <a:latin typeface="Courier New"/>
                <a:ea typeface="Courier New"/>
                <a:cs typeface="Courier New"/>
                <a:sym typeface="Courier New"/>
              </a:rPr>
              <a:t>PATCH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6667500" y="18591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partial data. It modifies only the specific fields provided.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6667500" y="26592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Changing just the password or updating only the shipping address.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667500" y="3459360"/>
            <a:ext cx="4953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667500" y="46023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Saves bandwidth since you don't need to send the entire object payload.</a:t>
            </a:r>
            <a:endParaRPr/>
          </a:p>
        </p:txBody>
      </p:sp>
      <p:pic>
        <p:nvPicPr>
          <p:cNvPr id="349" name="Google Shape;34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68935"/>
            <a:ext cx="1676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20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7021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5022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64522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DELETE</a:t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381000" y="6300787"/>
            <a:ext cx="8681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Remove or delete a specific resource from the server.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Deleting an account, canceling an order, removing an item from a cart.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Usually requires strict authentication and authorization checks.</a:t>
            </a:r>
            <a:endParaRPr/>
          </a:p>
        </p:txBody>
      </p:sp>
      <p:pic>
        <p:nvPicPr>
          <p:cNvPr id="367" name="Google Shape;36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7621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9335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OPTIONS</a:t>
            </a:r>
            <a:endParaRPr/>
          </a:p>
        </p:txBody>
      </p:sp>
      <p:sp>
        <p:nvSpPr>
          <p:cNvPr id="379" name="Google Shape;379;p2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381000" y="6300787"/>
            <a:ext cx="85412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9B59B6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6667500" y="22734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Used for CORS (Cross-Origin Resource Sharing) preflight requests.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6667500" y="3073598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Browser Behavior: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Browsers automatically send this to check which methods are allowed before sending a real request (like POST).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6667500" y="418802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Returns headers indicating allowed origins and allowed methods (GET, POST, etc.).</a:t>
            </a:r>
            <a:endParaRPr/>
          </a:p>
        </p:txBody>
      </p:sp>
      <p:pic>
        <p:nvPicPr>
          <p:cNvPr id="385" name="Google Shape;38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1636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164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3088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639"/>
            <a:ext cx="5286375" cy="1404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28639"/>
            <a:ext cx="5286375" cy="14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HEAD and ANY Methods</a:t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381000" y="6300787"/>
            <a:ext cx="7947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571500" y="2966739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HEAD Method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571500" y="332348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Returns ONLY the headers, no body data.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571500" y="364733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Checking if a resource exists, or checking file sizes before downloading large files.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6334125" y="2966739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 Method (AWS Specific)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6334125" y="332348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 special wildcard method in API Gateway. Handles all HTTP methods with a single route (e.g., ANY /products).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6334125" y="387593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How it works: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All traffic routes to one Lambda. Lambda checks event.httpMethod to decide what to do.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58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6: Console Walkthrough</a:t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381000" y="6300787"/>
            <a:ext cx="868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413" name="Google Shape;41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35335"/>
            <a:ext cx="29908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1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Dashboard listing all REST, HTTP, and WebSocket APIs.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Routes/Resources: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Where you define your URL paths (e.g., `/users`).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Deployment environments like `dev`, `test`, `prod`.</a:t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Keys &amp; Usage Plans: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 monetizing and throttling third parties.</a:t>
            </a:r>
            <a:endParaRPr/>
          </a:p>
        </p:txBody>
      </p:sp>
      <p:pic>
        <p:nvPicPr>
          <p:cNvPr id="418" name="Google Shape;41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Set up API keys for REST APIs in API Gateway - Amazon API Gateway">
            <a:extLst>
              <a:ext uri="{FF2B5EF4-FFF2-40B4-BE49-F238E27FC236}">
                <a16:creationId xmlns:a16="http://schemas.microsoft.com/office/drawing/2014/main" id="{59889966-C7CF-63F1-FBF7-7762D600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502618"/>
            <a:ext cx="5391482" cy="405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Creating an API: The 4 Steps</a:t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381000" y="6300787"/>
            <a:ext cx="9249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2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Create API</a:t>
            </a:r>
            <a:endParaRPr/>
          </a:p>
        </p:txBody>
      </p:sp>
      <p:sp>
        <p:nvSpPr>
          <p:cNvPr id="433" name="Google Shape;433;p32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Choose REST or HTTP protocol.</a:t>
            </a:r>
            <a:endParaRPr/>
          </a:p>
        </p:txBody>
      </p:sp>
      <p:pic>
        <p:nvPicPr>
          <p:cNvPr id="434" name="Google Shape;43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84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2"/>
          <p:cNvSpPr txBox="1"/>
          <p:nvPr/>
        </p:nvSpPr>
        <p:spPr>
          <a:xfrm>
            <a:off x="354180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Define Routes</a:t>
            </a:r>
            <a:endParaRPr/>
          </a:p>
        </p:txBody>
      </p:sp>
      <p:sp>
        <p:nvSpPr>
          <p:cNvPr id="436" name="Google Shape;436;p32"/>
          <p:cNvSpPr txBox="1"/>
          <p:nvPr/>
        </p:nvSpPr>
        <p:spPr>
          <a:xfrm>
            <a:off x="359152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Create paths like /users and assign methods.</a:t>
            </a:r>
            <a:endParaRPr/>
          </a:p>
        </p:txBody>
      </p:sp>
      <p:pic>
        <p:nvPicPr>
          <p:cNvPr id="437" name="Google Shape;437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486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/>
        </p:nvSpPr>
        <p:spPr>
          <a:xfrm>
            <a:off x="656182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Integration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661154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Link the route to Lambda or a backend.</a:t>
            </a:r>
            <a:endParaRPr/>
          </a:p>
        </p:txBody>
      </p:sp>
      <p:pic>
        <p:nvPicPr>
          <p:cNvPr id="440" name="Google Shape;440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2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Deploy Stage</a:t>
            </a:r>
            <a:endParaRPr/>
          </a:p>
        </p:txBody>
      </p:sp>
      <p:sp>
        <p:nvSpPr>
          <p:cNvPr id="442" name="Google Shape;442;p32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Publish to an environment (e.g., Prod).</a:t>
            </a:r>
            <a:endParaRPr/>
          </a:p>
        </p:txBody>
      </p:sp>
      <p:pic>
        <p:nvPicPr>
          <p:cNvPr id="443" name="Google Shape;443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2945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4866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4886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3006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9103"/>
            <a:ext cx="5286375" cy="350326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Routes and Resources</a:t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381000" y="6300787"/>
            <a:ext cx="9542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6512004" y="2841128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 Tree</a:t>
            </a:r>
            <a:endParaRPr/>
          </a:p>
        </p:txBody>
      </p:sp>
      <p:pic>
        <p:nvPicPr>
          <p:cNvPr id="457" name="Google Shape;457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3258294"/>
            <a:ext cx="469582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3"/>
          <p:cNvSpPr txBox="1"/>
          <p:nvPr/>
        </p:nvSpPr>
        <p:spPr>
          <a:xfrm>
            <a:off x="904875" y="18162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Resources represent the logical entities in your system.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904875" y="2644973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They follow a tree structure. Example: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904875" y="38355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Each resource (route) supports multiple methods (GET, POST).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904875" y="4635698"/>
            <a:ext cx="4953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Path parameters like {orderId} allow dynamic routing.</a:t>
            </a:r>
            <a:endParaRPr/>
          </a:p>
        </p:txBody>
      </p:sp>
      <p:pic>
        <p:nvPicPr>
          <p:cNvPr id="462" name="Google Shape;46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34425" y="2222003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85916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65926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3"/>
          <p:cNvSpPr txBox="1"/>
          <p:nvPr/>
        </p:nvSpPr>
        <p:spPr>
          <a:xfrm>
            <a:off x="1095375" y="2978348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/orders</a:t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1285875" y="3406973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/{orderId}</a:t>
            </a:r>
            <a:endParaRPr/>
          </a:p>
        </p:txBody>
      </p:sp>
      <p:pic>
        <p:nvPicPr>
          <p:cNvPr id="467" name="Google Shape;46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87846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6843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Integration Types</a:t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381000" y="6300787"/>
            <a:ext cx="8835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816947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Proxy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866775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Passes the entire HTTP request directly to AWS Lambda and expects a formatted response back.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3638728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Backend</a:t>
            </a:r>
            <a:endParaRPr/>
          </a:p>
        </p:txBody>
      </p:sp>
      <p:sp>
        <p:nvSpPr>
          <p:cNvPr id="483" name="Google Shape;483;p34"/>
          <p:cNvSpPr txBox="1"/>
          <p:nvPr/>
        </p:nvSpPr>
        <p:spPr>
          <a:xfrm>
            <a:off x="3688556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Acts as a reverse proxy, forwarding requests to an existing EC2 instance or external web server.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6460509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AWS Services</a:t>
            </a:r>
            <a:endParaRPr/>
          </a:p>
        </p:txBody>
      </p:sp>
      <p:sp>
        <p:nvSpPr>
          <p:cNvPr id="485" name="Google Shape;485;p34"/>
          <p:cNvSpPr txBox="1"/>
          <p:nvPr/>
        </p:nvSpPr>
        <p:spPr>
          <a:xfrm>
            <a:off x="6510337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Directly integrates with other AWS services (e.g., directly putting a message into an SQS queue).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9282291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VPC Link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9332118" y="3529905"/>
            <a:ext cx="1993106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Securely routes traffic to private resources inside a VPC, bypassing the public internet.</a:t>
            </a:r>
            <a:endParaRPr/>
          </a:p>
        </p:txBody>
      </p:sp>
      <p:pic>
        <p:nvPicPr>
          <p:cNvPr id="488" name="Google Shape;488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7590" y="249361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70796" y="249361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40190" y="249361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42934" y="2493615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5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7</a:t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Security &amp; Authentication</a:t>
            </a:r>
            <a:endParaRPr/>
          </a:p>
        </p:txBody>
      </p:sp>
      <p:sp>
        <p:nvSpPr>
          <p:cNvPr id="499" name="Google Shape;499;p35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0644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40644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68935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68935"/>
            <a:ext cx="5286375" cy="852041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Authentication Methods</a:t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381000" y="6300787"/>
            <a:ext cx="809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12" name="Google Shape;512;p36"/>
          <p:cNvSpPr txBox="1"/>
          <p:nvPr/>
        </p:nvSpPr>
        <p:spPr>
          <a:xfrm>
            <a:off x="571500" y="257874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IAM Authentication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571500" y="2935485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Uses AWS IAM roles and Signature Version 4. Best for internal AWS-to-AWS service communication.</a:t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6334125" y="257874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Cognito User Pools</a:t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6334125" y="2935485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Native integration. Verifies JWT tokens from Amazon Cognito automatically. Great for mobile/web apps.</a:t>
            </a:r>
            <a:endParaRPr/>
          </a:p>
        </p:txBody>
      </p:sp>
      <p:sp>
        <p:nvSpPr>
          <p:cNvPr id="516" name="Google Shape;516;p36"/>
          <p:cNvSpPr txBox="1"/>
          <p:nvPr/>
        </p:nvSpPr>
        <p:spPr>
          <a:xfrm>
            <a:off x="571500" y="3907035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Authorizers</a:t>
            </a:r>
            <a:endParaRPr/>
          </a:p>
        </p:txBody>
      </p:sp>
      <p:sp>
        <p:nvSpPr>
          <p:cNvPr id="517" name="Google Shape;517;p36"/>
          <p:cNvSpPr txBox="1"/>
          <p:nvPr/>
        </p:nvSpPr>
        <p:spPr>
          <a:xfrm>
            <a:off x="571500" y="4263776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Custom Lambda function that evaluates a bearer token (like Auth0 or Okta) and returns an IAM policy.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334125" y="3907035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JWT Authentication</a:t>
            </a:r>
            <a:endParaRPr/>
          </a:p>
        </p:txBody>
      </p:sp>
      <p:sp>
        <p:nvSpPr>
          <p:cNvPr id="519" name="Google Shape;519;p36"/>
          <p:cNvSpPr txBox="1"/>
          <p:nvPr/>
        </p:nvSpPr>
        <p:spPr>
          <a:xfrm>
            <a:off x="6334125" y="4263776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Built-in JWT validation (OpenID Connect), native to HTTP APIs. Extremely fast and lightweight.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Authorization (Access Control)</a:t>
            </a:r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81000" y="6300787"/>
            <a:ext cx="755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29" name="Google Shape;529;p37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OAuth Scopes</a:t>
            </a:r>
            <a:endParaRPr/>
          </a:p>
        </p:txBody>
      </p:sp>
      <p:sp>
        <p:nvSpPr>
          <p:cNvPr id="530" name="Google Shape;530;p37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can validate scopes present in JWT tokens automatically, blocking unauthorized requests before they hit your backend.</a:t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904875" y="20210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is verifying </a:t>
            </a:r>
            <a:r>
              <a:rPr lang="en-US" sz="1650" b="0" i="1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who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are.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is verifying </a:t>
            </a:r>
            <a:r>
              <a:rPr lang="en-US" sz="1650" b="0" i="1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can do.</a:t>
            </a:r>
            <a:endParaRPr/>
          </a:p>
        </p:txBody>
      </p:sp>
      <p:sp>
        <p:nvSpPr>
          <p:cNvPr id="532" name="Google Shape;532;p37"/>
          <p:cNvSpPr txBox="1"/>
          <p:nvPr/>
        </p:nvSpPr>
        <p:spPr>
          <a:xfrm>
            <a:off x="904875" y="28211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Control access to specific API routes based on user roles or scopes.</a:t>
            </a:r>
            <a:endParaRPr/>
          </a:p>
        </p:txBody>
      </p:sp>
      <p:sp>
        <p:nvSpPr>
          <p:cNvPr id="533" name="Google Shape;533;p37"/>
          <p:cNvSpPr txBox="1"/>
          <p:nvPr/>
        </p:nvSpPr>
        <p:spPr>
          <a:xfrm>
            <a:off x="904875" y="3621285"/>
            <a:ext cx="4953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Standard users can GET /orders, but only Admin users can DELETE /orders.</a:t>
            </a:r>
            <a:endParaRPr/>
          </a:p>
        </p:txBody>
      </p:sp>
      <p:sp>
        <p:nvSpPr>
          <p:cNvPr id="534" name="Google Shape;534;p37"/>
          <p:cNvSpPr txBox="1"/>
          <p:nvPr/>
        </p:nvSpPr>
        <p:spPr>
          <a:xfrm>
            <a:off x="904875" y="444043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Authorizers return an IAM Policy granting `Allow` or `Deny` dynamically.</a:t>
            </a:r>
            <a:endParaRPr/>
          </a:p>
        </p:txBody>
      </p:sp>
      <p:pic>
        <p:nvPicPr>
          <p:cNvPr id="535" name="Google Shape;53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91575" y="2750641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639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640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641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83298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API Keys &amp; Usage Plans</a:t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381000" y="6300787"/>
            <a:ext cx="9977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49" name="Google Shape;549;p38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Monetization</a:t>
            </a:r>
            <a:endParaRPr/>
          </a:p>
        </p:txBody>
      </p:sp>
      <p:sp>
        <p:nvSpPr>
          <p:cNvPr id="550" name="Google Shape;550;p38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Usage plans allow you to productize your APIs. You can sell access tiers and automatically block developers who exceed their quota.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904875" y="200203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Keys: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Alphanumeric strings used to track and identify third-party developers calling your API.</a:t>
            </a:r>
            <a:endParaRPr/>
          </a:p>
        </p:txBody>
      </p:sp>
      <p:sp>
        <p:nvSpPr>
          <p:cNvPr id="552" name="Google Shape;552;p38"/>
          <p:cNvSpPr txBox="1"/>
          <p:nvPr/>
        </p:nvSpPr>
        <p:spPr>
          <a:xfrm>
            <a:off x="904875" y="28021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Should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be used for user authentication!</a:t>
            </a:r>
            <a:endParaRPr/>
          </a:p>
        </p:txBody>
      </p:sp>
      <p:sp>
        <p:nvSpPr>
          <p:cNvPr id="553" name="Google Shape;553;p38"/>
          <p:cNvSpPr txBox="1"/>
          <p:nvPr/>
        </p:nvSpPr>
        <p:spPr>
          <a:xfrm>
            <a:off x="904875" y="3287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Usage Plans: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Define request limits and quotas associated with API keys.</a:t>
            </a: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904875" y="4088010"/>
            <a:ext cx="4953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/>
          </a:p>
        </p:txBody>
      </p:sp>
      <p:pic>
        <p:nvPicPr>
          <p:cNvPr id="555" name="Google Shape;55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4425" y="275064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448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449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3307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1308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8"/>
          <p:cNvSpPr txBox="1"/>
          <p:nvPr/>
        </p:nvSpPr>
        <p:spPr>
          <a:xfrm>
            <a:off x="1238250" y="440233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Bronze Plan:</a:t>
            </a: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100 requests/day</a:t>
            </a:r>
            <a:endParaRPr/>
          </a:p>
        </p:txBody>
      </p:sp>
      <p:sp>
        <p:nvSpPr>
          <p:cNvPr id="561" name="Google Shape;561;p38"/>
          <p:cNvSpPr txBox="1"/>
          <p:nvPr/>
        </p:nvSpPr>
        <p:spPr>
          <a:xfrm>
            <a:off x="1238250" y="4830960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Gold Plan:</a:t>
            </a: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Unlimited requests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9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8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Traffic Management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Throttling &amp; Rate Limiting</a:t>
            </a:r>
            <a:endParaRPr/>
          </a:p>
        </p:txBody>
      </p:sp>
      <p:sp>
        <p:nvSpPr>
          <p:cNvPr id="576" name="Google Shape;576;p4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0"/>
          <p:cNvSpPr txBox="1"/>
          <p:nvPr/>
        </p:nvSpPr>
        <p:spPr>
          <a:xfrm>
            <a:off x="381000" y="6300787"/>
            <a:ext cx="8852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78" name="Google Shape;578;p40"/>
          <p:cNvSpPr txBox="1"/>
          <p:nvPr/>
        </p:nvSpPr>
        <p:spPr>
          <a:xfrm>
            <a:off x="571500" y="30667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/>
          </a:p>
        </p:txBody>
      </p:sp>
      <p:sp>
        <p:nvSpPr>
          <p:cNvPr id="579" name="Google Shape;579;p40"/>
          <p:cNvSpPr txBox="1"/>
          <p:nvPr/>
        </p:nvSpPr>
        <p:spPr>
          <a:xfrm>
            <a:off x="571500" y="3280618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Limits the steady-state number of requests per second (RPS).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 limit to 100 req/sec. Prevents backend databases from being overwhelmed during traffic spikes.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6334125" y="30667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Burst Limiting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6334125" y="3280618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Handles sudden spikes using the Token Bucket algorithm.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When limits are exceeded, Gateway immediately returns a </a:t>
            </a:r>
            <a:r>
              <a:rPr lang="en-US" sz="1200" b="1" i="0" u="none" strike="noStrike" cap="none">
                <a:solidFill>
                  <a:srgbClr val="E74C3C"/>
                </a:solidFill>
                <a:latin typeface="Inter"/>
                <a:ea typeface="Inter"/>
                <a:cs typeface="Inter"/>
                <a:sym typeface="Inter"/>
              </a:rPr>
              <a:t>429 Too Many Requests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error.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9: Performance (API Caching)</a:t>
            </a:r>
            <a:endParaRPr/>
          </a:p>
        </p:txBody>
      </p:sp>
      <p:sp>
        <p:nvSpPr>
          <p:cNvPr id="589" name="Google Shape;589;p4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1"/>
          <p:cNvSpPr txBox="1"/>
          <p:nvPr/>
        </p:nvSpPr>
        <p:spPr>
          <a:xfrm>
            <a:off x="381000" y="6300787"/>
            <a:ext cx="944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91" name="Google Shape;591;p41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/>
          </a:p>
        </p:txBody>
      </p:sp>
      <p:sp>
        <p:nvSpPr>
          <p:cNvPr id="592" name="Google Shape;592;p41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First request hits the backend. Gateway caches the response. Next 10,000 requests are served directly from Gateway memory instantly.</a:t>
            </a:r>
            <a:endParaRPr/>
          </a:p>
        </p:txBody>
      </p:sp>
      <p:sp>
        <p:nvSpPr>
          <p:cNvPr id="593" name="Google Shape;593;p41"/>
          <p:cNvSpPr txBox="1"/>
          <p:nvPr/>
        </p:nvSpPr>
        <p:spPr>
          <a:xfrm>
            <a:off x="904875" y="21877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Caching: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Stores frequently used backend responses in memory.</a:t>
            </a:r>
            <a:endParaRPr/>
          </a:p>
        </p:txBody>
      </p:sp>
      <p:sp>
        <p:nvSpPr>
          <p:cNvPr id="594" name="Google Shape;594;p41"/>
          <p:cNvSpPr txBox="1"/>
          <p:nvPr/>
        </p:nvSpPr>
        <p:spPr>
          <a:xfrm>
            <a:off x="904875" y="29878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Greatly reduces latency (faster APIs for clients).</a:t>
            </a:r>
            <a:endParaRPr/>
          </a:p>
        </p:txBody>
      </p:sp>
      <p:sp>
        <p:nvSpPr>
          <p:cNvPr id="595" name="Google Shape;595;p41"/>
          <p:cNvSpPr txBox="1"/>
          <p:nvPr/>
        </p:nvSpPr>
        <p:spPr>
          <a:xfrm>
            <a:off x="904875" y="3473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Reduces the number of calls made to your backend endpoints, saving costs and load.</a:t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904875" y="42737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TTL (Time-To-Live):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Dictates how long data stays cached (default is 300 seconds).</a:t>
            </a:r>
            <a:endParaRPr/>
          </a:p>
        </p:txBody>
      </p:sp>
      <p:pic>
        <p:nvPicPr>
          <p:cNvPr id="597" name="Google Shape;59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5387" y="2750641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3063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307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5165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31661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2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10</a:t>
            </a:r>
            <a:endParaRPr/>
          </a:p>
        </p:txBody>
      </p:sp>
      <p:sp>
        <p:nvSpPr>
          <p:cNvPr id="608" name="Google Shape;608;p42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Monitoring &amp; Observability</a:t>
            </a:r>
            <a:endParaRPr/>
          </a:p>
        </p:txBody>
      </p:sp>
      <p:sp>
        <p:nvSpPr>
          <p:cNvPr id="609" name="Google Shape;609;p42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 &amp; Logs</a:t>
            </a:r>
            <a:endParaRPr/>
          </a:p>
        </p:txBody>
      </p:sp>
      <p:sp>
        <p:nvSpPr>
          <p:cNvPr id="616" name="Google Shape;616;p4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3"/>
          <p:cNvSpPr txBox="1"/>
          <p:nvPr/>
        </p:nvSpPr>
        <p:spPr>
          <a:xfrm>
            <a:off x="381000" y="6300787"/>
            <a:ext cx="9432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18" name="Google Shape;618;p43"/>
          <p:cNvSpPr txBox="1"/>
          <p:nvPr/>
        </p:nvSpPr>
        <p:spPr>
          <a:xfrm>
            <a:off x="571500" y="28381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</a:t>
            </a:r>
            <a:endParaRPr/>
          </a:p>
        </p:txBody>
      </p:sp>
      <p:sp>
        <p:nvSpPr>
          <p:cNvPr id="619" name="Google Shape;619;p43"/>
          <p:cNvSpPr txBox="1"/>
          <p:nvPr/>
        </p:nvSpPr>
        <p:spPr>
          <a:xfrm>
            <a:off x="571500" y="3052018"/>
            <a:ext cx="52863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Aggregated data points monitored in real-time.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Key Metrics: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Latency (Integration vs Gateway)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Count (Total Requests)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4xx / 5xx Errors</a:t>
            </a:r>
            <a:endParaRPr/>
          </a:p>
        </p:txBody>
      </p:sp>
      <p:sp>
        <p:nvSpPr>
          <p:cNvPr id="620" name="Google Shape;620;p43"/>
          <p:cNvSpPr txBox="1"/>
          <p:nvPr/>
        </p:nvSpPr>
        <p:spPr>
          <a:xfrm>
            <a:off x="6334125" y="28381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Logs</a:t>
            </a:r>
            <a:endParaRPr/>
          </a:p>
        </p:txBody>
      </p:sp>
      <p:sp>
        <p:nvSpPr>
          <p:cNvPr id="621" name="Google Shape;621;p43"/>
          <p:cNvSpPr txBox="1"/>
          <p:nvPr/>
        </p:nvSpPr>
        <p:spPr>
          <a:xfrm>
            <a:off x="6334125" y="3052018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Detailed textual records of API executions.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Execution Logs: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Details request/response payloads, auth failures, and routing.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Access Logs: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Who accessed what, when, and from which IP.</a:t>
            </a:r>
            <a:endParaRPr/>
          </a:p>
        </p:txBody>
      </p:sp>
      <p:pic>
        <p:nvPicPr>
          <p:cNvPr id="622" name="Google Shape;62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67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7677"/>
            <a:ext cx="13335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AWS X-Ray (Tracing)</a:t>
            </a:r>
            <a:endParaRPr/>
          </a:p>
        </p:txBody>
      </p:sp>
      <p:sp>
        <p:nvSpPr>
          <p:cNvPr id="631" name="Google Shape;631;p4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4"/>
          <p:cNvSpPr txBox="1"/>
          <p:nvPr/>
        </p:nvSpPr>
        <p:spPr>
          <a:xfrm>
            <a:off x="381000" y="6300787"/>
            <a:ext cx="8344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33" name="Google Shape;633;p44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the Fault</a:t>
            </a:r>
            <a:endParaRPr/>
          </a:p>
        </p:txBody>
      </p:sp>
      <p:sp>
        <p:nvSpPr>
          <p:cNvPr id="634" name="Google Shape;634;p44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Instead of guessing why an API is slow, X-Ray gives you a visual timeline, instantly highlighting if the database or the compute layer is the culprit.</a:t>
            </a:r>
            <a:endParaRPr/>
          </a:p>
        </p:txBody>
      </p:sp>
      <p:sp>
        <p:nvSpPr>
          <p:cNvPr id="635" name="Google Shape;635;p44"/>
          <p:cNvSpPr txBox="1"/>
          <p:nvPr/>
        </p:nvSpPr>
        <p:spPr>
          <a:xfrm>
            <a:off x="904875" y="22734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Distributed Tracing: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Tracks a request visually as it travels through multiple AWS services.</a:t>
            </a:r>
            <a:endParaRPr/>
          </a:p>
        </p:txBody>
      </p:sp>
      <p:sp>
        <p:nvSpPr>
          <p:cNvPr id="636" name="Google Shape;636;p44"/>
          <p:cNvSpPr txBox="1"/>
          <p:nvPr/>
        </p:nvSpPr>
        <p:spPr>
          <a:xfrm>
            <a:off x="904875" y="30735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Identifies exactly where performance bottlenecks are occurring.</a:t>
            </a:r>
            <a:endParaRPr/>
          </a:p>
        </p:txBody>
      </p:sp>
      <p:sp>
        <p:nvSpPr>
          <p:cNvPr id="637" name="Google Shape;637;p44"/>
          <p:cNvSpPr txBox="1"/>
          <p:nvPr/>
        </p:nvSpPr>
        <p:spPr>
          <a:xfrm>
            <a:off x="904875" y="3873698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Generates a service map showing: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API Gateway (50ms) → Lambda (200ms) → DynamoDB (1.5s)</a:t>
            </a:r>
            <a:endParaRPr/>
          </a:p>
        </p:txBody>
      </p:sp>
      <p:pic>
        <p:nvPicPr>
          <p:cNvPr id="638" name="Google Shape;63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0" y="2750641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163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164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1656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5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11</a:t>
            </a:r>
            <a:endParaRPr/>
          </a:p>
        </p:txBody>
      </p:sp>
      <p:sp>
        <p:nvSpPr>
          <p:cNvPr id="648" name="Google Shape;648;p45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Real-World Architecture Example</a:t>
            </a:r>
            <a:endParaRPr/>
          </a:p>
        </p:txBody>
      </p:sp>
      <p:sp>
        <p:nvSpPr>
          <p:cNvPr id="649" name="Google Shape;649;p45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Food Ordering Architecture</a:t>
            </a:r>
            <a:endParaRPr/>
          </a:p>
        </p:txBody>
      </p:sp>
      <p:sp>
        <p:nvSpPr>
          <p:cNvPr id="657" name="Google Shape;657;p4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6"/>
          <p:cNvSpPr txBox="1"/>
          <p:nvPr/>
        </p:nvSpPr>
        <p:spPr>
          <a:xfrm>
            <a:off x="381000" y="6300787"/>
            <a:ext cx="9097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659" name="Google Shape;659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6"/>
          <p:cNvSpPr txBox="1"/>
          <p:nvPr/>
        </p:nvSpPr>
        <p:spPr>
          <a:xfrm>
            <a:off x="904875" y="22592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App: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Mobile user interface.</a:t>
            </a:r>
            <a:endParaRPr/>
          </a:p>
        </p:txBody>
      </p:sp>
      <p:sp>
        <p:nvSpPr>
          <p:cNvPr id="661" name="Google Shape;661;p46"/>
          <p:cNvSpPr txBox="1"/>
          <p:nvPr/>
        </p:nvSpPr>
        <p:spPr>
          <a:xfrm>
            <a:off x="904875" y="27449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Receives traffic, validates auth via Cognito, manages throttling.</a:t>
            </a:r>
            <a:endParaRPr/>
          </a:p>
        </p:txBody>
      </p:sp>
      <p:sp>
        <p:nvSpPr>
          <p:cNvPr id="662" name="Google Shape;662;p46"/>
          <p:cNvSpPr txBox="1"/>
          <p:nvPr/>
        </p:nvSpPr>
        <p:spPr>
          <a:xfrm>
            <a:off x="904875" y="354508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Processes business logic.</a:t>
            </a:r>
            <a:endParaRPr/>
          </a:p>
        </p:txBody>
      </p:sp>
      <p:sp>
        <p:nvSpPr>
          <p:cNvPr id="663" name="Google Shape;663;p46"/>
          <p:cNvSpPr txBox="1"/>
          <p:nvPr/>
        </p:nvSpPr>
        <p:spPr>
          <a:xfrm>
            <a:off x="904875" y="403086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Stores order history.</a:t>
            </a:r>
            <a:endParaRPr/>
          </a:p>
        </p:txBody>
      </p:sp>
      <p:sp>
        <p:nvSpPr>
          <p:cNvPr id="664" name="Google Shape;664;p46"/>
          <p:cNvSpPr txBox="1"/>
          <p:nvPr/>
        </p:nvSpPr>
        <p:spPr>
          <a:xfrm>
            <a:off x="904875" y="45166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External API: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Payment processing.</a:t>
            </a:r>
            <a:endParaRPr/>
          </a:p>
        </p:txBody>
      </p:sp>
      <p:pic>
        <p:nvPicPr>
          <p:cNvPr id="665" name="Google Shape;665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020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7878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5879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0737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559498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Request Flow Example</a:t>
            </a:r>
            <a:endParaRPr/>
          </a:p>
        </p:txBody>
      </p:sp>
      <p:sp>
        <p:nvSpPr>
          <p:cNvPr id="676" name="Google Shape;676;p4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7"/>
          <p:cNvSpPr txBox="1"/>
          <p:nvPr/>
        </p:nvSpPr>
        <p:spPr>
          <a:xfrm>
            <a:off x="381000" y="6300787"/>
            <a:ext cx="92615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78" name="Google Shape;678;p47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9" name="Google Shape;67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7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Press "Order"</a:t>
            </a:r>
            <a:endParaRPr/>
          </a:p>
        </p:txBody>
      </p:sp>
      <p:sp>
        <p:nvSpPr>
          <p:cNvPr id="681" name="Google Shape;681;p47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User submits order on mobile app.</a:t>
            </a:r>
            <a:endParaRPr/>
          </a:p>
        </p:txBody>
      </p:sp>
      <p:pic>
        <p:nvPicPr>
          <p:cNvPr id="682" name="Google Shape;682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9835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7"/>
          <p:cNvSpPr txBox="1"/>
          <p:nvPr/>
        </p:nvSpPr>
        <p:spPr>
          <a:xfrm>
            <a:off x="278679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Request</a:t>
            </a:r>
            <a:endParaRPr/>
          </a:p>
        </p:txBody>
      </p:sp>
      <p:sp>
        <p:nvSpPr>
          <p:cNvPr id="684" name="Google Shape;684;p47"/>
          <p:cNvSpPr txBox="1"/>
          <p:nvPr/>
        </p:nvSpPr>
        <p:spPr>
          <a:xfrm>
            <a:off x="283651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POST /order sent to API Gateway.</a:t>
            </a:r>
            <a:endParaRPr/>
          </a:p>
        </p:txBody>
      </p:sp>
      <p:pic>
        <p:nvPicPr>
          <p:cNvPr id="685" name="Google Shape;68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85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7"/>
          <p:cNvSpPr txBox="1"/>
          <p:nvPr/>
        </p:nvSpPr>
        <p:spPr>
          <a:xfrm>
            <a:off x="505181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sp>
        <p:nvSpPr>
          <p:cNvPr id="687" name="Google Shape;687;p47"/>
          <p:cNvSpPr txBox="1"/>
          <p:nvPr/>
        </p:nvSpPr>
        <p:spPr>
          <a:xfrm>
            <a:off x="510153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Token checked, rate limit verified.</a:t>
            </a:r>
            <a:endParaRPr/>
          </a:p>
        </p:txBody>
      </p:sp>
      <p:pic>
        <p:nvPicPr>
          <p:cNvPr id="688" name="Google Shape;688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9866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7"/>
          <p:cNvSpPr txBox="1"/>
          <p:nvPr/>
        </p:nvSpPr>
        <p:spPr>
          <a:xfrm>
            <a:off x="731682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Processing</a:t>
            </a:r>
            <a:endParaRPr/>
          </a:p>
        </p:txBody>
      </p:sp>
      <p:sp>
        <p:nvSpPr>
          <p:cNvPr id="690" name="Google Shape;690;p47"/>
          <p:cNvSpPr txBox="1"/>
          <p:nvPr/>
        </p:nvSpPr>
        <p:spPr>
          <a:xfrm>
            <a:off x="736654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processes payment logic.</a:t>
            </a:r>
            <a:endParaRPr/>
          </a:p>
        </p:txBody>
      </p:sp>
      <p:pic>
        <p:nvPicPr>
          <p:cNvPr id="691" name="Google Shape;691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7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/>
          </a:p>
        </p:txBody>
      </p:sp>
      <p:sp>
        <p:nvSpPr>
          <p:cNvPr id="693" name="Google Shape;693;p47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Order safely stored in DynamoDB.</a:t>
            </a:r>
            <a:endParaRPr/>
          </a:p>
        </p:txBody>
      </p:sp>
      <p:pic>
        <p:nvPicPr>
          <p:cNvPr id="694" name="Google Shape;694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2945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7960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79891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02056" y="3230760"/>
            <a:ext cx="2476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12: Best Practices</a:t>
            </a:r>
            <a:endParaRPr/>
          </a:p>
        </p:txBody>
      </p:sp>
      <p:sp>
        <p:nvSpPr>
          <p:cNvPr id="705" name="Google Shape;705;p4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8"/>
          <p:cNvSpPr txBox="1"/>
          <p:nvPr/>
        </p:nvSpPr>
        <p:spPr>
          <a:xfrm>
            <a:off x="381000" y="6300787"/>
            <a:ext cx="9374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07" name="Google Shape;707;p48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 Tip</a:t>
            </a:r>
            <a:endParaRPr/>
          </a:p>
        </p:txBody>
      </p:sp>
      <p:sp>
        <p:nvSpPr>
          <p:cNvPr id="708" name="Google Shape;708;p48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Never break existing clients. If you need to make a drastic change to your payload structure, deploy a V2 API alongside V1.</a:t>
            </a:r>
            <a:endParaRPr/>
          </a:p>
        </p:txBody>
      </p:sp>
      <p:sp>
        <p:nvSpPr>
          <p:cNvPr id="709" name="Google Shape;709;p48"/>
          <p:cNvSpPr txBox="1"/>
          <p:nvPr/>
        </p:nvSpPr>
        <p:spPr>
          <a:xfrm>
            <a:off x="904875" y="2025848"/>
            <a:ext cx="4953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Versioning: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Always version APIs in the URL (e.g., /v1/orders, /v2/orders).</a:t>
            </a:r>
            <a:endParaRPr/>
          </a:p>
        </p:txBody>
      </p:sp>
      <p:sp>
        <p:nvSpPr>
          <p:cNvPr id="710" name="Google Shape;710;p48"/>
          <p:cNvSpPr txBox="1"/>
          <p:nvPr/>
        </p:nvSpPr>
        <p:spPr>
          <a:xfrm>
            <a:off x="904875" y="28354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Caching: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 heavy read operations to improve latency.</a:t>
            </a:r>
            <a:endParaRPr/>
          </a:p>
        </p:txBody>
      </p:sp>
      <p:sp>
        <p:nvSpPr>
          <p:cNvPr id="711" name="Google Shape;711;p48"/>
          <p:cNvSpPr txBox="1"/>
          <p:nvPr/>
        </p:nvSpPr>
        <p:spPr>
          <a:xfrm>
            <a:off x="904875" y="36355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Throttling: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Protect backend resources from DDoS or runaway scripts.</a:t>
            </a:r>
            <a:endParaRPr/>
          </a:p>
        </p:txBody>
      </p:sp>
      <p:sp>
        <p:nvSpPr>
          <p:cNvPr id="712" name="Google Shape;712;p48"/>
          <p:cNvSpPr txBox="1"/>
          <p:nvPr/>
        </p:nvSpPr>
        <p:spPr>
          <a:xfrm>
            <a:off x="904875" y="44356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 Input: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 Gateway request validators to reject bad payloads before invoking Lambda.</a:t>
            </a:r>
            <a:endParaRPr/>
          </a:p>
        </p:txBody>
      </p:sp>
      <p:pic>
        <p:nvPicPr>
          <p:cNvPr id="713" name="Google Shape;713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4425" y="275064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687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833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84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853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Cost Model Structure</a:t>
            </a:r>
            <a:endParaRPr/>
          </a:p>
        </p:txBody>
      </p:sp>
      <p:sp>
        <p:nvSpPr>
          <p:cNvPr id="727" name="Google Shape;727;p4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381000" y="6300787"/>
            <a:ext cx="9388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29" name="Google Shape;729;p49"/>
          <p:cNvSpPr txBox="1"/>
          <p:nvPr/>
        </p:nvSpPr>
        <p:spPr>
          <a:xfrm>
            <a:off x="793432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</a:t>
            </a:r>
            <a:endParaRPr/>
          </a:p>
        </p:txBody>
      </p:sp>
      <p:sp>
        <p:nvSpPr>
          <p:cNvPr id="730" name="Google Shape;730;p49"/>
          <p:cNvSpPr txBox="1"/>
          <p:nvPr/>
        </p:nvSpPr>
        <p:spPr>
          <a:xfrm>
            <a:off x="866775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~$3.50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per million requests</a:t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866775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Plus data transfer costs. Highly featured.</a:t>
            </a:r>
            <a:endParaRPr/>
          </a:p>
        </p:txBody>
      </p:sp>
      <p:sp>
        <p:nvSpPr>
          <p:cNvPr id="732" name="Google Shape;732;p49"/>
          <p:cNvSpPr txBox="1"/>
          <p:nvPr/>
        </p:nvSpPr>
        <p:spPr>
          <a:xfrm>
            <a:off x="4555807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</a:t>
            </a:r>
            <a:endParaRPr/>
          </a:p>
        </p:txBody>
      </p:sp>
      <p:sp>
        <p:nvSpPr>
          <p:cNvPr id="733" name="Google Shape;733;p49"/>
          <p:cNvSpPr txBox="1"/>
          <p:nvPr/>
        </p:nvSpPr>
        <p:spPr>
          <a:xfrm>
            <a:off x="4629150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~$1.00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per million requests</a:t>
            </a:r>
            <a:endParaRPr/>
          </a:p>
        </p:txBody>
      </p:sp>
      <p:sp>
        <p:nvSpPr>
          <p:cNvPr id="734" name="Google Shape;734;p49"/>
          <p:cNvSpPr txBox="1"/>
          <p:nvPr/>
        </p:nvSpPr>
        <p:spPr>
          <a:xfrm>
            <a:off x="4629150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Cheaper and faster. Less features.</a:t>
            </a:r>
            <a:endParaRPr/>
          </a:p>
        </p:txBody>
      </p:sp>
      <p:sp>
        <p:nvSpPr>
          <p:cNvPr id="735" name="Google Shape;735;p49"/>
          <p:cNvSpPr txBox="1"/>
          <p:nvPr/>
        </p:nvSpPr>
        <p:spPr>
          <a:xfrm>
            <a:off x="8318182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 Tier</a:t>
            </a:r>
            <a:endParaRPr/>
          </a:p>
        </p:txBody>
      </p:sp>
      <p:sp>
        <p:nvSpPr>
          <p:cNvPr id="736" name="Google Shape;736;p49"/>
          <p:cNvSpPr txBox="1"/>
          <p:nvPr/>
        </p:nvSpPr>
        <p:spPr>
          <a:xfrm>
            <a:off x="8391525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 Million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free requests</a:t>
            </a:r>
            <a:endParaRPr/>
          </a:p>
        </p:txBody>
      </p:sp>
      <p:sp>
        <p:nvSpPr>
          <p:cNvPr id="737" name="Google Shape;737;p49"/>
          <p:cNvSpPr txBox="1"/>
          <p:nvPr/>
        </p:nvSpPr>
        <p:spPr>
          <a:xfrm>
            <a:off x="8391525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Per month for the first 12 months.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Interview Questions</a:t>
            </a:r>
            <a:endParaRPr/>
          </a:p>
        </p:txBody>
      </p:sp>
      <p:sp>
        <p:nvSpPr>
          <p:cNvPr id="744" name="Google Shape;744;p5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0"/>
          <p:cNvSpPr txBox="1"/>
          <p:nvPr/>
        </p:nvSpPr>
        <p:spPr>
          <a:xfrm>
            <a:off x="381000" y="6300787"/>
            <a:ext cx="89043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46" name="Google Shape;746;p50"/>
          <p:cNvSpPr txBox="1"/>
          <p:nvPr/>
        </p:nvSpPr>
        <p:spPr>
          <a:xfrm>
            <a:off x="904875" y="20306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the maximum timeout of API Gateway?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29 seconds (Hard limit, cannot be increased).</a:t>
            </a:r>
            <a:endParaRPr/>
          </a:p>
        </p:txBody>
      </p:sp>
      <p:sp>
        <p:nvSpPr>
          <p:cNvPr id="747" name="Google Shape;747;p50"/>
          <p:cNvSpPr txBox="1"/>
          <p:nvPr/>
        </p:nvSpPr>
        <p:spPr>
          <a:xfrm>
            <a:off x="904875" y="28307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Difference between REST and HTTP APIs?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REST has full features (WAF, caching). HTTP is cheaper/faster.</a:t>
            </a:r>
            <a:endParaRPr/>
          </a:p>
        </p:txBody>
      </p:sp>
      <p:sp>
        <p:nvSpPr>
          <p:cNvPr id="748" name="Google Shape;748;p50"/>
          <p:cNvSpPr txBox="1"/>
          <p:nvPr/>
        </p:nvSpPr>
        <p:spPr>
          <a:xfrm>
            <a:off x="904875" y="36308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throttling?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Limiting request rates to protect backend stability.</a:t>
            </a:r>
            <a:endParaRPr/>
          </a:p>
        </p:txBody>
      </p:sp>
      <p:sp>
        <p:nvSpPr>
          <p:cNvPr id="749" name="Google Shape;749;p50"/>
          <p:cNvSpPr txBox="1"/>
          <p:nvPr/>
        </p:nvSpPr>
        <p:spPr>
          <a:xfrm>
            <a:off x="904875" y="44309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the ANY method?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A wildcard route that captures all HTTP verbs (GET, POST, etc.).</a:t>
            </a:r>
            <a:endParaRPr/>
          </a:p>
        </p:txBody>
      </p:sp>
      <p:pic>
        <p:nvPicPr>
          <p:cNvPr id="750" name="Google Shape;750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34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35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736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3773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763" name="Google Shape;763;p5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1"/>
          <p:cNvSpPr txBox="1"/>
          <p:nvPr/>
        </p:nvSpPr>
        <p:spPr>
          <a:xfrm>
            <a:off x="381000" y="6300787"/>
            <a:ext cx="953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65" name="Google Shape;765;p51"/>
          <p:cNvSpPr txBox="1"/>
          <p:nvPr/>
        </p:nvSpPr>
        <p:spPr>
          <a:xfrm>
            <a:off x="793432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Front Door</a:t>
            </a:r>
            <a:endParaRPr/>
          </a:p>
        </p:txBody>
      </p:sp>
      <p:sp>
        <p:nvSpPr>
          <p:cNvPr id="766" name="Google Shape;766;p51"/>
          <p:cNvSpPr txBox="1"/>
          <p:nvPr/>
        </p:nvSpPr>
        <p:spPr>
          <a:xfrm>
            <a:off x="866775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is the single, secure entry point for all modern AWS applications.</a:t>
            </a:r>
            <a:endParaRPr/>
          </a:p>
        </p:txBody>
      </p:sp>
      <p:sp>
        <p:nvSpPr>
          <p:cNvPr id="767" name="Google Shape;767;p51"/>
          <p:cNvSpPr txBox="1"/>
          <p:nvPr/>
        </p:nvSpPr>
        <p:spPr>
          <a:xfrm>
            <a:off x="4555807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Heavy Lifting</a:t>
            </a:r>
            <a:endParaRPr/>
          </a:p>
        </p:txBody>
      </p:sp>
      <p:sp>
        <p:nvSpPr>
          <p:cNvPr id="768" name="Google Shape;768;p51"/>
          <p:cNvSpPr txBox="1"/>
          <p:nvPr/>
        </p:nvSpPr>
        <p:spPr>
          <a:xfrm>
            <a:off x="4629150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It handles routing, robust security, request throttling, and infinite scaling automatically.</a:t>
            </a:r>
            <a:endParaRPr/>
          </a:p>
        </p:txBody>
      </p:sp>
      <p:sp>
        <p:nvSpPr>
          <p:cNvPr id="769" name="Google Shape;769;p51"/>
          <p:cNvSpPr txBox="1"/>
          <p:nvPr/>
        </p:nvSpPr>
        <p:spPr>
          <a:xfrm>
            <a:off x="8318182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Serverless Pair</a:t>
            </a:r>
            <a:endParaRPr/>
          </a:p>
        </p:txBody>
      </p:sp>
      <p:sp>
        <p:nvSpPr>
          <p:cNvPr id="770" name="Google Shape;770;p51"/>
          <p:cNvSpPr txBox="1"/>
          <p:nvPr/>
        </p:nvSpPr>
        <p:spPr>
          <a:xfrm>
            <a:off x="8391525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Works perfectly in tandem with AWS Lambda to create zero-maintenance backends.</a:t>
            </a:r>
            <a:endParaRPr/>
          </a:p>
        </p:txBody>
      </p:sp>
      <p:pic>
        <p:nvPicPr>
          <p:cNvPr id="771" name="Google Shape;771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0737" y="275079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75079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91675" y="2750790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2419350"/>
            <a:ext cx="3695700" cy="1584573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2"/>
          <p:cNvSpPr txBox="1"/>
          <p:nvPr/>
        </p:nvSpPr>
        <p:spPr>
          <a:xfrm>
            <a:off x="295275" y="4762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781" name="Google Shape;781;p52"/>
          <p:cNvSpPr txBox="1"/>
          <p:nvPr/>
        </p:nvSpPr>
        <p:spPr>
          <a:xfrm>
            <a:off x="571500" y="15811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 and Discussion?</a:t>
            </a:r>
            <a:endParaRPr/>
          </a:p>
        </p:txBody>
      </p:sp>
      <p:sp>
        <p:nvSpPr>
          <p:cNvPr id="782" name="Google Shape;782;p52"/>
          <p:cNvSpPr txBox="1"/>
          <p:nvPr/>
        </p:nvSpPr>
        <p:spPr>
          <a:xfrm>
            <a:off x="381000" y="6300787"/>
            <a:ext cx="1090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83" name="Google Shape;783;p52"/>
          <p:cNvSpPr txBox="1"/>
          <p:nvPr/>
        </p:nvSpPr>
        <p:spPr>
          <a:xfrm>
            <a:off x="4667250" y="2609850"/>
            <a:ext cx="30403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Key Takeaways:</a:t>
            </a:r>
            <a:endParaRPr/>
          </a:p>
        </p:txBody>
      </p:sp>
      <p:sp>
        <p:nvSpPr>
          <p:cNvPr id="784" name="Google Shape;784;p52"/>
          <p:cNvSpPr txBox="1"/>
          <p:nvPr/>
        </p:nvSpPr>
        <p:spPr>
          <a:xfrm>
            <a:off x="4667250" y="2887860"/>
            <a:ext cx="2895600" cy="9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Secure APIs with Authorizers.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 Monitor performance with X-Ray.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 Design scalable architectures.</a:t>
            </a:r>
            <a:endParaRPr/>
          </a:p>
        </p:txBody>
      </p:sp>
      <p:pic>
        <p:nvPicPr>
          <p:cNvPr id="785" name="Google Shape;785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295453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3263056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3571577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93" name="Google Shape;793;p5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3"/>
          <p:cNvSpPr/>
          <p:nvPr/>
        </p:nvSpPr>
        <p:spPr>
          <a:xfrm>
            <a:off x="571500" y="2092523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3"/>
          <p:cNvSpPr/>
          <p:nvPr/>
        </p:nvSpPr>
        <p:spPr>
          <a:xfrm>
            <a:off x="571500" y="2864048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3"/>
          <p:cNvSpPr/>
          <p:nvPr/>
        </p:nvSpPr>
        <p:spPr>
          <a:xfrm>
            <a:off x="571500" y="3635573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3"/>
          <p:cNvSpPr/>
          <p:nvPr/>
        </p:nvSpPr>
        <p:spPr>
          <a:xfrm>
            <a:off x="571500" y="285452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3"/>
          <p:cNvSpPr/>
          <p:nvPr/>
        </p:nvSpPr>
        <p:spPr>
          <a:xfrm>
            <a:off x="571500" y="285452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3"/>
          <p:cNvSpPr/>
          <p:nvPr/>
        </p:nvSpPr>
        <p:spPr>
          <a:xfrm>
            <a:off x="571500" y="3626048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3"/>
          <p:cNvSpPr/>
          <p:nvPr/>
        </p:nvSpPr>
        <p:spPr>
          <a:xfrm>
            <a:off x="571500" y="3626048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3"/>
          <p:cNvSpPr/>
          <p:nvPr/>
        </p:nvSpPr>
        <p:spPr>
          <a:xfrm>
            <a:off x="571500" y="439757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571500" y="439757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3" name="Google Shape;803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53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3"/>
          <p:cNvSpPr txBox="1"/>
          <p:nvPr/>
        </p:nvSpPr>
        <p:spPr>
          <a:xfrm>
            <a:off x="1666875" y="2242542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https://miro.medium.com/v2/1*SBH_Y5t32ixv8C_F1MVYzA.png</a:t>
            </a:r>
            <a:endParaRPr/>
          </a:p>
        </p:txBody>
      </p:sp>
      <p:sp>
        <p:nvSpPr>
          <p:cNvPr id="805" name="Google Shape;805;p53"/>
          <p:cNvSpPr txBox="1"/>
          <p:nvPr/>
        </p:nvSpPr>
        <p:spPr>
          <a:xfrm>
            <a:off x="1666875" y="2475904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806" name="Google Shape;80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69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53"/>
          <p:cNvSpPr txBox="1"/>
          <p:nvPr/>
        </p:nvSpPr>
        <p:spPr>
          <a:xfrm>
            <a:off x="1666875" y="3014067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https://i.sstatic.net/ChtPo.png</a:t>
            </a:r>
            <a:endParaRPr/>
          </a:p>
        </p:txBody>
      </p:sp>
      <p:sp>
        <p:nvSpPr>
          <p:cNvPr id="808" name="Google Shape;808;p53"/>
          <p:cNvSpPr txBox="1"/>
          <p:nvPr/>
        </p:nvSpPr>
        <p:spPr>
          <a:xfrm>
            <a:off x="1666875" y="3247429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softwareengineering.stackexchange.com</a:t>
            </a:r>
            <a:endParaRPr/>
          </a:p>
        </p:txBody>
      </p:sp>
      <p:pic>
        <p:nvPicPr>
          <p:cNvPr id="809" name="Google Shape;809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78448"/>
            <a:ext cx="12668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53"/>
          <p:cNvSpPr txBox="1"/>
          <p:nvPr/>
        </p:nvSpPr>
        <p:spPr>
          <a:xfrm>
            <a:off x="1666875" y="3785592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https://d2908q01vomqb2.cloudfront.net/fc074d501302eb2b93e2554793fcaf50b3bf7291/2020/08/21/Figure-1-Architecture-Diagram.png</a:t>
            </a:r>
            <a:endParaRPr/>
          </a:p>
        </p:txBody>
      </p:sp>
      <p:sp>
        <p:nvSpPr>
          <p:cNvPr id="811" name="Google Shape;811;p53"/>
          <p:cNvSpPr txBox="1"/>
          <p:nvPr/>
        </p:nvSpPr>
        <p:spPr>
          <a:xfrm>
            <a:off x="1666875" y="4018954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id="812" name="Google Shape;812;p5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99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3"/>
          <p:cNvSpPr txBox="1"/>
          <p:nvPr/>
        </p:nvSpPr>
        <p:spPr>
          <a:xfrm>
            <a:off x="1666875" y="4557117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https://d2908q01vomqb2.cloudfront.net/77de68daecd823babbb58edb1c8e14d7106e83bb/2022/10/24/Cognizant-OrderServ-2.0-2.png</a:t>
            </a:r>
            <a:endParaRPr/>
          </a:p>
        </p:txBody>
      </p:sp>
      <p:sp>
        <p:nvSpPr>
          <p:cNvPr id="814" name="Google Shape;814;p53"/>
          <p:cNvSpPr txBox="1"/>
          <p:nvPr/>
        </p:nvSpPr>
        <p:spPr>
          <a:xfrm>
            <a:off x="1666875" y="4790479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2368</Words>
  <Application>Microsoft Office PowerPoint</Application>
  <PresentationFormat>Widescreen</PresentationFormat>
  <Paragraphs>295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Inter Medium</vt:lpstr>
      <vt:lpstr>Inter</vt:lpstr>
      <vt:lpstr>Calibri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ADLAGATTA VIGNESH</dc:creator>
  <cp:lastModifiedBy>ADLAGATTA VIGNESH</cp:lastModifiedBy>
  <cp:revision>2</cp:revision>
  <dcterms:modified xsi:type="dcterms:W3CDTF">2026-03-16T17:15:52Z</dcterms:modified>
</cp:coreProperties>
</file>