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Roboto Light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9CB6A9-BB2B-4E61-9EBD-626F0540FDEA}">
  <a:tblStyle styleId="{7C9CB6A9-BB2B-4E61-9EBD-626F0540FDE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Lato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33" Type="http://schemas.openxmlformats.org/officeDocument/2006/relationships/font" Target="fonts/RobotoLight-bold.fntdata"/><Relationship Id="rId10" Type="http://schemas.openxmlformats.org/officeDocument/2006/relationships/slide" Target="slides/slide4.xml"/><Relationship Id="rId32" Type="http://schemas.openxmlformats.org/officeDocument/2006/relationships/font" Target="fonts/RobotoLight-regular.fntdata"/><Relationship Id="rId13" Type="http://schemas.openxmlformats.org/officeDocument/2006/relationships/slide" Target="slides/slide7.xml"/><Relationship Id="rId35" Type="http://schemas.openxmlformats.org/officeDocument/2006/relationships/font" Target="fonts/RobotoLight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Light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5" Type="http://schemas.openxmlformats.org/officeDocument/2006/relationships/image" Target="../media/image4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30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5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45.png"/><Relationship Id="rId8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9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39.png"/><Relationship Id="rId5" Type="http://schemas.openxmlformats.org/officeDocument/2006/relationships/image" Target="../media/image28.png"/><Relationship Id="rId6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1.png"/><Relationship Id="rId4" Type="http://schemas.openxmlformats.org/officeDocument/2006/relationships/image" Target="../media/image4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3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9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43.png"/><Relationship Id="rId7" Type="http://schemas.openxmlformats.org/officeDocument/2006/relationships/image" Target="../media/image50.png"/><Relationship Id="rId8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2030164"/>
            <a:ext cx="1143000" cy="48116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797075"/>
            <a:ext cx="116014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AWS Secrets Manager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87725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BCF8"/>
                </a:solidFill>
                <a:latin typeface="Roboto Light"/>
                <a:ea typeface="Roboto Light"/>
                <a:cs typeface="Roboto Light"/>
                <a:sym typeface="Roboto Light"/>
              </a:rPr>
              <a:t>Securely manage, rotate, and retrieve secrets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WHAT IS SECRETS MANAGER?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962275"/>
            <a:ext cx="5238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AWS Secrets Manager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is a fully managed service that helps you protect secrets needed to access your applications, services, and IT resources.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952875"/>
            <a:ext cx="5238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It allows you to replace hard-coded credentials in your code, including passwords and API keys, with an API call to Secrets Manager to retrieve the secret programmatically.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THE PROBLEM: HARD-CODING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6858000" y="2390775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Security Risks: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Credentials leaked in source code repositories.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858000" y="3162300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Manual Rotations: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Updating code every time a password expires.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858000" y="3933825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Lack of Audit: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No centralized visibility into who accessed what secret.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58000" y="4705350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Compliance: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Failing PCI-DSS or HIPAA requirements for secret age.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4288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200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9719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7434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24112"/>
            <a:ext cx="349240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24112"/>
            <a:ext cx="3492549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24112"/>
            <a:ext cx="349240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CORE SERVICE FEATURES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575" y="28527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84239" y="3519487"/>
            <a:ext cx="28669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Auto Rotation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3919537"/>
            <a:ext cx="2730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Automatically rotate credentials for RDS, Redshift, and DocumentDB using Lambda.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6301" y="285273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4662387" y="3519487"/>
            <a:ext cx="286707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KMS Encryption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730650" y="3919537"/>
            <a:ext cx="2730549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Secrets are encrypted at rest using AWS KMS keys you control or manage.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025" y="285273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440690" y="3519487"/>
            <a:ext cx="28669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Replication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08950" y="3919537"/>
            <a:ext cx="27304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Easily replicate secrets across regions for disaster recovery and low latency.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HOW IT WORKS: WORKFLOW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905125"/>
            <a:ext cx="523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Store: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Create a secret in the console or CLI.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362325"/>
            <a:ext cx="523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Encrypt: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AWS KMS encrypts the secret value.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3819525"/>
            <a:ext cx="52387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Retrieve: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Application requests secret via IAM-authorized API call.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543425"/>
            <a:ext cx="5238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Decrypt: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Service decrypts and sends value via TLS.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71662"/>
            <a:ext cx="349240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871662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1871662"/>
            <a:ext cx="349240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SUPPORTED SECRET TYPES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49316" y="4852987"/>
            <a:ext cx="1693217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23002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884239" y="2967037"/>
            <a:ext cx="28669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RDS / Redshift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52500" y="3367087"/>
            <a:ext cx="2730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Full native integration with Amazon RDS instances.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726" y="23002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4662387" y="2967037"/>
            <a:ext cx="286707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API Keys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4730650" y="3367087"/>
            <a:ext cx="27305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Store OAuth tokens, SaaS keys, or custom binary data.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4113" y="23002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440690" y="2967037"/>
            <a:ext cx="28669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Custom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508950" y="3367087"/>
            <a:ext cx="2730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Arbitrary Key/Value pairs for any application logic.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71500" y="571500"/>
            <a:ext cx="52006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AUTOMATIC ROTATION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2600325"/>
            <a:ext cx="4953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Secrets Manager can rotate credentials on a schedule without user intervention. It uses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Lambda Function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to interact with the secret's target resource (e.g., updating a database password).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4048125"/>
            <a:ext cx="4953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Benefits: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• Reduces risk of long-lived credentials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• No application downtime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• Complies with security standards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SECRETS MANAGER VS. SSM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71500" y="2219325"/>
            <a:ext cx="11049000" cy="32766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20"/>
          <p:cNvGraphicFramePr/>
          <p:nvPr/>
        </p:nvGraphicFramePr>
        <p:xfrm>
          <a:off x="571500" y="2219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{7C9CB6A9-BB2B-4E61-9EBD-626F0540FDEA}</a:tableStyleId>
              </a:tblPr>
              <a:tblGrid>
                <a:gridCol w="2840675"/>
                <a:gridCol w="4128800"/>
                <a:gridCol w="4079525"/>
              </a:tblGrid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Secrets Manager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SSM Parameter Store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</a:tr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Native (Built-in)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Manual/Custom Logic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$0.40 per secret/month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Free (Standard)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Password Gen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Built-in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Cross-Account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Easy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Supported but complex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0"/>
          <p:cNvSpPr/>
          <p:nvPr/>
        </p:nvSpPr>
        <p:spPr>
          <a:xfrm>
            <a:off x="571500" y="3509962"/>
            <a:ext cx="2840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412182" y="3509962"/>
            <a:ext cx="4128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540972" y="3509962"/>
            <a:ext cx="4079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1500" y="4167187"/>
            <a:ext cx="2840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3412182" y="4167187"/>
            <a:ext cx="4128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540972" y="4167187"/>
            <a:ext cx="4079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71500" y="4824412"/>
            <a:ext cx="2840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412182" y="4824412"/>
            <a:ext cx="4128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7540972" y="4824412"/>
            <a:ext cx="4079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71500" y="5481637"/>
            <a:ext cx="2840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412182" y="5481637"/>
            <a:ext cx="41287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540972" y="5481637"/>
            <a:ext cx="40795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SECURITY &amp; COMPLIANCE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1047750" y="2524125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IAM Policies: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Granular access control at the secret level.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047750" y="3295650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CloudTrail: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Logs all API calls for auditing and compliance.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047750" y="4067175"/>
            <a:ext cx="4762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VPC Endpoints: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Access secrets without traversing the internet.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047750" y="483870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Certifications: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HIPAA, PCI, ISO, SOC compliant.</a:t>
            </a:r>
            <a:endParaRPr/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622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337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052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8768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GLOBAL REPLICATION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6381750" y="2981325"/>
            <a:ext cx="52387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AWS Secrets Manager supports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Multi-Region replication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. You can designate a primary region and multiple secondary regions.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696075" y="3971925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762750" y="3971925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Enables disaster recovery.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696075" y="4238625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762750" y="4238625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Local retrieval for multi-region apps.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696075" y="4505325"/>
            <a:ext cx="66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762750" y="4505325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AWS handles the syncing of values.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8705" y="32004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1385" y="32004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4066" y="32004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66746" y="32004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IMPLEMENTATION STEPS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343852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510733" y="3867150"/>
            <a:ext cx="255219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Define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4267200"/>
            <a:ext cx="243066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Choose secret type (RDS vs Other).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3383413" y="3867150"/>
            <a:ext cx="255219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Configure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3444180" y="4267200"/>
            <a:ext cx="243066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Input keys/values and select KMS key.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256094" y="3867150"/>
            <a:ext cx="255219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Rotation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316860" y="4267200"/>
            <a:ext cx="243066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Set schedule and Lambda logic.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9128774" y="3867150"/>
            <a:ext cx="255219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Fetch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9189541" y="4267200"/>
            <a:ext cx="243066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Update app with Secret ARN.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PRICING MODEL</a:t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571500" y="2914650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232F3E"/>
                </a:solidFill>
                <a:latin typeface="Roboto"/>
                <a:ea typeface="Roboto"/>
                <a:cs typeface="Roboto"/>
                <a:sym typeface="Roboto"/>
              </a:rPr>
              <a:t>$0.40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71500" y="4438650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7BCF8"/>
                </a:solidFill>
                <a:latin typeface="Roboto"/>
                <a:ea typeface="Roboto"/>
                <a:cs typeface="Roboto"/>
                <a:sym typeface="Roboto"/>
              </a:rPr>
              <a:t>Per Secret / Month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6858000" y="3176587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API Calls: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$0.05 per 10,000 API calls.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6858000" y="3681412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Rotation: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Standard Lambda costs apply.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6858000" y="4186237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Free Tier: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 30-day free trial for new users.</a:t>
            </a:r>
            <a:endParaRPr/>
          </a:p>
        </p:txBody>
      </p:sp>
      <p:pic>
        <p:nvPicPr>
          <p:cNvPr descr="image.png"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146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7195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224337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INDUSTRY ADOPTION TRENDS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571500" y="5819775"/>
            <a:ext cx="1104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Adoption rate by sector (Illustrative data based on compliance requirements)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7462"/>
            <a:ext cx="349240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57462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557462"/>
            <a:ext cx="349240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PRO-TIPS &amp; BEST PRACTICES</a:t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5" name="Google Shape;28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7662" y="2986087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884239" y="3652837"/>
            <a:ext cx="28669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Least Privilege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952500" y="4052887"/>
            <a:ext cx="2730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Restrict access to specific Secret ARNs in IAM.</a:t>
            </a:r>
            <a:endParaRPr/>
          </a:p>
        </p:txBody>
      </p:sp>
      <p:pic>
        <p:nvPicPr>
          <p:cNvPr descr="image.png" id="288" name="Google Shape;28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29860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4662387" y="3652837"/>
            <a:ext cx="286707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Caching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4730650" y="4052887"/>
            <a:ext cx="273054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Use Client-side caching to reduce costs and latency.</a:t>
            </a:r>
            <a:endParaRPr/>
          </a:p>
        </p:txBody>
      </p:sp>
      <p:pic>
        <p:nvPicPr>
          <p:cNvPr descr="image.png" id="291" name="Google Shape;29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4600" y="2986087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8440690" y="3652837"/>
            <a:ext cx="286692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Monitor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508950" y="4052887"/>
            <a:ext cx="2730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Set CloudWatch Alarms for unexpected deletions.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1556444"/>
            <a:ext cx="1905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 txBox="1"/>
          <p:nvPr/>
        </p:nvSpPr>
        <p:spPr>
          <a:xfrm>
            <a:off x="295275" y="3270944"/>
            <a:ext cx="116014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Any Questions?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571500" y="4661594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7BCF8"/>
                </a:solidFill>
                <a:latin typeface="Roboto Light"/>
                <a:ea typeface="Roboto Light"/>
                <a:cs typeface="Roboto Light"/>
                <a:sym typeface="Roboto Light"/>
              </a:rPr>
              <a:t>Thank you for your time!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IMAGE SOURCES</a:t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571500" y="1428750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571500" y="233139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571500" y="310291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571500" y="387444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571500" y="4645967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571500" y="23218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571500" y="23218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571500" y="3093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571500" y="30933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571500" y="38649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571500" y="38649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571500" y="46364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571500" y="46364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571500" y="55390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571500" y="553908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4" name="Google Shape;32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71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 txBox="1"/>
          <p:nvPr/>
        </p:nvSpPr>
        <p:spPr>
          <a:xfrm>
            <a:off x="1666875" y="1571625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https://media2.dev.to/dynamic/image/width=1000,height=420,fit=cover,gravity=auto,format=auto/https%3A%2F%2Fdev-to-uploads.s3.amazonaws.com%2Fuploads%2Farticles%2Faq5dgso20q9e2kdxrisn.png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1666875" y="1965721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dev.to</a:t>
            </a:r>
            <a:endParaRPr/>
          </a:p>
        </p:txBody>
      </p:sp>
      <p:pic>
        <p:nvPicPr>
          <p:cNvPr descr="image.png" id="327" name="Google Shape;32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742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/>
        </p:nvSpPr>
        <p:spPr>
          <a:xfrm>
            <a:off x="1666875" y="249525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https://png.pngtree.com/thumb_back/fh260/background/20260304/pngtree-digital-lock-on-cyber-network-system-image_21511146.webp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666875" y="271611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pngtree.com</a:t>
            </a:r>
            <a:endParaRPr/>
          </a:p>
        </p:txBody>
      </p:sp>
      <p:pic>
        <p:nvPicPr>
          <p:cNvPr descr="image.png" id="330" name="Google Shape;33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457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8"/>
          <p:cNvSpPr txBox="1"/>
          <p:nvPr/>
        </p:nvSpPr>
        <p:spPr>
          <a:xfrm>
            <a:off x="1666875" y="326677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https://techglide.in/wp-content/uploads/2024/09/clean-vs-messy-code.png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666875" y="348763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techglide.in</a:t>
            </a:r>
            <a:endParaRPr/>
          </a:p>
        </p:txBody>
      </p:sp>
      <p:pic>
        <p:nvPicPr>
          <p:cNvPr descr="image.png" id="333" name="Google Shape;33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173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/>
        </p:nvSpPr>
        <p:spPr>
          <a:xfrm>
            <a:off x="1666875" y="4038302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https://cdn.shopaccino.com/igmguru/images/cloud-computing-services-model-3624666283012684.jpg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1666875" y="425916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www.igmguru.com</a:t>
            </a:r>
            <a:endParaRPr/>
          </a:p>
        </p:txBody>
      </p:sp>
      <p:pic>
        <p:nvPicPr>
          <p:cNvPr descr="image.png" id="336" name="Google Shape;33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5432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1666875" y="4788842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https://media2.dev.to/dynamic/image/width=1280,height=720,fit=cover,gravity=auto,format=auto/https%3A%2F%2Fdev-to-uploads.s3.amazonaws.com%2Fuploads%2Farticles%2F3tgzgbnrbpf33nfnn1t6.png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1666875" y="5182939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dev.to</a:t>
            </a:r>
            <a:endParaRPr/>
          </a:p>
        </p:txBody>
      </p:sp>
      <p:pic>
        <p:nvPicPr>
          <p:cNvPr descr="image.png" id="339" name="Google Shape;33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914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8"/>
          <p:cNvSpPr txBox="1"/>
          <p:nvPr/>
        </p:nvSpPr>
        <p:spPr>
          <a:xfrm>
            <a:off x="1666875" y="571246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https://png.pngtree.com/png-clipart/20250417/original/pngtree-digital-security-concept-with-shield-and-chip-for-protecting-financial-transactions-png-image_20715100.png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1666875" y="593333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pngtree.com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9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32F3E"/>
                </a:solidFill>
                <a:latin typeface="Lato"/>
                <a:ea typeface="Lato"/>
                <a:cs typeface="Lato"/>
                <a:sym typeface="Lato"/>
              </a:rPr>
              <a:t>IMAGE SOURCES</a:t>
            </a:r>
            <a:endParaRPr/>
          </a:p>
        </p:txBody>
      </p:sp>
      <p:sp>
        <p:nvSpPr>
          <p:cNvPr id="348" name="Google Shape;348;p29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37B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571500" y="263946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9"/>
          <p:cNvSpPr/>
          <p:nvPr/>
        </p:nvSpPr>
        <p:spPr>
          <a:xfrm>
            <a:off x="571500" y="3410991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571500" y="34014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571500" y="34014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571500" y="43041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571500" y="430410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5" name="Google Shape;35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23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9"/>
          <p:cNvSpPr txBox="1"/>
          <p:nvPr/>
        </p:nvSpPr>
        <p:spPr>
          <a:xfrm>
            <a:off x="1666875" y="280332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https://cdn.vectorstock.com/i/1000v/81/63/cloud-monitoring-dashboard-icon-vector-58968163.jpg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1666875" y="302418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www.vectorstock.com</a:t>
            </a:r>
            <a:endParaRPr/>
          </a:p>
        </p:txBody>
      </p:sp>
      <p:pic>
        <p:nvPicPr>
          <p:cNvPr descr="image.png" id="358" name="Google Shape;35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93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9"/>
          <p:cNvSpPr txBox="1"/>
          <p:nvPr/>
        </p:nvSpPr>
        <p:spPr>
          <a:xfrm>
            <a:off x="1666875" y="3553866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https://static.vecteezy.com/system/resources/thumbnails/070/780/168/small/digital-blue-world-map-with-glowing-connection-points-and-network-lines-modern-concept-design-representing-global-communication-internet-technology-and-worldwide-connectivity-vector.jpg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1666875" y="3947963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/>
          </a:p>
        </p:txBody>
      </p:sp>
      <p:pic>
        <p:nvPicPr>
          <p:cNvPr descr="image.png" id="361" name="Google Shape;36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565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9"/>
          <p:cNvSpPr txBox="1"/>
          <p:nvPr/>
        </p:nvSpPr>
        <p:spPr>
          <a:xfrm>
            <a:off x="1666875" y="44774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https://slideuplift.com/wp-content/uploads/2020/06/ItemID6600.jpg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1666875" y="46983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slideuplift.com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