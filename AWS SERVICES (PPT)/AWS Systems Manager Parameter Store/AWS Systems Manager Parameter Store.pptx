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embeddedFontLst>
    <p:embeddedFont>
      <p:font typeface="Inter" panose="020B0604020202020204" charset="0"/>
      <p:regular r:id="rId45"/>
      <p:bold r:id="rId46"/>
      <p:italic r:id="rId47"/>
      <p:boldItalic r:id="rId48"/>
    </p:embeddedFont>
    <p:embeddedFont>
      <p:font typeface="Inter ExtraBold" panose="020B0604020202020204" charset="0"/>
      <p:bold r:id="rId49"/>
      <p:boldItalic r:id="rId50"/>
    </p:embeddedFont>
    <p:embeddedFont>
      <p:font typeface="Inter SemiBold" panose="020B060402020202020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D5DDEE-E418-4ACC-873C-B99C69DF80FC}">
  <a:tblStyle styleId="{32D5DDEE-E418-4ACC-873C-B99C69DF80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4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4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5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4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21572"/>
            <a:ext cx="11049000" cy="148381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024211"/>
            <a:ext cx="1160145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AWS Systems Manager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852886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Parameter Store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510111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Secure Configuration and Secrets Management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50358" y="652611"/>
            <a:ext cx="1691282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71500" y="5245447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6191F"/>
                </a:solidFill>
                <a:latin typeface="Inter"/>
                <a:ea typeface="Inter"/>
                <a:cs typeface="Inter"/>
                <a:sym typeface="Inter"/>
              </a:rPr>
              <a:t>Presenter:</a:t>
            </a:r>
            <a:r>
              <a:rPr lang="en-US" sz="1800" b="0" i="0" u="none" strike="noStrike" cap="none">
                <a:solidFill>
                  <a:srgbClr val="16191F"/>
                </a:solidFill>
                <a:latin typeface="Inter"/>
                <a:ea typeface="Inter"/>
                <a:cs typeface="Inter"/>
                <a:sym typeface="Inter"/>
              </a:rPr>
              <a:t> Vignesh Adlagatta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5794027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AWS Cloud Operations &amp; Security Module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1690"/>
            <a:ext cx="3492400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31690"/>
            <a:ext cx="3492549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31690"/>
            <a:ext cx="3492400" cy="313744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SESSION AGENDA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3474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Core Concepts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3960465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Intro to Systems Manager, Parameter Store roles, and features.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730650" y="3474690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Security &amp; Auth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730650" y="3960465"/>
            <a:ext cx="273054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KMS Encryption, IAM integration, and SecureString handling.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08950" y="3474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Implementation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508950" y="3960465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CLI operations, Hierarchy, Versioning, and Best Practices.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7507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30650" y="27507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08950" y="2750790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AWS SYSTEMS MANAGER (SSM)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2225129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Centralized Operations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2653754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AWS Systems Manager is a hub for managing AWS resources centrally across infrastructure.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000125" y="3449984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Operational management for Hybrid Cloud.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00125" y="3981450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Automated software inventory and patching.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00125" y="4512915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Unified view of operational data.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00125" y="5044380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Resource grouping and configuration.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3093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624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9386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2533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57362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WHAT IS PARAMETER STORE?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757362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429250" y="2078384"/>
            <a:ext cx="65008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Configuration Management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429250" y="2507009"/>
            <a:ext cx="61912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 capability of AWS Systems Manager that provides secure, hierarchical storage for configuration data and secrets management.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857875" y="3596580"/>
            <a:ext cx="57626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Stores DB strings, passwords, and license codes.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857875" y="4128045"/>
            <a:ext cx="57626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Separates configuration from application code.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857875" y="4659510"/>
            <a:ext cx="57626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Supports both plain text and encrypted data.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857875" y="5190976"/>
            <a:ext cx="57626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Centralized control for DevOps workflows.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9250" y="357753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9250" y="410899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9250" y="464046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29250" y="5171926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WHY USE PARAMETER STORE?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2619375" y="2620416"/>
            <a:ext cx="77628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Eliminate Hardcoding: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Move sensitive data out of source code and configuration files.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2619375" y="3445222"/>
            <a:ext cx="77628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Granular Access: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Use IAM policies to control who can view or modify specific parameters.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2619375" y="4270027"/>
            <a:ext cx="77628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Encryption at Rest: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Automatically encrypt sensitive strings using AWS KMS.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2619375" y="4801492"/>
            <a:ext cx="77628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Auditability: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Track changes and access logs via CloudTrail and CloudWatch.</a:t>
            </a:r>
            <a:endParaRPr/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260136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342617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425097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478244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1690"/>
            <a:ext cx="3492400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31690"/>
            <a:ext cx="3492549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31690"/>
            <a:ext cx="3492400" cy="313744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KEY CAPABILITIES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952500" y="3474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Hierarchy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952500" y="3960465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Organize parameters in tree structures like /prod/db/pass.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730650" y="3474690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Versioning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730650" y="3960465"/>
            <a:ext cx="273054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Automatic versioning on every update for easy rollbacks.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508950" y="3474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KMS Support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508950" y="3960465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Native integration with Key Management Service for SecureStrings.</a:t>
            </a:r>
            <a:endParaRPr/>
          </a:p>
        </p:txBody>
      </p:sp>
      <p:pic>
        <p:nvPicPr>
          <p:cNvPr id="180" name="Google Shape;18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75079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30650" y="27507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08950" y="275079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PARAMETER STORE VS SECRETS MANAGER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19"/>
          <p:cNvGraphicFramePr/>
          <p:nvPr/>
        </p:nvGraphicFramePr>
        <p:xfrm>
          <a:off x="571500" y="242411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{32D5DDEE-E418-4ACC-873C-B99C69DF80FC}</a:tableStyleId>
              </a:tblPr>
              <a:tblGrid>
                <a:gridCol w="215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Parameter Store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Secrets Manager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Purpose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General config and simple secrets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Complex secrets with lifecycle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Free tier available (Standard)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Paid per secret, per month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or via custom Lambda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Native, built-in Lambda rotation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Rotation Trigger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N/A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Direct RDS integration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1" name="Google Shape;191;p19"/>
          <p:cNvSpPr/>
          <p:nvPr/>
        </p:nvSpPr>
        <p:spPr>
          <a:xfrm>
            <a:off x="571500" y="3619500"/>
            <a:ext cx="215845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729954" y="3619500"/>
            <a:ext cx="393218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662142" y="3619500"/>
            <a:ext cx="495835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71500" y="4200525"/>
            <a:ext cx="215845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729954" y="4200525"/>
            <a:ext cx="393218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6662142" y="4200525"/>
            <a:ext cx="495835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571500" y="4781550"/>
            <a:ext cx="215845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2729954" y="4781550"/>
            <a:ext cx="393218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662142" y="4781550"/>
            <a:ext cx="495835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571500" y="5362575"/>
            <a:ext cx="215845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729954" y="5362575"/>
            <a:ext cx="393218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662142" y="5362575"/>
            <a:ext cx="495835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66094"/>
            <a:ext cx="3492400" cy="2668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566094"/>
            <a:ext cx="3492549" cy="2668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566094"/>
            <a:ext cx="3492400" cy="266878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PARAMETER DATA TYPES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952500" y="2947094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String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952500" y="3432869"/>
            <a:ext cx="273040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Simple text values like environment names or URLs.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"production"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4730650" y="2947094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StringList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4730650" y="3432869"/>
            <a:ext cx="273054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Comma-separated arrays of values.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"us-east-1,us-west-2"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508950" y="2947094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SecureString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508950" y="3432869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Encrypted sensitive data using KMS keys.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"Encrypted_Payload"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92797"/>
            <a:ext cx="5238750" cy="262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ORGANIZING WITH HIERARCHIES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71500" y="2296566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Hierarchies help manage parameters by environment or application component.</a:t>
            </a:r>
            <a:endParaRPr/>
          </a:p>
        </p:txBody>
      </p:sp>
      <p:pic>
        <p:nvPicPr>
          <p:cNvPr id="229" name="Google Shape;22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771525" y="3502372"/>
            <a:ext cx="4838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/prod/db/endpoint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771525" y="4005262"/>
            <a:ext cx="4838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/prod/db/password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771525" y="4508152"/>
            <a:ext cx="4838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/dev/api/key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771525" y="5011042"/>
            <a:ext cx="48387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/global/region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AUTOMATIC VERSIONING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571500" y="2865983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0" u="none" strike="noStrike" cap="none">
                <a:solidFill>
                  <a:srgbClr val="FF99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V4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571500" y="4294733"/>
            <a:ext cx="52387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 Active Version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381750" y="2397472"/>
            <a:ext cx="52387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Parameter Store tracks every change. Every time you "PutParameter" with the same name, the version increments.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810375" y="348704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Immutable history of values.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810375" y="4018508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Access specific versions via ARN.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810375" y="4549973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Audit who changed what and when.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810375" y="5081438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Revert to older versions if current one breaks.</a:t>
            </a:r>
            <a:endParaRPr/>
          </a:p>
        </p:txBody>
      </p:sp>
      <p:pic>
        <p:nvPicPr>
          <p:cNvPr id="248" name="Google Shape;24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46799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99945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53092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5062388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68959"/>
            <a:ext cx="5238750" cy="206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868959"/>
            <a:ext cx="5238750" cy="206305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PARAMETER POLICIES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962025" y="3259484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Expiration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962025" y="3745259"/>
            <a:ext cx="44577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Automatically delete a parameter at a specified time or date.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6772275" y="3259484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Notifications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772275" y="3745259"/>
            <a:ext cx="44577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Receive CloudWatch Events when a parameter is about to expire or has changed.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THE SECURITY MODEL</a:t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571500" y="2463254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Defense in Depth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571500" y="2891879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Security is managed through two primary mechanisms:</a:t>
            </a:r>
            <a:endParaRPr/>
          </a:p>
        </p:txBody>
      </p:sp>
      <p:pic>
        <p:nvPicPr>
          <p:cNvPr id="275" name="Google Shape;27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1000125" y="3688109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IAM Roles/Policies: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Controls "Who" can access specific paths.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1000125" y="4512915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AWS KMS: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Controls the encryption/decryption of the content.</a:t>
            </a:r>
            <a:endParaRPr/>
          </a:p>
        </p:txBody>
      </p:sp>
      <p:pic>
        <p:nvPicPr>
          <p:cNvPr id="278" name="Google Shape;27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6905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9386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AWS KMS ENCRYPTION</a:t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2286000" y="4241452"/>
            <a:ext cx="76200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When using </a:t>
            </a: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SecureString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, the SSM service calls KMS to encrypt your data before storage. Upon retrieval, if --with-decryption is passed, SSM uses KMS to return plaintext to authorized users.</a:t>
            </a:r>
            <a:endParaRPr/>
          </a:p>
        </p:txBody>
      </p:sp>
      <p:pic>
        <p:nvPicPr>
          <p:cNvPr id="288" name="Google Shape;28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4500" y="2679352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59434"/>
            <a:ext cx="3492400" cy="208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859434"/>
            <a:ext cx="3492549" cy="208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859434"/>
            <a:ext cx="3492400" cy="208210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ARCHITECTURE COMPONENTS</a:t>
            </a: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 txBox="1"/>
          <p:nvPr/>
        </p:nvSpPr>
        <p:spPr>
          <a:xfrm>
            <a:off x="952500" y="3240434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Application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952500" y="3726209"/>
            <a:ext cx="27304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The consumer requesting config (EC2, Lambda, ECS).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4730650" y="3240434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SSM API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4730650" y="3726209"/>
            <a:ext cx="2730549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The service endpoint handling requests.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8508950" y="3240434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AWS KMS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8508950" y="3726209"/>
            <a:ext cx="27304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Provider of cryptographic operations.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ARCHITECTURE WORKFLOW</a:t>
            </a:r>
            <a:endParaRPr/>
          </a:p>
        </p:txBody>
      </p:sp>
      <p:sp>
        <p:nvSpPr>
          <p:cNvPr id="312" name="Google Shape;312;p2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7"/>
          <p:cNvSpPr txBox="1"/>
          <p:nvPr/>
        </p:nvSpPr>
        <p:spPr>
          <a:xfrm>
            <a:off x="6810375" y="247367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1. Request: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App requests /db/pass.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6810375" y="3005137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2. Auth: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IAM verifies if the App Role has ssm:GetParameter.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6810375" y="3829942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3. Decrypt: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SSM requests KMS to decrypt using kms:Decrypt.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6810375" y="4654748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4. Response: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SSM returns Plaintext to the Application.</a:t>
            </a:r>
            <a:endParaRPr/>
          </a:p>
        </p:txBody>
      </p:sp>
      <p:pic>
        <p:nvPicPr>
          <p:cNvPr id="318" name="Google Shape;31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45462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9860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81089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635698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8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CREATING VIA AWS CONSOLE</a:t>
            </a:r>
            <a:endParaRPr/>
          </a:p>
        </p:txBody>
      </p:sp>
      <p:sp>
        <p:nvSpPr>
          <p:cNvPr id="328" name="Google Shape;328;p28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 txBox="1"/>
          <p:nvPr/>
        </p:nvSpPr>
        <p:spPr>
          <a:xfrm>
            <a:off x="1381125" y="2382291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Navigate to </a:t>
            </a: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Systems Manager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&gt; </a:t>
            </a: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Parameter Store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1381125" y="291375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Click </a:t>
            </a: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Create parameter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1381125" y="3445222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Enter a </a:t>
            </a: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Name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(e.g., /prod/app/db-url).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1381125" y="397668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Select </a:t>
            </a: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Type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(String, StringList, or SecureString).</a:t>
            </a:r>
            <a:endParaRPr/>
          </a:p>
        </p:txBody>
      </p:sp>
      <p:sp>
        <p:nvSpPr>
          <p:cNvPr id="333" name="Google Shape;333;p28"/>
          <p:cNvSpPr txBox="1"/>
          <p:nvPr/>
        </p:nvSpPr>
        <p:spPr>
          <a:xfrm>
            <a:off x="1381125" y="4508152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For </a:t>
            </a: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SecureString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, choose your KMS Key (default or custom).</a:t>
            </a: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1381125" y="503961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Enter the </a:t>
            </a: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Value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and click </a:t>
            </a: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Create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335" name="Google Shape;33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36324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89470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42617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9576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48910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502056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9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CREATING VIA AWS CLI</a:t>
            </a:r>
            <a:endParaRPr/>
          </a:p>
        </p:txBody>
      </p:sp>
      <p:sp>
        <p:nvSpPr>
          <p:cNvPr id="347" name="Google Shape;347;p2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9"/>
          <p:cNvSpPr txBox="1"/>
          <p:nvPr/>
        </p:nvSpPr>
        <p:spPr>
          <a:xfrm>
            <a:off x="571500" y="5018782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Creates an encrypted parameter using the default SSM service key.</a:t>
            </a:r>
            <a:endParaRPr/>
          </a:p>
        </p:txBody>
      </p:sp>
      <p:pic>
        <p:nvPicPr>
          <p:cNvPr id="349" name="Google Shape;34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72150" y="2370832"/>
            <a:ext cx="6477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8937"/>
            <a:ext cx="523875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671762"/>
            <a:ext cx="52387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0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RETRIEVING VIA AWS CLI</a:t>
            </a:r>
            <a:endParaRPr/>
          </a:p>
        </p:txBody>
      </p:sp>
      <p:sp>
        <p:nvSpPr>
          <p:cNvPr id="358" name="Google Shape;358;p3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0"/>
          <p:cNvSpPr txBox="1"/>
          <p:nvPr/>
        </p:nvSpPr>
        <p:spPr>
          <a:xfrm>
            <a:off x="952500" y="3309937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Standard Get</a:t>
            </a:r>
            <a:endParaRPr/>
          </a:p>
        </p:txBody>
      </p:sp>
      <p:sp>
        <p:nvSpPr>
          <p:cNvPr id="360" name="Google Shape;360;p30"/>
          <p:cNvSpPr txBox="1"/>
          <p:nvPr/>
        </p:nvSpPr>
        <p:spPr>
          <a:xfrm>
            <a:off x="6762750" y="3052762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Output Preview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1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RETRIEVING SECURE PARAMETERS</a:t>
            </a:r>
            <a:endParaRPr/>
          </a:p>
        </p:txBody>
      </p:sp>
      <p:sp>
        <p:nvSpPr>
          <p:cNvPr id="367" name="Google Shape;367;p31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1"/>
          <p:cNvSpPr txBox="1"/>
          <p:nvPr/>
        </p:nvSpPr>
        <p:spPr>
          <a:xfrm>
            <a:off x="571500" y="2889944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The Decryption Flag</a:t>
            </a:r>
            <a:endParaRPr/>
          </a:p>
        </p:txBody>
      </p:sp>
      <p:sp>
        <p:nvSpPr>
          <p:cNvPr id="369" name="Google Shape;369;p31"/>
          <p:cNvSpPr txBox="1"/>
          <p:nvPr/>
        </p:nvSpPr>
        <p:spPr>
          <a:xfrm>
            <a:off x="571500" y="3318569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By default, get-parameter returns the encrypted cipher text for </a:t>
            </a: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SecureString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70" name="Google Shape;370;p31"/>
          <p:cNvSpPr txBox="1"/>
          <p:nvPr/>
        </p:nvSpPr>
        <p:spPr>
          <a:xfrm>
            <a:off x="571500" y="4114800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You MUST use the --with-decryption parameter to get the actual secret.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2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USING WITH AMAZON EC2</a:t>
            </a:r>
            <a:endParaRPr/>
          </a:p>
        </p:txBody>
      </p:sp>
      <p:sp>
        <p:nvSpPr>
          <p:cNvPr id="378" name="Google Shape;378;p32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2"/>
          <p:cNvSpPr txBox="1"/>
          <p:nvPr/>
        </p:nvSpPr>
        <p:spPr>
          <a:xfrm>
            <a:off x="571500" y="219744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Instance Profile Access</a:t>
            </a:r>
            <a:endParaRPr/>
          </a:p>
        </p:txBody>
      </p:sp>
      <p:sp>
        <p:nvSpPr>
          <p:cNvPr id="380" name="Google Shape;380;p32"/>
          <p:cNvSpPr txBox="1"/>
          <p:nvPr/>
        </p:nvSpPr>
        <p:spPr>
          <a:xfrm>
            <a:off x="571500" y="2626072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EC2 instances retrieve configuration at runtime or during boot-strapping (User Data).</a:t>
            </a:r>
            <a:endParaRPr/>
          </a:p>
        </p:txBody>
      </p:sp>
      <p:pic>
        <p:nvPicPr>
          <p:cNvPr id="381" name="Google Shape;381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1000125" y="342230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Assign an </a:t>
            </a: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IAM Role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to the EC2 instance.</a:t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1000125" y="3953767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Grant permission for ssm:GetParameters on specific paths.</a:t>
            </a:r>
            <a:endParaRPr/>
          </a:p>
        </p:txBody>
      </p:sp>
      <p:sp>
        <p:nvSpPr>
          <p:cNvPr id="384" name="Google Shape;384;p32"/>
          <p:cNvSpPr txBox="1"/>
          <p:nvPr/>
        </p:nvSpPr>
        <p:spPr>
          <a:xfrm>
            <a:off x="1000125" y="4778573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Applications use AWS SDK (Boto3, JS SDK) to fetch values.</a:t>
            </a:r>
            <a:endParaRPr/>
          </a:p>
        </p:txBody>
      </p:sp>
      <p:pic>
        <p:nvPicPr>
          <p:cNvPr id="385" name="Google Shape;385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0325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3471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5952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954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3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USING WITH AWS LAMBDA</a:t>
            </a:r>
            <a:endParaRPr/>
          </a:p>
        </p:txBody>
      </p:sp>
      <p:sp>
        <p:nvSpPr>
          <p:cNvPr id="395" name="Google Shape;395;p33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954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/>
          <p:nvPr/>
        </p:nvSpPr>
        <p:spPr>
          <a:xfrm>
            <a:off x="6381750" y="219744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Serverless Configuration</a:t>
            </a:r>
            <a:endParaRPr/>
          </a:p>
        </p:txBody>
      </p:sp>
      <p:sp>
        <p:nvSpPr>
          <p:cNvPr id="398" name="Google Shape;398;p33"/>
          <p:cNvSpPr txBox="1"/>
          <p:nvPr/>
        </p:nvSpPr>
        <p:spPr>
          <a:xfrm>
            <a:off x="6381750" y="2626072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Lambda functions can pull secrets without exposing them in environment variables.</a:t>
            </a:r>
            <a:endParaRPr/>
          </a:p>
        </p:txBody>
      </p:sp>
      <p:sp>
        <p:nvSpPr>
          <p:cNvPr id="399" name="Google Shape;399;p33"/>
          <p:cNvSpPr txBox="1"/>
          <p:nvPr/>
        </p:nvSpPr>
        <p:spPr>
          <a:xfrm>
            <a:off x="6810375" y="342230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Fetch parameters inside the handler code.</a:t>
            </a:r>
            <a:endParaRPr/>
          </a:p>
        </p:txBody>
      </p:sp>
      <p:sp>
        <p:nvSpPr>
          <p:cNvPr id="400" name="Google Shape;400;p33"/>
          <p:cNvSpPr txBox="1"/>
          <p:nvPr/>
        </p:nvSpPr>
        <p:spPr>
          <a:xfrm>
            <a:off x="6810375" y="3953767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Cache values outside the handler for performance.</a:t>
            </a:r>
            <a:endParaRPr/>
          </a:p>
        </p:txBody>
      </p:sp>
      <p:sp>
        <p:nvSpPr>
          <p:cNvPr id="401" name="Google Shape;401;p33"/>
          <p:cNvSpPr txBox="1"/>
          <p:nvPr/>
        </p:nvSpPr>
        <p:spPr>
          <a:xfrm>
            <a:off x="6810375" y="4778573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Secure execution environment ensures zero exposure.</a:t>
            </a:r>
            <a:endParaRPr/>
          </a:p>
        </p:txBody>
      </p:sp>
      <p:pic>
        <p:nvPicPr>
          <p:cNvPr id="402" name="Google Shape;402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40325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93471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75952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4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CONTAINER INTEGRATION (ECS)</a:t>
            </a:r>
            <a:endParaRPr/>
          </a:p>
        </p:txBody>
      </p:sp>
      <p:sp>
        <p:nvSpPr>
          <p:cNvPr id="411" name="Google Shape;411;p3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23145"/>
            <a:ext cx="76200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4"/>
          <p:cNvSpPr txBox="1"/>
          <p:nvPr/>
        </p:nvSpPr>
        <p:spPr>
          <a:xfrm>
            <a:off x="571500" y="172402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AWS ECS allows passing SSM parameters directly into container definitions as environment variables.</a:t>
            </a:r>
            <a:endParaRPr/>
          </a:p>
        </p:txBody>
      </p:sp>
      <p:sp>
        <p:nvSpPr>
          <p:cNvPr id="414" name="Google Shape;414;p34"/>
          <p:cNvSpPr txBox="1"/>
          <p:nvPr/>
        </p:nvSpPr>
        <p:spPr>
          <a:xfrm>
            <a:off x="571500" y="2226915"/>
            <a:ext cx="11049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The ECS agent handles the retrieval and decryption, injecting the final value into the container's ENV space at runtime.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5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CLOUDFORMATION DYNAMIC REFS</a:t>
            </a:r>
            <a:endParaRPr/>
          </a:p>
        </p:txBody>
      </p:sp>
      <p:sp>
        <p:nvSpPr>
          <p:cNvPr id="421" name="Google Shape;421;p3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5"/>
          <p:cNvSpPr txBox="1"/>
          <p:nvPr/>
        </p:nvSpPr>
        <p:spPr>
          <a:xfrm>
            <a:off x="571500" y="511968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Automatically pulls </a:t>
            </a: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Version 1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of the secure parameter during stack deployment.</a:t>
            </a:r>
            <a:endParaRPr/>
          </a:p>
        </p:txBody>
      </p:sp>
      <p:sp>
        <p:nvSpPr>
          <p:cNvPr id="423" name="Google Shape;423;p35"/>
          <p:cNvSpPr txBox="1"/>
          <p:nvPr/>
        </p:nvSpPr>
        <p:spPr>
          <a:xfrm>
            <a:off x="571500" y="238794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Fetch values directly in your infrastructure code using dynamic references.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5094"/>
            <a:ext cx="3492400" cy="343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185094"/>
            <a:ext cx="3492549" cy="343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185094"/>
            <a:ext cx="3492400" cy="343078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6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CI/CD WITH CODEPIPELINE</a:t>
            </a:r>
            <a:endParaRPr/>
          </a:p>
        </p:txBody>
      </p:sp>
      <p:sp>
        <p:nvSpPr>
          <p:cNvPr id="433" name="Google Shape;433;p36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6"/>
          <p:cNvSpPr txBox="1"/>
          <p:nvPr/>
        </p:nvSpPr>
        <p:spPr>
          <a:xfrm>
            <a:off x="952500" y="3328094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Secure Build</a:t>
            </a:r>
            <a:endParaRPr/>
          </a:p>
        </p:txBody>
      </p:sp>
      <p:sp>
        <p:nvSpPr>
          <p:cNvPr id="435" name="Google Shape;435;p36"/>
          <p:cNvSpPr txBox="1"/>
          <p:nvPr/>
        </p:nvSpPr>
        <p:spPr>
          <a:xfrm>
            <a:off x="952500" y="3813869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Inject API keys into CodeBuild projects without committing them to Git.</a:t>
            </a:r>
            <a:endParaRPr/>
          </a:p>
        </p:txBody>
      </p:sp>
      <p:sp>
        <p:nvSpPr>
          <p:cNvPr id="436" name="Google Shape;436;p36"/>
          <p:cNvSpPr txBox="1"/>
          <p:nvPr/>
        </p:nvSpPr>
        <p:spPr>
          <a:xfrm>
            <a:off x="4730650" y="3328094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Deploy Secrets</a:t>
            </a:r>
            <a:endParaRPr/>
          </a:p>
        </p:txBody>
      </p:sp>
      <p:sp>
        <p:nvSpPr>
          <p:cNvPr id="437" name="Google Shape;437;p36"/>
          <p:cNvSpPr txBox="1"/>
          <p:nvPr/>
        </p:nvSpPr>
        <p:spPr>
          <a:xfrm>
            <a:off x="4730650" y="3813869"/>
            <a:ext cx="2730549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Pass deployment credentials to staging or production targets securely.</a:t>
            </a:r>
            <a:endParaRPr/>
          </a:p>
        </p:txBody>
      </p:sp>
      <p:sp>
        <p:nvSpPr>
          <p:cNvPr id="438" name="Google Shape;438;p36"/>
          <p:cNvSpPr txBox="1"/>
          <p:nvPr/>
        </p:nvSpPr>
        <p:spPr>
          <a:xfrm>
            <a:off x="8508950" y="3328094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Rotation Sync</a:t>
            </a:r>
            <a:endParaRPr/>
          </a:p>
        </p:txBody>
      </p:sp>
      <p:sp>
        <p:nvSpPr>
          <p:cNvPr id="439" name="Google Shape;439;p36"/>
          <p:cNvSpPr txBox="1"/>
          <p:nvPr/>
        </p:nvSpPr>
        <p:spPr>
          <a:xfrm>
            <a:off x="8508950" y="3813869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Always pull the latest version during the pipeline execution.</a:t>
            </a:r>
            <a:endParaRPr/>
          </a:p>
        </p:txBody>
      </p:sp>
      <p:pic>
        <p:nvPicPr>
          <p:cNvPr id="440" name="Google Shape;440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604194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30650" y="260419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08950" y="2604194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7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LAMBDA ENV VARIABLE INJECTION</a:t>
            </a:r>
            <a:endParaRPr/>
          </a:p>
        </p:txBody>
      </p:sp>
      <p:sp>
        <p:nvSpPr>
          <p:cNvPr id="450" name="Google Shape;450;p3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7"/>
          <p:cNvSpPr txBox="1"/>
          <p:nvPr/>
        </p:nvSpPr>
        <p:spPr>
          <a:xfrm>
            <a:off x="571500" y="2344191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Configuration Mapping</a:t>
            </a:r>
            <a:endParaRPr/>
          </a:p>
        </p:txBody>
      </p:sp>
      <p:sp>
        <p:nvSpPr>
          <p:cNvPr id="452" name="Google Shape;452;p37"/>
          <p:cNvSpPr txBox="1"/>
          <p:nvPr/>
        </p:nvSpPr>
        <p:spPr>
          <a:xfrm>
            <a:off x="571500" y="2772816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Instead of hardcoding, map Environment Variables to SSM ARNs.</a:t>
            </a:r>
            <a:endParaRPr/>
          </a:p>
        </p:txBody>
      </p:sp>
      <p:pic>
        <p:nvPicPr>
          <p:cNvPr id="453" name="Google Shape;453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7"/>
          <p:cNvSpPr txBox="1"/>
          <p:nvPr/>
        </p:nvSpPr>
        <p:spPr>
          <a:xfrm>
            <a:off x="1000125" y="3569047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Centralizes Lambda configuration.</a:t>
            </a:r>
            <a:endParaRPr/>
          </a:p>
        </p:txBody>
      </p:sp>
      <p:sp>
        <p:nvSpPr>
          <p:cNvPr id="455" name="Google Shape;455;p37"/>
          <p:cNvSpPr txBox="1"/>
          <p:nvPr/>
        </p:nvSpPr>
        <p:spPr>
          <a:xfrm>
            <a:off x="1000125" y="4100512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Update one parameter to affect multiple functions.</a:t>
            </a:r>
            <a:endParaRPr/>
          </a:p>
        </p:txBody>
      </p:sp>
      <p:sp>
        <p:nvSpPr>
          <p:cNvPr id="456" name="Google Shape;456;p37"/>
          <p:cNvSpPr txBox="1"/>
          <p:nvPr/>
        </p:nvSpPr>
        <p:spPr>
          <a:xfrm>
            <a:off x="1000125" y="4925317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Securely handles sensitive runtime data.</a:t>
            </a:r>
            <a:endParaRPr/>
          </a:p>
        </p:txBody>
      </p:sp>
      <p:pic>
        <p:nvPicPr>
          <p:cNvPr id="457" name="Google Shape;457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4999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814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0626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8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CLOUDWATCH MONITORING</a:t>
            </a:r>
            <a:endParaRPr/>
          </a:p>
        </p:txBody>
      </p:sp>
      <p:sp>
        <p:nvSpPr>
          <p:cNvPr id="467" name="Google Shape;467;p38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8"/>
          <p:cNvSpPr txBox="1"/>
          <p:nvPr/>
        </p:nvSpPr>
        <p:spPr>
          <a:xfrm>
            <a:off x="571500" y="249078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Usage Analytics</a:t>
            </a:r>
            <a:endParaRPr/>
          </a:p>
        </p:txBody>
      </p:sp>
      <p:sp>
        <p:nvSpPr>
          <p:cNvPr id="469" name="Google Shape;469;p38"/>
          <p:cNvSpPr txBox="1"/>
          <p:nvPr/>
        </p:nvSpPr>
        <p:spPr>
          <a:xfrm>
            <a:off x="571500" y="2919412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Track throughput and error rates for your Parameter Store requests.</a:t>
            </a:r>
            <a:endParaRPr/>
          </a:p>
        </p:txBody>
      </p:sp>
      <p:pic>
        <p:nvPicPr>
          <p:cNvPr id="470" name="Google Shape;470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8"/>
          <p:cNvSpPr txBox="1"/>
          <p:nvPr/>
        </p:nvSpPr>
        <p:spPr>
          <a:xfrm>
            <a:off x="1000125" y="371564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Monitor ThrottlingExceptions.</a:t>
            </a:r>
            <a:endParaRPr/>
          </a:p>
        </p:txBody>
      </p:sp>
      <p:sp>
        <p:nvSpPr>
          <p:cNvPr id="472" name="Google Shape;472;p38"/>
          <p:cNvSpPr txBox="1"/>
          <p:nvPr/>
        </p:nvSpPr>
        <p:spPr>
          <a:xfrm>
            <a:off x="1000125" y="4247108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Alarms for parameter expiration.</a:t>
            </a:r>
            <a:endParaRPr/>
          </a:p>
        </p:txBody>
      </p:sp>
      <p:sp>
        <p:nvSpPr>
          <p:cNvPr id="473" name="Google Shape;473;p38"/>
          <p:cNvSpPr txBox="1"/>
          <p:nvPr/>
        </p:nvSpPr>
        <p:spPr>
          <a:xfrm>
            <a:off x="1000125" y="4778573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Visualize usage trends over time.</a:t>
            </a:r>
            <a:endParaRPr/>
          </a:p>
        </p:txBody>
      </p:sp>
      <p:pic>
        <p:nvPicPr>
          <p:cNvPr id="474" name="Google Shape;474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9659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2805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5952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9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AUDITING WITH CLOUDTRAIL</a:t>
            </a:r>
            <a:endParaRPr/>
          </a:p>
        </p:txBody>
      </p:sp>
      <p:sp>
        <p:nvSpPr>
          <p:cNvPr id="483" name="Google Shape;483;p3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4" name="Google Shape;484;p39"/>
          <p:cNvGraphicFramePr/>
          <p:nvPr/>
        </p:nvGraphicFramePr>
        <p:xfrm>
          <a:off x="571500" y="232023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{32D5DDEE-E418-4ACC-873C-B99C69DF80FC}</a:tableStyleId>
              </a:tblPr>
              <a:tblGrid>
                <a:gridCol w="357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Event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 Tracked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/ Identity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PutParameter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Creation or Update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 / Automation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GetParameter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Read access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Application 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DeleteParameter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Removal of 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IAM Principal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5" name="Google Shape;485;p39"/>
          <p:cNvSpPr txBox="1"/>
          <p:nvPr/>
        </p:nvSpPr>
        <p:spPr>
          <a:xfrm>
            <a:off x="571500" y="497770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Essential for compliance and identifying security breaches.</a:t>
            </a:r>
            <a:endParaRPr/>
          </a:p>
        </p:txBody>
      </p:sp>
      <p:sp>
        <p:nvSpPr>
          <p:cNvPr id="486" name="Google Shape;486;p39"/>
          <p:cNvSpPr/>
          <p:nvPr/>
        </p:nvSpPr>
        <p:spPr>
          <a:xfrm>
            <a:off x="571500" y="3515617"/>
            <a:ext cx="357842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9"/>
          <p:cNvSpPr/>
          <p:nvPr/>
        </p:nvSpPr>
        <p:spPr>
          <a:xfrm>
            <a:off x="4149923" y="3515617"/>
            <a:ext cx="367739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9"/>
          <p:cNvSpPr/>
          <p:nvPr/>
        </p:nvSpPr>
        <p:spPr>
          <a:xfrm>
            <a:off x="7827317" y="3515617"/>
            <a:ext cx="379318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571500" y="4096642"/>
            <a:ext cx="357842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4149923" y="4096642"/>
            <a:ext cx="367739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9"/>
          <p:cNvSpPr/>
          <p:nvPr/>
        </p:nvSpPr>
        <p:spPr>
          <a:xfrm>
            <a:off x="7827317" y="4096642"/>
            <a:ext cx="379318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9"/>
          <p:cNvSpPr/>
          <p:nvPr/>
        </p:nvSpPr>
        <p:spPr>
          <a:xfrm>
            <a:off x="571500" y="4677667"/>
            <a:ext cx="357842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9"/>
          <p:cNvSpPr/>
          <p:nvPr/>
        </p:nvSpPr>
        <p:spPr>
          <a:xfrm>
            <a:off x="4149923" y="4677667"/>
            <a:ext cx="367739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7827317" y="4677667"/>
            <a:ext cx="379318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0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USE CASE: DB CREDENTIALS</a:t>
            </a:r>
            <a:endParaRPr/>
          </a:p>
        </p:txBody>
      </p:sp>
      <p:sp>
        <p:nvSpPr>
          <p:cNvPr id="501" name="Google Shape;501;p4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2" name="Google Shape;502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38679" y="2874615"/>
            <a:ext cx="4768915" cy="514789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0"/>
          <p:cNvSpPr txBox="1"/>
          <p:nvPr/>
        </p:nvSpPr>
        <p:spPr>
          <a:xfrm>
            <a:off x="571500" y="1514475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Problem: Credential Leaks</a:t>
            </a:r>
            <a:endParaRPr/>
          </a:p>
        </p:txBody>
      </p:sp>
      <p:sp>
        <p:nvSpPr>
          <p:cNvPr id="504" name="Google Shape;504;p40"/>
          <p:cNvSpPr txBox="1"/>
          <p:nvPr/>
        </p:nvSpPr>
        <p:spPr>
          <a:xfrm>
            <a:off x="571500" y="194310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Storing database passwords in web.config or application.properties files is a major security risk.</a:t>
            </a:r>
            <a:endParaRPr/>
          </a:p>
        </p:txBody>
      </p:sp>
      <p:sp>
        <p:nvSpPr>
          <p:cNvPr id="505" name="Google Shape;505;p40"/>
          <p:cNvSpPr txBox="1"/>
          <p:nvPr/>
        </p:nvSpPr>
        <p:spPr>
          <a:xfrm>
            <a:off x="571500" y="2445990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endParaRPr/>
          </a:p>
        </p:txBody>
      </p:sp>
      <p:sp>
        <p:nvSpPr>
          <p:cNvPr id="506" name="Google Shape;506;p40"/>
          <p:cNvSpPr txBox="1"/>
          <p:nvPr/>
        </p:nvSpPr>
        <p:spPr>
          <a:xfrm>
            <a:off x="571500" y="2874615"/>
            <a:ext cx="11049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Application fetches credentials from /prod/app/db/password at startup. IAM ensures only the App server can see this value.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1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USE CASE: MICROSERVICES</a:t>
            </a:r>
            <a:endParaRPr/>
          </a:p>
        </p:txBody>
      </p:sp>
      <p:sp>
        <p:nvSpPr>
          <p:cNvPr id="513" name="Google Shape;513;p41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4" name="Google Shape;514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40198"/>
            <a:ext cx="5238750" cy="268218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1"/>
          <p:cNvSpPr txBox="1"/>
          <p:nvPr/>
        </p:nvSpPr>
        <p:spPr>
          <a:xfrm>
            <a:off x="6381750" y="23717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Global Configuration Store</a:t>
            </a:r>
            <a:endParaRPr/>
          </a:p>
        </p:txBody>
      </p:sp>
      <p:sp>
        <p:nvSpPr>
          <p:cNvPr id="516" name="Google Shape;516;p41"/>
          <p:cNvSpPr txBox="1"/>
          <p:nvPr/>
        </p:nvSpPr>
        <p:spPr>
          <a:xfrm>
            <a:off x="6381750" y="2800350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Manage shared settings across dozens of services.</a:t>
            </a:r>
            <a:endParaRPr/>
          </a:p>
        </p:txBody>
      </p:sp>
      <p:sp>
        <p:nvSpPr>
          <p:cNvPr id="517" name="Google Shape;517;p41"/>
          <p:cNvSpPr txBox="1"/>
          <p:nvPr/>
        </p:nvSpPr>
        <p:spPr>
          <a:xfrm>
            <a:off x="6810375" y="3303240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Shared API endpoints.</a:t>
            </a:r>
            <a:endParaRPr/>
          </a:p>
        </p:txBody>
      </p:sp>
      <p:sp>
        <p:nvSpPr>
          <p:cNvPr id="518" name="Google Shape;518;p41"/>
          <p:cNvSpPr txBox="1"/>
          <p:nvPr/>
        </p:nvSpPr>
        <p:spPr>
          <a:xfrm>
            <a:off x="6810375" y="3834705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Feature flags (On/Off).</a:t>
            </a:r>
            <a:endParaRPr/>
          </a:p>
        </p:txBody>
      </p:sp>
      <p:sp>
        <p:nvSpPr>
          <p:cNvPr id="519" name="Google Shape;519;p41"/>
          <p:cNvSpPr txBox="1"/>
          <p:nvPr/>
        </p:nvSpPr>
        <p:spPr>
          <a:xfrm>
            <a:off x="6810375" y="4366170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Logging levels per service.</a:t>
            </a:r>
            <a:endParaRPr/>
          </a:p>
        </p:txBody>
      </p:sp>
      <p:sp>
        <p:nvSpPr>
          <p:cNvPr id="520" name="Google Shape;520;p41"/>
          <p:cNvSpPr txBox="1"/>
          <p:nvPr/>
        </p:nvSpPr>
        <p:spPr>
          <a:xfrm>
            <a:off x="6810375" y="4897635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Centralized updates without redeploying code.</a:t>
            </a:r>
            <a:endParaRPr/>
          </a:p>
        </p:txBody>
      </p:sp>
      <p:pic>
        <p:nvPicPr>
          <p:cNvPr id="521" name="Google Shape;521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28419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81565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34712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87858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2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USE CASE: SERVERLESS SECRETS</a:t>
            </a:r>
            <a:endParaRPr/>
          </a:p>
        </p:txBody>
      </p:sp>
      <p:sp>
        <p:nvSpPr>
          <p:cNvPr id="532" name="Google Shape;532;p42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2"/>
          <p:cNvSpPr txBox="1"/>
          <p:nvPr/>
        </p:nvSpPr>
        <p:spPr>
          <a:xfrm>
            <a:off x="571500" y="2809875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Lambda functions integrated with third-party APIs (Stripe, Twilio, SendGrid).</a:t>
            </a:r>
            <a:endParaRPr/>
          </a:p>
        </p:txBody>
      </p:sp>
      <p:pic>
        <p:nvPicPr>
          <p:cNvPr id="534" name="Google Shape;534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2"/>
          <p:cNvSpPr txBox="1"/>
          <p:nvPr/>
        </p:nvSpPr>
        <p:spPr>
          <a:xfrm>
            <a:off x="1000125" y="3606105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Store API keys as SecureString.</a:t>
            </a:r>
            <a:endParaRPr/>
          </a:p>
        </p:txBody>
      </p:sp>
      <p:sp>
        <p:nvSpPr>
          <p:cNvPr id="536" name="Google Shape;536;p42"/>
          <p:cNvSpPr txBox="1"/>
          <p:nvPr/>
        </p:nvSpPr>
        <p:spPr>
          <a:xfrm>
            <a:off x="1000125" y="4137570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Rotate keys centrally in SSM.</a:t>
            </a:r>
            <a:endParaRPr/>
          </a:p>
        </p:txBody>
      </p:sp>
      <p:sp>
        <p:nvSpPr>
          <p:cNvPr id="537" name="Google Shape;537;p42"/>
          <p:cNvSpPr txBox="1"/>
          <p:nvPr/>
        </p:nvSpPr>
        <p:spPr>
          <a:xfrm>
            <a:off x="1000125" y="4669035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No plain text exposure in Lambda Console.</a:t>
            </a:r>
            <a:endParaRPr/>
          </a:p>
        </p:txBody>
      </p:sp>
      <p:pic>
        <p:nvPicPr>
          <p:cNvPr id="538" name="Google Shape;538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8705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1852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4998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3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BEST PRACTICES</a:t>
            </a:r>
            <a:endParaRPr/>
          </a:p>
        </p:txBody>
      </p:sp>
      <p:sp>
        <p:nvSpPr>
          <p:cNvPr id="547" name="Google Shape;547;p43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3"/>
          <p:cNvSpPr txBox="1"/>
          <p:nvPr/>
        </p:nvSpPr>
        <p:spPr>
          <a:xfrm>
            <a:off x="1381125" y="291375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Always Use SecureString: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For any sensitive data like passwords or tokens.</a:t>
            </a:r>
            <a:endParaRPr/>
          </a:p>
        </p:txBody>
      </p:sp>
      <p:sp>
        <p:nvSpPr>
          <p:cNvPr id="549" name="Google Shape;549;p43"/>
          <p:cNvSpPr txBox="1"/>
          <p:nvPr/>
        </p:nvSpPr>
        <p:spPr>
          <a:xfrm>
            <a:off x="1381125" y="3445222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Path-Based IAM: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Use wildcards like arn:aws:ssm:*:*:parameter/prod/* to limit scope.</a:t>
            </a:r>
            <a:endParaRPr/>
          </a:p>
        </p:txBody>
      </p:sp>
      <p:sp>
        <p:nvSpPr>
          <p:cNvPr id="550" name="Google Shape;550;p43"/>
          <p:cNvSpPr txBox="1"/>
          <p:nvPr/>
        </p:nvSpPr>
        <p:spPr>
          <a:xfrm>
            <a:off x="1381125" y="397668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Enable Policies: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Set expiration for temporary credentials.</a:t>
            </a:r>
            <a:endParaRPr/>
          </a:p>
        </p:txBody>
      </p:sp>
      <p:sp>
        <p:nvSpPr>
          <p:cNvPr id="551" name="Google Shape;551;p43"/>
          <p:cNvSpPr txBox="1"/>
          <p:nvPr/>
        </p:nvSpPr>
        <p:spPr>
          <a:xfrm>
            <a:off x="1381125" y="4508152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KMS Custom Keys: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Use custom CMKs instead of default keys for better auditing.</a:t>
            </a:r>
            <a:endParaRPr/>
          </a:p>
        </p:txBody>
      </p:sp>
      <p:pic>
        <p:nvPicPr>
          <p:cNvPr id="552" name="Google Shape;552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89470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42617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9576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48910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4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COMMON IMPLEMENTATION MISTAKES</a:t>
            </a:r>
            <a:endParaRPr/>
          </a:p>
        </p:txBody>
      </p:sp>
      <p:sp>
        <p:nvSpPr>
          <p:cNvPr id="562" name="Google Shape;562;p4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4"/>
          <p:cNvSpPr txBox="1"/>
          <p:nvPr/>
        </p:nvSpPr>
        <p:spPr>
          <a:xfrm>
            <a:off x="571500" y="3288059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9534F"/>
                </a:solidFill>
                <a:latin typeface="Inter"/>
                <a:ea typeface="Inter"/>
                <a:cs typeface="Inter"/>
                <a:sym typeface="Inter"/>
              </a:rPr>
              <a:t>Hardcoding Values</a:t>
            </a:r>
            <a:endParaRPr/>
          </a:p>
        </p:txBody>
      </p:sp>
      <p:sp>
        <p:nvSpPr>
          <p:cNvPr id="564" name="Google Shape;564;p44"/>
          <p:cNvSpPr txBox="1"/>
          <p:nvPr/>
        </p:nvSpPr>
        <p:spPr>
          <a:xfrm>
            <a:off x="571500" y="3716684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Leaving parameters in code because "it's easier for development".</a:t>
            </a:r>
            <a:endParaRPr/>
          </a:p>
        </p:txBody>
      </p:sp>
      <p:sp>
        <p:nvSpPr>
          <p:cNvPr id="565" name="Google Shape;565;p44"/>
          <p:cNvSpPr txBox="1"/>
          <p:nvPr/>
        </p:nvSpPr>
        <p:spPr>
          <a:xfrm>
            <a:off x="6381750" y="3288059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9534F"/>
                </a:solidFill>
                <a:latin typeface="Inter"/>
                <a:ea typeface="Inter"/>
                <a:cs typeface="Inter"/>
                <a:sym typeface="Inter"/>
              </a:rPr>
              <a:t>Broad IAM Permissions</a:t>
            </a:r>
            <a:endParaRPr/>
          </a:p>
        </p:txBody>
      </p:sp>
      <p:sp>
        <p:nvSpPr>
          <p:cNvPr id="566" name="Google Shape;566;p44"/>
          <p:cNvSpPr txBox="1"/>
          <p:nvPr/>
        </p:nvSpPr>
        <p:spPr>
          <a:xfrm>
            <a:off x="6381750" y="3716684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Giving ssm:* or ssm:GetParameters on * resources.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1690"/>
            <a:ext cx="3492400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31690"/>
            <a:ext cx="3492549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31690"/>
            <a:ext cx="3492400" cy="313744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5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SUMMARY OF ADVANTAGES</a:t>
            </a:r>
            <a:endParaRPr/>
          </a:p>
        </p:txBody>
      </p:sp>
      <p:sp>
        <p:nvSpPr>
          <p:cNvPr id="576" name="Google Shape;576;p4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5"/>
          <p:cNvSpPr txBox="1"/>
          <p:nvPr/>
        </p:nvSpPr>
        <p:spPr>
          <a:xfrm>
            <a:off x="952500" y="3474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Scalability</a:t>
            </a:r>
            <a:endParaRPr/>
          </a:p>
        </p:txBody>
      </p:sp>
      <p:sp>
        <p:nvSpPr>
          <p:cNvPr id="578" name="Google Shape;578;p45"/>
          <p:cNvSpPr txBox="1"/>
          <p:nvPr/>
        </p:nvSpPr>
        <p:spPr>
          <a:xfrm>
            <a:off x="952500" y="3960465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Handles thousands of requests per second with high availability.</a:t>
            </a:r>
            <a:endParaRPr/>
          </a:p>
        </p:txBody>
      </p:sp>
      <p:sp>
        <p:nvSpPr>
          <p:cNvPr id="579" name="Google Shape;579;p45"/>
          <p:cNvSpPr txBox="1"/>
          <p:nvPr/>
        </p:nvSpPr>
        <p:spPr>
          <a:xfrm>
            <a:off x="4730650" y="3474690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Cost Efficiency</a:t>
            </a:r>
            <a:endParaRPr/>
          </a:p>
        </p:txBody>
      </p:sp>
      <p:sp>
        <p:nvSpPr>
          <p:cNvPr id="580" name="Google Shape;580;p45"/>
          <p:cNvSpPr txBox="1"/>
          <p:nvPr/>
        </p:nvSpPr>
        <p:spPr>
          <a:xfrm>
            <a:off x="4730650" y="3960465"/>
            <a:ext cx="273054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Standard tier is free of charge for storage and throughput.</a:t>
            </a:r>
            <a:endParaRPr/>
          </a:p>
        </p:txBody>
      </p:sp>
      <p:sp>
        <p:nvSpPr>
          <p:cNvPr id="581" name="Google Shape;581;p45"/>
          <p:cNvSpPr txBox="1"/>
          <p:nvPr/>
        </p:nvSpPr>
        <p:spPr>
          <a:xfrm>
            <a:off x="8508950" y="3474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Deep Integration</a:t>
            </a:r>
            <a:endParaRPr/>
          </a:p>
        </p:txBody>
      </p:sp>
      <p:sp>
        <p:nvSpPr>
          <p:cNvPr id="582" name="Google Shape;582;p45"/>
          <p:cNvSpPr txBox="1"/>
          <p:nvPr/>
        </p:nvSpPr>
        <p:spPr>
          <a:xfrm>
            <a:off x="8508950" y="3960465"/>
            <a:ext cx="27304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Works natively with almost every AWS service.</a:t>
            </a:r>
            <a:endParaRPr/>
          </a:p>
        </p:txBody>
      </p:sp>
      <p:pic>
        <p:nvPicPr>
          <p:cNvPr id="583" name="Google Shape;583;p4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7507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4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30650" y="275079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08950" y="2750790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6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CURRENT LIMITATIONS</a:t>
            </a:r>
            <a:endParaRPr/>
          </a:p>
        </p:txBody>
      </p:sp>
      <p:sp>
        <p:nvSpPr>
          <p:cNvPr id="592" name="Google Shape;592;p46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6"/>
          <p:cNvSpPr txBox="1"/>
          <p:nvPr/>
        </p:nvSpPr>
        <p:spPr>
          <a:xfrm>
            <a:off x="3095625" y="2620416"/>
            <a:ext cx="6810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No Auto-Rotation: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Unlike Secrets Manager, you must build custom rotation logic.</a:t>
            </a:r>
            <a:endParaRPr/>
          </a:p>
        </p:txBody>
      </p:sp>
      <p:sp>
        <p:nvSpPr>
          <p:cNvPr id="594" name="Google Shape;594;p46"/>
          <p:cNvSpPr txBox="1"/>
          <p:nvPr/>
        </p:nvSpPr>
        <p:spPr>
          <a:xfrm>
            <a:off x="3095625" y="3445222"/>
            <a:ext cx="681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Size Limits: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4KB limit for Standard tier (8KB for Advanced).</a:t>
            </a:r>
            <a:endParaRPr/>
          </a:p>
        </p:txBody>
      </p:sp>
      <p:sp>
        <p:nvSpPr>
          <p:cNvPr id="595" name="Google Shape;595;p46"/>
          <p:cNvSpPr txBox="1"/>
          <p:nvPr/>
        </p:nvSpPr>
        <p:spPr>
          <a:xfrm>
            <a:off x="3095625" y="3976687"/>
            <a:ext cx="681037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Parameter Limits: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Standard is limited to 10,000 parameters per region.</a:t>
            </a:r>
            <a:endParaRPr/>
          </a:p>
        </p:txBody>
      </p:sp>
      <p:sp>
        <p:nvSpPr>
          <p:cNvPr id="596" name="Google Shape;596;p46"/>
          <p:cNvSpPr txBox="1"/>
          <p:nvPr/>
        </p:nvSpPr>
        <p:spPr>
          <a:xfrm>
            <a:off x="3095625" y="4801492"/>
            <a:ext cx="6810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Throughput: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Standard throughput is 40 TPS (can be increased).</a:t>
            </a:r>
            <a:endParaRPr/>
          </a:p>
        </p:txBody>
      </p:sp>
      <p:pic>
        <p:nvPicPr>
          <p:cNvPr id="597" name="Google Shape;597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0" y="260136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0" y="342617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0" y="39576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0" y="478244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14475"/>
            <a:ext cx="1104900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7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TIER COMPARISON &amp; COST</a:t>
            </a:r>
            <a:endParaRPr/>
          </a:p>
        </p:txBody>
      </p:sp>
      <p:sp>
        <p:nvSpPr>
          <p:cNvPr id="608" name="Google Shape;608;p4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7"/>
          <p:cNvSpPr txBox="1"/>
          <p:nvPr/>
        </p:nvSpPr>
        <p:spPr>
          <a:xfrm>
            <a:off x="571500" y="431571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*Advanced tier supports larger parameter sizes and policies like expiration.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47541"/>
            <a:ext cx="2209800" cy="1905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17850" y="2947541"/>
            <a:ext cx="2209800" cy="1905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4200" y="2947541"/>
            <a:ext cx="2209800" cy="1905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4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10551" y="2800945"/>
            <a:ext cx="2209800" cy="219893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8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STANDARD DEMO WORKFLOW</a:t>
            </a:r>
            <a:endParaRPr/>
          </a:p>
        </p:txBody>
      </p:sp>
      <p:sp>
        <p:nvSpPr>
          <p:cNvPr id="620" name="Google Shape;620;p48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8"/>
          <p:cNvSpPr txBox="1"/>
          <p:nvPr/>
        </p:nvSpPr>
        <p:spPr>
          <a:xfrm>
            <a:off x="952500" y="3531096"/>
            <a:ext cx="152019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Put</a:t>
            </a:r>
            <a:endParaRPr/>
          </a:p>
        </p:txBody>
      </p:sp>
      <p:sp>
        <p:nvSpPr>
          <p:cNvPr id="622" name="Google Shape;622;p48"/>
          <p:cNvSpPr txBox="1"/>
          <p:nvPr/>
        </p:nvSpPr>
        <p:spPr>
          <a:xfrm>
            <a:off x="952500" y="3931146"/>
            <a:ext cx="14478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Value -&gt; SSM</a:t>
            </a:r>
            <a:endParaRPr/>
          </a:p>
        </p:txBody>
      </p:sp>
      <p:sp>
        <p:nvSpPr>
          <p:cNvPr id="623" name="Google Shape;623;p48"/>
          <p:cNvSpPr txBox="1"/>
          <p:nvPr/>
        </p:nvSpPr>
        <p:spPr>
          <a:xfrm>
            <a:off x="3898850" y="3531096"/>
            <a:ext cx="152019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KMS</a:t>
            </a:r>
            <a:endParaRPr/>
          </a:p>
        </p:txBody>
      </p:sp>
      <p:sp>
        <p:nvSpPr>
          <p:cNvPr id="624" name="Google Shape;624;p48"/>
          <p:cNvSpPr txBox="1"/>
          <p:nvPr/>
        </p:nvSpPr>
        <p:spPr>
          <a:xfrm>
            <a:off x="3898850" y="3931146"/>
            <a:ext cx="14478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Encrypt</a:t>
            </a:r>
            <a:endParaRPr/>
          </a:p>
        </p:txBody>
      </p:sp>
      <p:sp>
        <p:nvSpPr>
          <p:cNvPr id="625" name="Google Shape;625;p48"/>
          <p:cNvSpPr txBox="1"/>
          <p:nvPr/>
        </p:nvSpPr>
        <p:spPr>
          <a:xfrm>
            <a:off x="6845200" y="3531096"/>
            <a:ext cx="152019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Store</a:t>
            </a:r>
            <a:endParaRPr/>
          </a:p>
        </p:txBody>
      </p:sp>
      <p:sp>
        <p:nvSpPr>
          <p:cNvPr id="626" name="Google Shape;626;p48"/>
          <p:cNvSpPr txBox="1"/>
          <p:nvPr/>
        </p:nvSpPr>
        <p:spPr>
          <a:xfrm>
            <a:off x="6845200" y="3931146"/>
            <a:ext cx="14478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Cipher Text</a:t>
            </a:r>
            <a:endParaRPr/>
          </a:p>
        </p:txBody>
      </p:sp>
      <p:sp>
        <p:nvSpPr>
          <p:cNvPr id="627" name="Google Shape;627;p48"/>
          <p:cNvSpPr txBox="1"/>
          <p:nvPr/>
        </p:nvSpPr>
        <p:spPr>
          <a:xfrm>
            <a:off x="9791551" y="3384500"/>
            <a:ext cx="152019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endParaRPr/>
          </a:p>
        </p:txBody>
      </p:sp>
      <p:sp>
        <p:nvSpPr>
          <p:cNvPr id="628" name="Google Shape;628;p48"/>
          <p:cNvSpPr txBox="1"/>
          <p:nvPr/>
        </p:nvSpPr>
        <p:spPr>
          <a:xfrm>
            <a:off x="9791551" y="3784550"/>
            <a:ext cx="14478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Decrypt -&gt; App</a:t>
            </a:r>
            <a:endParaRPr/>
          </a:p>
        </p:txBody>
      </p:sp>
      <p:sp>
        <p:nvSpPr>
          <p:cNvPr id="629" name="Google Shape;629;p48"/>
          <p:cNvSpPr/>
          <p:nvPr/>
        </p:nvSpPr>
        <p:spPr>
          <a:xfrm>
            <a:off x="2781300" y="3881288"/>
            <a:ext cx="736550" cy="381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8"/>
          <p:cNvSpPr/>
          <p:nvPr/>
        </p:nvSpPr>
        <p:spPr>
          <a:xfrm>
            <a:off x="5727650" y="3881288"/>
            <a:ext cx="736550" cy="381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8"/>
          <p:cNvSpPr/>
          <p:nvPr/>
        </p:nvSpPr>
        <p:spPr>
          <a:xfrm>
            <a:off x="8674000" y="3881288"/>
            <a:ext cx="736550" cy="381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12690"/>
            <a:ext cx="3492400" cy="2375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4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712690"/>
            <a:ext cx="3492549" cy="2375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712690"/>
            <a:ext cx="3492400" cy="2375445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9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COURSE SUMMARY</a:t>
            </a:r>
            <a:endParaRPr/>
          </a:p>
        </p:txBody>
      </p:sp>
      <p:sp>
        <p:nvSpPr>
          <p:cNvPr id="641" name="Google Shape;641;p4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9"/>
          <p:cNvSpPr txBox="1"/>
          <p:nvPr/>
        </p:nvSpPr>
        <p:spPr>
          <a:xfrm>
            <a:off x="952500" y="3093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The "What"</a:t>
            </a:r>
            <a:endParaRPr/>
          </a:p>
        </p:txBody>
      </p:sp>
      <p:sp>
        <p:nvSpPr>
          <p:cNvPr id="643" name="Google Shape;643;p49"/>
          <p:cNvSpPr txBox="1"/>
          <p:nvPr/>
        </p:nvSpPr>
        <p:spPr>
          <a:xfrm>
            <a:off x="952500" y="3579465"/>
            <a:ext cx="27304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Centralized secure storage for config and secrets.</a:t>
            </a:r>
            <a:endParaRPr/>
          </a:p>
        </p:txBody>
      </p:sp>
      <p:sp>
        <p:nvSpPr>
          <p:cNvPr id="644" name="Google Shape;644;p49"/>
          <p:cNvSpPr txBox="1"/>
          <p:nvPr/>
        </p:nvSpPr>
        <p:spPr>
          <a:xfrm>
            <a:off x="4730650" y="3093690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The "How"</a:t>
            </a:r>
            <a:endParaRPr/>
          </a:p>
        </p:txBody>
      </p:sp>
      <p:sp>
        <p:nvSpPr>
          <p:cNvPr id="645" name="Google Shape;645;p49"/>
          <p:cNvSpPr txBox="1"/>
          <p:nvPr/>
        </p:nvSpPr>
        <p:spPr>
          <a:xfrm>
            <a:off x="4730650" y="3579465"/>
            <a:ext cx="2730549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IAM for access, KMS for encryption, Console/CLI for ops.</a:t>
            </a:r>
            <a:endParaRPr/>
          </a:p>
        </p:txBody>
      </p:sp>
      <p:sp>
        <p:nvSpPr>
          <p:cNvPr id="646" name="Google Shape;646;p49"/>
          <p:cNvSpPr txBox="1"/>
          <p:nvPr/>
        </p:nvSpPr>
        <p:spPr>
          <a:xfrm>
            <a:off x="8508950" y="3093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The "Best"</a:t>
            </a:r>
            <a:endParaRPr/>
          </a:p>
        </p:txBody>
      </p:sp>
      <p:sp>
        <p:nvSpPr>
          <p:cNvPr id="647" name="Google Shape;647;p49"/>
          <p:cNvSpPr txBox="1"/>
          <p:nvPr/>
        </p:nvSpPr>
        <p:spPr>
          <a:xfrm>
            <a:off x="8508950" y="3579465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Use hierarchies, SecureStrings, and monitor with Trail.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THE FUTURE: CLOUD OPS</a:t>
            </a:r>
            <a:endParaRPr/>
          </a:p>
        </p:txBody>
      </p:sp>
      <p:sp>
        <p:nvSpPr>
          <p:cNvPr id="655" name="Google Shape;655;p5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50"/>
          <p:cNvSpPr txBox="1"/>
          <p:nvPr/>
        </p:nvSpPr>
        <p:spPr>
          <a:xfrm>
            <a:off x="571500" y="2344191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Infrastructure as Code</a:t>
            </a:r>
            <a:endParaRPr/>
          </a:p>
        </p:txBody>
      </p:sp>
      <p:sp>
        <p:nvSpPr>
          <p:cNvPr id="657" name="Google Shape;657;p50"/>
          <p:cNvSpPr txBox="1"/>
          <p:nvPr/>
        </p:nvSpPr>
        <p:spPr>
          <a:xfrm>
            <a:off x="571500" y="2772816"/>
            <a:ext cx="5238750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As organizations move toward 100% automation, Parameter Store remains the bedrock of secure configuration injection.</a:t>
            </a:r>
            <a:endParaRPr/>
          </a:p>
        </p:txBody>
      </p:sp>
      <p:pic>
        <p:nvPicPr>
          <p:cNvPr id="658" name="Google Shape;658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1000125" y="3862387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Dynamic CI/CD pipelines.</a:t>
            </a:r>
            <a:endParaRPr/>
          </a:p>
        </p:txBody>
      </p:sp>
      <p:sp>
        <p:nvSpPr>
          <p:cNvPr id="660" name="Google Shape;660;p50"/>
          <p:cNvSpPr txBox="1"/>
          <p:nvPr/>
        </p:nvSpPr>
        <p:spPr>
          <a:xfrm>
            <a:off x="1000125" y="439385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Zero-trust architecture.</a:t>
            </a:r>
            <a:endParaRPr/>
          </a:p>
        </p:txBody>
      </p:sp>
      <p:sp>
        <p:nvSpPr>
          <p:cNvPr id="661" name="Google Shape;661;p50"/>
          <p:cNvSpPr txBox="1"/>
          <p:nvPr/>
        </p:nvSpPr>
        <p:spPr>
          <a:xfrm>
            <a:off x="1000125" y="4925317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AI-driven secrets monitoring.</a:t>
            </a:r>
            <a:endParaRPr/>
          </a:p>
        </p:txBody>
      </p:sp>
      <p:pic>
        <p:nvPicPr>
          <p:cNvPr id="662" name="Google Shape;662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433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7480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0626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1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TOP INTERVIEW QUESTIONS</a:t>
            </a:r>
            <a:endParaRPr/>
          </a:p>
        </p:txBody>
      </p:sp>
      <p:sp>
        <p:nvSpPr>
          <p:cNvPr id="671" name="Google Shape;671;p51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51"/>
          <p:cNvSpPr txBox="1"/>
          <p:nvPr/>
        </p:nvSpPr>
        <p:spPr>
          <a:xfrm>
            <a:off x="1381125" y="291375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Q: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What is the difference between PS and Secrets Manager?</a:t>
            </a:r>
            <a:endParaRPr/>
          </a:p>
        </p:txBody>
      </p:sp>
      <p:sp>
        <p:nvSpPr>
          <p:cNvPr id="673" name="Google Shape;673;p51"/>
          <p:cNvSpPr txBox="1"/>
          <p:nvPr/>
        </p:nvSpPr>
        <p:spPr>
          <a:xfrm>
            <a:off x="1381125" y="3445222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Q: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How do you retrieve an encrypted parameter in CLI?</a:t>
            </a:r>
            <a:endParaRPr/>
          </a:p>
        </p:txBody>
      </p:sp>
      <p:sp>
        <p:nvSpPr>
          <p:cNvPr id="674" name="Google Shape;674;p51"/>
          <p:cNvSpPr txBox="1"/>
          <p:nvPr/>
        </p:nvSpPr>
        <p:spPr>
          <a:xfrm>
            <a:off x="1381125" y="397668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Q: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Can Parameter Store trigger a Lambda function on change?</a:t>
            </a:r>
            <a:endParaRPr/>
          </a:p>
        </p:txBody>
      </p:sp>
      <p:sp>
        <p:nvSpPr>
          <p:cNvPr id="675" name="Google Shape;675;p51"/>
          <p:cNvSpPr txBox="1"/>
          <p:nvPr/>
        </p:nvSpPr>
        <p:spPr>
          <a:xfrm>
            <a:off x="1381125" y="4508152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Q: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What is a parameter hierarchy and why is it useful?</a:t>
            </a:r>
            <a:endParaRPr/>
          </a:p>
        </p:txBody>
      </p:sp>
      <p:pic>
        <p:nvPicPr>
          <p:cNvPr id="676" name="Google Shape;676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89470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42617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9576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48910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295275" y="1498252"/>
            <a:ext cx="1160145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/>
          </a:p>
        </p:txBody>
      </p:sp>
      <p:sp>
        <p:nvSpPr>
          <p:cNvPr id="686" name="Google Shape;686;p52"/>
          <p:cNvSpPr txBox="1"/>
          <p:nvPr/>
        </p:nvSpPr>
        <p:spPr>
          <a:xfrm>
            <a:off x="571500" y="284127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Questions or Feedback?</a:t>
            </a:r>
            <a:endParaRPr/>
          </a:p>
        </p:txBody>
      </p:sp>
      <p:sp>
        <p:nvSpPr>
          <p:cNvPr id="687" name="Google Shape;687;p52"/>
          <p:cNvSpPr txBox="1"/>
          <p:nvPr/>
        </p:nvSpPr>
        <p:spPr>
          <a:xfrm>
            <a:off x="571500" y="435381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Presenter:</a:t>
            </a: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Vignesh Adlagatta</a:t>
            </a:r>
            <a:endParaRPr/>
          </a:p>
        </p:txBody>
      </p:sp>
      <p:sp>
        <p:nvSpPr>
          <p:cNvPr id="688" name="Google Shape;688;p52"/>
          <p:cNvSpPr txBox="1"/>
          <p:nvPr/>
        </p:nvSpPr>
        <p:spPr>
          <a:xfrm>
            <a:off x="571500" y="4856708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AWS Certified Solution Architect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695" name="Google Shape;695;p53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3"/>
          <p:cNvSpPr/>
          <p:nvPr/>
        </p:nvSpPr>
        <p:spPr>
          <a:xfrm>
            <a:off x="571500" y="15144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3"/>
          <p:cNvSpPr/>
          <p:nvPr/>
        </p:nvSpPr>
        <p:spPr>
          <a:xfrm>
            <a:off x="571500" y="22860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53"/>
          <p:cNvSpPr/>
          <p:nvPr/>
        </p:nvSpPr>
        <p:spPr>
          <a:xfrm>
            <a:off x="571500" y="3057525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3"/>
          <p:cNvSpPr/>
          <p:nvPr/>
        </p:nvSpPr>
        <p:spPr>
          <a:xfrm>
            <a:off x="571500" y="396016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3"/>
          <p:cNvSpPr/>
          <p:nvPr/>
        </p:nvSpPr>
        <p:spPr>
          <a:xfrm>
            <a:off x="571500" y="4731692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53"/>
          <p:cNvSpPr/>
          <p:nvPr/>
        </p:nvSpPr>
        <p:spPr>
          <a:xfrm>
            <a:off x="571500" y="2276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3"/>
          <p:cNvSpPr/>
          <p:nvPr/>
        </p:nvSpPr>
        <p:spPr>
          <a:xfrm>
            <a:off x="571500" y="2276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53"/>
          <p:cNvSpPr/>
          <p:nvPr/>
        </p:nvSpPr>
        <p:spPr>
          <a:xfrm>
            <a:off x="571500" y="3048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53"/>
          <p:cNvSpPr/>
          <p:nvPr/>
        </p:nvSpPr>
        <p:spPr>
          <a:xfrm>
            <a:off x="571500" y="3048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53"/>
          <p:cNvSpPr/>
          <p:nvPr/>
        </p:nvSpPr>
        <p:spPr>
          <a:xfrm>
            <a:off x="571500" y="39506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53"/>
          <p:cNvSpPr/>
          <p:nvPr/>
        </p:nvSpPr>
        <p:spPr>
          <a:xfrm>
            <a:off x="571500" y="39506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53"/>
          <p:cNvSpPr/>
          <p:nvPr/>
        </p:nvSpPr>
        <p:spPr>
          <a:xfrm>
            <a:off x="571500" y="47221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53"/>
          <p:cNvSpPr/>
          <p:nvPr/>
        </p:nvSpPr>
        <p:spPr>
          <a:xfrm>
            <a:off x="571500" y="47221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53"/>
          <p:cNvSpPr/>
          <p:nvPr/>
        </p:nvSpPr>
        <p:spPr>
          <a:xfrm>
            <a:off x="571500" y="56248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53"/>
          <p:cNvSpPr/>
          <p:nvPr/>
        </p:nvSpPr>
        <p:spPr>
          <a:xfrm>
            <a:off x="571500" y="56248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1" name="Google Shape;711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573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53"/>
          <p:cNvSpPr txBox="1"/>
          <p:nvPr/>
        </p:nvSpPr>
        <p:spPr>
          <a:xfrm>
            <a:off x="1666875" y="167833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https://neenet-pro.com/wp-content/uploads/2024/03/eyecatch_ssm.jpg</a:t>
            </a:r>
            <a:endParaRPr/>
          </a:p>
        </p:txBody>
      </p:sp>
      <p:sp>
        <p:nvSpPr>
          <p:cNvPr id="713" name="Google Shape;713;p53"/>
          <p:cNvSpPr txBox="1"/>
          <p:nvPr/>
        </p:nvSpPr>
        <p:spPr>
          <a:xfrm>
            <a:off x="1666875" y="189919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neenet-pro.com</a:t>
            </a:r>
            <a:endParaRPr/>
          </a:p>
        </p:txBody>
      </p:sp>
      <p:pic>
        <p:nvPicPr>
          <p:cNvPr id="714" name="Google Shape;714;p5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288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3"/>
          <p:cNvSpPr txBox="1"/>
          <p:nvPr/>
        </p:nvSpPr>
        <p:spPr>
          <a:xfrm>
            <a:off x="1666875" y="244985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https://media.geeksforgeeks.org/wp-content/uploads/20241004135011343786/Azure-Architecture.webp</a:t>
            </a:r>
            <a:endParaRPr/>
          </a:p>
        </p:txBody>
      </p:sp>
      <p:sp>
        <p:nvSpPr>
          <p:cNvPr id="716" name="Google Shape;716;p53"/>
          <p:cNvSpPr txBox="1"/>
          <p:nvPr/>
        </p:nvSpPr>
        <p:spPr>
          <a:xfrm>
            <a:off x="1666875" y="267072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www.geeksforgeeks.org</a:t>
            </a:r>
            <a:endParaRPr/>
          </a:p>
        </p:txBody>
      </p:sp>
      <p:pic>
        <p:nvPicPr>
          <p:cNvPr id="717" name="Google Shape;717;p5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658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3"/>
          <p:cNvSpPr txBox="1"/>
          <p:nvPr/>
        </p:nvSpPr>
        <p:spPr>
          <a:xfrm>
            <a:off x="1666875" y="3200400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https://static.vecteezy.com/system/resources/previews/027/899/606/non_2x/lock-cyber-security-padlock-with-keyhole-icon-in-hand-protect-and-security-or-safe-concept-illustrates-cyber-data-security-or-information-privacy-idea-low-polygonal-illustration-vector.jpg</a:t>
            </a:r>
            <a:endParaRPr/>
          </a:p>
        </p:txBody>
      </p:sp>
      <p:sp>
        <p:nvSpPr>
          <p:cNvPr id="719" name="Google Shape;719;p53"/>
          <p:cNvSpPr txBox="1"/>
          <p:nvPr/>
        </p:nvSpPr>
        <p:spPr>
          <a:xfrm>
            <a:off x="1666875" y="3594496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id="720" name="Google Shape;720;p5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030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3"/>
          <p:cNvSpPr txBox="1"/>
          <p:nvPr/>
        </p:nvSpPr>
        <p:spPr>
          <a:xfrm>
            <a:off x="1666875" y="412402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https://informationtechnologyja.wordpress.com/wp-content/uploads/2019/09/presentation4.jpg?w=1000</a:t>
            </a:r>
            <a:endParaRPr/>
          </a:p>
        </p:txBody>
      </p:sp>
      <p:sp>
        <p:nvSpPr>
          <p:cNvPr id="722" name="Google Shape;722;p53"/>
          <p:cNvSpPr txBox="1"/>
          <p:nvPr/>
        </p:nvSpPr>
        <p:spPr>
          <a:xfrm>
            <a:off x="1666875" y="434488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informationtechnologyja.wordpress.com</a:t>
            </a:r>
            <a:endParaRPr/>
          </a:p>
        </p:txBody>
      </p:sp>
      <p:pic>
        <p:nvPicPr>
          <p:cNvPr id="723" name="Google Shape;723;p5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400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53"/>
          <p:cNvSpPr txBox="1"/>
          <p:nvPr/>
        </p:nvSpPr>
        <p:spPr>
          <a:xfrm>
            <a:off x="1666875" y="4874567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https://res.cloudinary.com/hy4kyit2a/f_auto,fl_lossy,q_70/learn/modules/aws-cloud-security/learn-about-aws-security-services/images/ced63f73b4f9fcd8e2434677b0b995bb_fa-00-ef-19-7-e-4-b-4739-a-1-f-7-3-f-0-a-2-f-9734-c-7.png</a:t>
            </a:r>
            <a:endParaRPr/>
          </a:p>
        </p:txBody>
      </p:sp>
      <p:sp>
        <p:nvSpPr>
          <p:cNvPr id="725" name="Google Shape;725;p53"/>
          <p:cNvSpPr txBox="1"/>
          <p:nvPr/>
        </p:nvSpPr>
        <p:spPr>
          <a:xfrm>
            <a:off x="1666875" y="5268664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trailhead.salesforce.com</a:t>
            </a:r>
            <a:endParaRPr/>
          </a:p>
        </p:txBody>
      </p:sp>
      <p:pic>
        <p:nvPicPr>
          <p:cNvPr id="726" name="Google Shape;726;p5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7772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3"/>
          <p:cNvSpPr txBox="1"/>
          <p:nvPr/>
        </p:nvSpPr>
        <p:spPr>
          <a:xfrm>
            <a:off x="1666875" y="579819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https://cdn.processon.io/admin/knowledge/article_content_img/67b6a344bcb4581cedd12229.png</a:t>
            </a:r>
            <a:endParaRPr/>
          </a:p>
        </p:txBody>
      </p:sp>
      <p:sp>
        <p:nvSpPr>
          <p:cNvPr id="728" name="Google Shape;728;p53"/>
          <p:cNvSpPr txBox="1"/>
          <p:nvPr/>
        </p:nvSpPr>
        <p:spPr>
          <a:xfrm>
            <a:off x="1666875" y="601905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www.processon.io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54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735" name="Google Shape;735;p5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54"/>
          <p:cNvSpPr/>
          <p:nvPr/>
        </p:nvSpPr>
        <p:spPr>
          <a:xfrm>
            <a:off x="571500" y="1525041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54"/>
          <p:cNvSpPr/>
          <p:nvPr/>
        </p:nvSpPr>
        <p:spPr>
          <a:xfrm>
            <a:off x="571500" y="2296566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54"/>
          <p:cNvSpPr/>
          <p:nvPr/>
        </p:nvSpPr>
        <p:spPr>
          <a:xfrm>
            <a:off x="571500" y="3068091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54"/>
          <p:cNvSpPr/>
          <p:nvPr/>
        </p:nvSpPr>
        <p:spPr>
          <a:xfrm>
            <a:off x="571500" y="3839616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54"/>
          <p:cNvSpPr/>
          <p:nvPr/>
        </p:nvSpPr>
        <p:spPr>
          <a:xfrm>
            <a:off x="571500" y="4742259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54"/>
          <p:cNvSpPr/>
          <p:nvPr/>
        </p:nvSpPr>
        <p:spPr>
          <a:xfrm>
            <a:off x="571500" y="22870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54"/>
          <p:cNvSpPr/>
          <p:nvPr/>
        </p:nvSpPr>
        <p:spPr>
          <a:xfrm>
            <a:off x="571500" y="22870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54"/>
          <p:cNvSpPr/>
          <p:nvPr/>
        </p:nvSpPr>
        <p:spPr>
          <a:xfrm>
            <a:off x="571500" y="30585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54"/>
          <p:cNvSpPr/>
          <p:nvPr/>
        </p:nvSpPr>
        <p:spPr>
          <a:xfrm>
            <a:off x="571500" y="30585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54"/>
          <p:cNvSpPr/>
          <p:nvPr/>
        </p:nvSpPr>
        <p:spPr>
          <a:xfrm>
            <a:off x="571500" y="3830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54"/>
          <p:cNvSpPr/>
          <p:nvPr/>
        </p:nvSpPr>
        <p:spPr>
          <a:xfrm>
            <a:off x="571500" y="3830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54"/>
          <p:cNvSpPr/>
          <p:nvPr/>
        </p:nvSpPr>
        <p:spPr>
          <a:xfrm>
            <a:off x="571500" y="47327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54"/>
          <p:cNvSpPr/>
          <p:nvPr/>
        </p:nvSpPr>
        <p:spPr>
          <a:xfrm>
            <a:off x="571500" y="47327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54"/>
          <p:cNvSpPr/>
          <p:nvPr/>
        </p:nvSpPr>
        <p:spPr>
          <a:xfrm>
            <a:off x="571500" y="55042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4"/>
          <p:cNvSpPr/>
          <p:nvPr/>
        </p:nvSpPr>
        <p:spPr>
          <a:xfrm>
            <a:off x="571500" y="55042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1" name="Google Shape;751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679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54"/>
          <p:cNvSpPr txBox="1"/>
          <p:nvPr/>
        </p:nvSpPr>
        <p:spPr>
          <a:xfrm>
            <a:off x="1666875" y="168890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https://miro.medium.com/1*UfkVdTaCy-ArRy3QgoZcbA.png</a:t>
            </a:r>
            <a:endParaRPr/>
          </a:p>
        </p:txBody>
      </p:sp>
      <p:sp>
        <p:nvSpPr>
          <p:cNvPr id="753" name="Google Shape;753;p54"/>
          <p:cNvSpPr txBox="1"/>
          <p:nvPr/>
        </p:nvSpPr>
        <p:spPr>
          <a:xfrm>
            <a:off x="1666875" y="190976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id="754" name="Google Shape;754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394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54"/>
          <p:cNvSpPr txBox="1"/>
          <p:nvPr/>
        </p:nvSpPr>
        <p:spPr>
          <a:xfrm>
            <a:off x="1666875" y="2460426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https://upload.wikimedia.org/wikipedia/commons/5/5c/Amazon_Lambda_architecture_logo.svg</a:t>
            </a:r>
            <a:endParaRPr/>
          </a:p>
        </p:txBody>
      </p:sp>
      <p:sp>
        <p:nvSpPr>
          <p:cNvPr id="756" name="Google Shape;756;p54"/>
          <p:cNvSpPr txBox="1"/>
          <p:nvPr/>
        </p:nvSpPr>
        <p:spPr>
          <a:xfrm>
            <a:off x="1666875" y="2681287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en.wikipedia.org</a:t>
            </a:r>
            <a:endParaRPr/>
          </a:p>
        </p:txBody>
      </p:sp>
      <p:pic>
        <p:nvPicPr>
          <p:cNvPr id="757" name="Google Shape;757;p5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109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54"/>
          <p:cNvSpPr txBox="1"/>
          <p:nvPr/>
        </p:nvSpPr>
        <p:spPr>
          <a:xfrm>
            <a:off x="1666875" y="323195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https://miro.medium.com/1*7kVuA15vB-r7tatWhB_UeA.png</a:t>
            </a:r>
            <a:endParaRPr/>
          </a:p>
        </p:txBody>
      </p:sp>
      <p:sp>
        <p:nvSpPr>
          <p:cNvPr id="759" name="Google Shape;759;p54"/>
          <p:cNvSpPr txBox="1"/>
          <p:nvPr/>
        </p:nvSpPr>
        <p:spPr>
          <a:xfrm>
            <a:off x="1666875" y="345281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aws.plainenglish.io</a:t>
            </a:r>
            <a:endParaRPr/>
          </a:p>
        </p:txBody>
      </p:sp>
      <p:pic>
        <p:nvPicPr>
          <p:cNvPr id="760" name="Google Shape;760;p5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479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54"/>
          <p:cNvSpPr txBox="1"/>
          <p:nvPr/>
        </p:nvSpPr>
        <p:spPr>
          <a:xfrm>
            <a:off x="1666875" y="3982491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https://kodekloud.com/kk-media/image/upload/v1752859845/notes-assets/images/AWS-Certified-SysOps-Administrator-Associate-Building-Cloudwatch-Dashboards-for-Visualization/cloudwatch-dashboard-metrics-graphs.jpg</a:t>
            </a:r>
            <a:endParaRPr/>
          </a:p>
        </p:txBody>
      </p:sp>
      <p:sp>
        <p:nvSpPr>
          <p:cNvPr id="762" name="Google Shape;762;p54"/>
          <p:cNvSpPr txBox="1"/>
          <p:nvPr/>
        </p:nvSpPr>
        <p:spPr>
          <a:xfrm>
            <a:off x="1666875" y="437658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notes.kodekloud.com</a:t>
            </a:r>
            <a:endParaRPr/>
          </a:p>
        </p:txBody>
      </p:sp>
      <p:pic>
        <p:nvPicPr>
          <p:cNvPr id="763" name="Google Shape;763;p5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851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54"/>
          <p:cNvSpPr txBox="1"/>
          <p:nvPr/>
        </p:nvSpPr>
        <p:spPr>
          <a:xfrm>
            <a:off x="1666875" y="490611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https://static.vecteezy.com/system/resources/previews/070/913/731/non_2x/blue-metal-database-server-icon-isolated-on-transparent-background-png.png</a:t>
            </a:r>
            <a:endParaRPr/>
          </a:p>
        </p:txBody>
      </p:sp>
      <p:sp>
        <p:nvSpPr>
          <p:cNvPr id="765" name="Google Shape;765;p54"/>
          <p:cNvSpPr txBox="1"/>
          <p:nvPr/>
        </p:nvSpPr>
        <p:spPr>
          <a:xfrm>
            <a:off x="1666875" y="512698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id="766" name="Google Shape;766;p5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6566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54"/>
          <p:cNvSpPr txBox="1"/>
          <p:nvPr/>
        </p:nvSpPr>
        <p:spPr>
          <a:xfrm>
            <a:off x="1666875" y="567764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https://slidechef.net/wp-content/uploads/2024/03/business-thank-you-slides.jpg</a:t>
            </a:r>
            <a:endParaRPr/>
          </a:p>
        </p:txBody>
      </p:sp>
      <p:sp>
        <p:nvSpPr>
          <p:cNvPr id="768" name="Google Shape;768;p54"/>
          <p:cNvSpPr txBox="1"/>
          <p:nvPr/>
        </p:nvSpPr>
        <p:spPr>
          <a:xfrm>
            <a:off x="1666875" y="589850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slidechef.net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1869</Words>
  <Application>Microsoft Office PowerPoint</Application>
  <PresentationFormat>Widescreen</PresentationFormat>
  <Paragraphs>264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Inter</vt:lpstr>
      <vt:lpstr>Calibri</vt:lpstr>
      <vt:lpstr>Arial</vt:lpstr>
      <vt:lpstr>Inter SemiBold</vt:lpstr>
      <vt:lpstr>Inter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ADLAGATTA VIGNESH</cp:lastModifiedBy>
  <cp:revision>1</cp:revision>
  <dcterms:modified xsi:type="dcterms:W3CDTF">2026-04-04T17:22:29Z</dcterms:modified>
</cp:coreProperties>
</file>