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8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embeddedFontLst>
    <p:embeddedFont>
      <p:font typeface="Poppins" panose="00000500000000000000" pitchFamily="2" charset="0"/>
      <p:regular r:id="rId45"/>
      <p:bold r:id="rId46"/>
      <p:italic r:id="rId47"/>
      <p:boldItalic r:id="rId48"/>
    </p:embeddedFont>
    <p:embeddedFont>
      <p:font typeface="Urbanist" panose="020B060402020202020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50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1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3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1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7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1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1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8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1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74.png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1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74.png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1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1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4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872579"/>
            <a:ext cx="116014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AWS Web Application Firewall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843212" y="3653879"/>
            <a:ext cx="650557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Protecting Web Applications from Online Threats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362450" y="5071169"/>
            <a:ext cx="34671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Cloud Security Expert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362450" y="5574059"/>
            <a:ext cx="34671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Enterprise Security Architecture | AWS Certified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PRESENTATION AGENDA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000125" y="296138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Intro to Web Security: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Fundamentals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00125" y="344522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AWS WAF Overview: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core concepts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392906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Architecture: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Global infrastructure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00125" y="441290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Core Components: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Web ACLs &amp; Rules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62750" y="296138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Rule Types: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IP, Geo, Rate-based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62750" y="344522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Monitoring: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Metrics &amp; Logging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62750" y="392906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Best Practices: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Implementation tips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62750" y="441290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Use Cases: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Real-world scenarios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9948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8332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671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5100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299948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34125" y="348332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334125" y="39671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34125" y="4451002"/>
            <a:ext cx="1714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WHAT IS A WAF?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1995487"/>
            <a:ext cx="5286375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Web Application Firewall (WAF)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sits between web applications and the internet, monitoring and filtering HTTP traffic to block malicious requests.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1000125" y="3161258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Inspects Layer 7 traffic (Application)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00125" y="3645098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Filters specific HTTP/HTTPS requests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00125" y="4128938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Complements Network Firewalls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99358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68319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167038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51819"/>
            <a:ext cx="5286375" cy="2554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51819"/>
            <a:ext cx="5286375" cy="255448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THE NEED FOR WEB SECURITY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866775" y="2947094"/>
            <a:ext cx="493061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Escalating Threat Landscape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66775" y="3528119"/>
            <a:ext cx="4695825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Modern applications are primary targets for automated bots and sophisticated cyber-attacks. Standard perimeter security is no longer sufficient to protect sensitive customer data.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629400" y="2947094"/>
            <a:ext cx="493061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API and App Protection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629400" y="3528119"/>
            <a:ext cx="4695825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As businesses shift to microservices, APIs become exposed. AWS WAF provides critical visibility and control to prevent unauthorized access and data exfiltration.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COMMON WEB APPLICATION ATTACKS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866775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SQL Injection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66775" y="3998565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Injecting malicious SQL queries to manipulate backend databases and steal data.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645074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XSS Attacks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4645074" y="3998565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Executing malicious scripts in a user's browser to hijack sessions or deface sites.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423374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Bot Attacks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423374" y="3998565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Automated scripts performing credential stuffing, scraping, or brute-force.</a:t>
            </a:r>
            <a:endParaRPr/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79841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79841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798415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5619750" y="2434530"/>
            <a:ext cx="952500" cy="571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2495550" y="2567880"/>
            <a:ext cx="7200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AWS WAF Overview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4271962" y="3996630"/>
            <a:ext cx="36480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Managed, Scalable Application Security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BENEFITS OF AWS WAF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866775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Easy Integration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66775" y="3998565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Native integration with CloudFront, ALB, API Gateway, and AppSync.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4645074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Fully Scalable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4645074" y="3998565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Auto-scales based on traffic volume without managing servers.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423374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Cost Effective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8423374" y="3998565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Pay-as-you-go model. Pay only for what you use with no upfront costs.</a:t>
            </a:r>
            <a:endParaRPr/>
          </a:p>
        </p:txBody>
      </p:sp>
      <p:pic>
        <p:nvPicPr>
          <p:cNvPr id="184" name="Google Shape;18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79841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79841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798415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Generated image: Global WAF architecture explained visually">
            <a:extLst>
              <a:ext uri="{FF2B5EF4-FFF2-40B4-BE49-F238E27FC236}">
                <a16:creationId xmlns:a16="http://schemas.microsoft.com/office/drawing/2014/main" id="{CAC718A4-6EB7-E2E3-1E1E-D99E887547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Generated image: Global WAF architecture explained visually">
            <a:extLst>
              <a:ext uri="{FF2B5EF4-FFF2-40B4-BE49-F238E27FC236}">
                <a16:creationId xmlns:a16="http://schemas.microsoft.com/office/drawing/2014/main" id="{7E4873D5-A034-C484-CFB3-4CE8C7CE8C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2BB056-DB3B-CF5F-630C-06987AD19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222"/>
            <a:ext cx="12191999" cy="685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081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21309"/>
            <a:ext cx="3492549" cy="2615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621309"/>
            <a:ext cx="3492549" cy="2615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621309"/>
            <a:ext cx="3492549" cy="261550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WAF SUPPORTED AWS SERVICES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866775" y="3564284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CloudFront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66775" y="4145309"/>
            <a:ext cx="2901999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Protecting global content delivery at edge locations.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4645074" y="3564284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App Load Balancer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4645074" y="4145309"/>
            <a:ext cx="2901999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Inspecting regional traffic within your VPC.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8423374" y="3564284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API Gateway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8423374" y="4145309"/>
            <a:ext cx="2901999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Securing RESTful and WebSocket APIs.</a:t>
            </a:r>
            <a:endParaRPr/>
          </a:p>
        </p:txBody>
      </p:sp>
      <p:pic>
        <p:nvPicPr>
          <p:cNvPr id="218" name="Google Shape;218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94515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945159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945159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62187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THE WEB ACL (ACCESS CONTROL LIST)</a:t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" y="2300287"/>
            <a:ext cx="32575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6334125" y="2415629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Main Security Container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334125" y="2901404"/>
            <a:ext cx="5286375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Web ACL is the primary resource where you define your filtering logic. It contains a set of rules that tell AWS WAF how to handle web requests.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762750" y="3990975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Default Action (Allow/Block)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6762750" y="4474815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Rule Priority Ordering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6762750" y="4958655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Resource Association</a:t>
            </a:r>
            <a:endParaRPr/>
          </a:p>
        </p:txBody>
      </p:sp>
      <p:pic>
        <p:nvPicPr>
          <p:cNvPr id="235" name="Google Shape;23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0290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451291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4996755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98415"/>
            <a:ext cx="5286375" cy="2261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98415"/>
            <a:ext cx="5286375" cy="226114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WORKING WITH WAF RULES</a:t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866775" y="3093690"/>
            <a:ext cx="493061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Detection Conditions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866775" y="3674715"/>
            <a:ext cx="4695825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Rules define criteria such as originating IP addresses, HTTP headers, request bodies, and URI strings to identify malicious traffic patterns.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6629400" y="3093690"/>
            <a:ext cx="493061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Mitigation Actions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6629400" y="3674715"/>
            <a:ext cx="4695825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When a request matches a rule, WAF can perform actions: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Allow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Block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Count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(for testing), or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CAPTCHA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7969"/>
            <a:ext cx="3492549" cy="320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27969"/>
            <a:ext cx="3492549" cy="320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27969"/>
            <a:ext cx="3492549" cy="320218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WHAT ARE RULE GROUPS?</a:t>
            </a:r>
            <a:endParaRPr/>
          </a:p>
        </p:txBody>
      </p:sp>
      <p:sp>
        <p:nvSpPr>
          <p:cNvPr id="260" name="Google Shape;260;p24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 txBox="1"/>
          <p:nvPr/>
        </p:nvSpPr>
        <p:spPr>
          <a:xfrm>
            <a:off x="866775" y="3270944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Logical Collections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866775" y="3851969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reusable collection of rules that you can apply to multiple Web ACLs simultaneously.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4645074" y="3270944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Management Styles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4645074" y="3851969"/>
            <a:ext cx="2901999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Can be Managed by AWS, Managed by Marketplace vendors, or Custom groups built by you.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8423374" y="3270944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Consistency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8423374" y="3851969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Ensures that security policies are uniform across your entire AWS infrastructure.</a:t>
            </a:r>
            <a:endParaRPr/>
          </a:p>
        </p:txBody>
      </p:sp>
      <p:pic>
        <p:nvPicPr>
          <p:cNvPr id="267" name="Google Shape;267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51819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651819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651819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AWS MANAGED RULE GROUPS</a:t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 txBox="1"/>
          <p:nvPr/>
        </p:nvSpPr>
        <p:spPr>
          <a:xfrm>
            <a:off x="1000125" y="2961382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Core Rule Set (CRS):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Protects against common vulnerabilities including OWASP Top 10.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1000125" y="3445222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Admin Protection: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Blocks unauthorized access to administrative pages and interfaces.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1000125" y="3929062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Known Bad Inputs: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Targets malicious request patterns frequently used by attackers.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1000125" y="4412902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Bot Control: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Managed intelligence to detect and block malicious automated traffic.</a:t>
            </a:r>
            <a:endParaRPr/>
          </a:p>
        </p:txBody>
      </p:sp>
      <p:pic>
        <p:nvPicPr>
          <p:cNvPr id="281" name="Google Shape;28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9948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8332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671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5100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LEVERAGING CUSTOM RULES</a:t>
            </a:r>
            <a:endParaRPr/>
          </a:p>
        </p:txBody>
      </p:sp>
      <p:sp>
        <p:nvSpPr>
          <p:cNvPr id="292" name="Google Shape;292;p2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 txBox="1"/>
          <p:nvPr/>
        </p:nvSpPr>
        <p:spPr>
          <a:xfrm>
            <a:off x="571500" y="1995487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When managed rules aren't enough,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Custom Rules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allow you to tailor security to your specific application needs.</a:t>
            </a:r>
            <a:endParaRPr/>
          </a:p>
        </p:txBody>
      </p:sp>
      <p:pic>
        <p:nvPicPr>
          <p:cNvPr id="294" name="Google Shape;294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6"/>
          <p:cNvSpPr txBox="1"/>
          <p:nvPr/>
        </p:nvSpPr>
        <p:spPr>
          <a:xfrm>
            <a:off x="1000125" y="2791717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Inspect specific Headers or Cookies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1000125" y="3275558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Regex pattern matching on URI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1000125" y="3759398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Blacklist known malicious IPs</a:t>
            </a:r>
            <a:endParaRPr/>
          </a:p>
        </p:txBody>
      </p:sp>
      <p:pic>
        <p:nvPicPr>
          <p:cNvPr id="298" name="Google Shape;298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82981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31365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79749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7"/>
          <p:cNvSpPr/>
          <p:nvPr/>
        </p:nvSpPr>
        <p:spPr>
          <a:xfrm>
            <a:off x="5619750" y="2434530"/>
            <a:ext cx="952500" cy="571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 txBox="1"/>
          <p:nvPr/>
        </p:nvSpPr>
        <p:spPr>
          <a:xfrm>
            <a:off x="3185636" y="2567880"/>
            <a:ext cx="5820727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WAF Rule Types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4672012" y="3996630"/>
            <a:ext cx="28479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Specific Detection Mechanisms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IP MATCH RULES</a:t>
            </a:r>
            <a:endParaRPr/>
          </a:p>
        </p:txBody>
      </p:sp>
      <p:sp>
        <p:nvSpPr>
          <p:cNvPr id="315" name="Google Shape;315;p28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8"/>
          <p:cNvSpPr txBox="1"/>
          <p:nvPr/>
        </p:nvSpPr>
        <p:spPr>
          <a:xfrm>
            <a:off x="571500" y="3001267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10k+</a:t>
            </a:r>
            <a:endParaRPr/>
          </a:p>
        </p:txBody>
      </p:sp>
      <p:sp>
        <p:nvSpPr>
          <p:cNvPr id="317" name="Google Shape;317;p28"/>
          <p:cNvSpPr txBox="1"/>
          <p:nvPr/>
        </p:nvSpPr>
        <p:spPr>
          <a:xfrm>
            <a:off x="571500" y="4353817"/>
            <a:ext cx="5286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IP addresses per set</a:t>
            </a:r>
            <a:endParaRPr/>
          </a:p>
        </p:txBody>
      </p:sp>
      <p:sp>
        <p:nvSpPr>
          <p:cNvPr id="318" name="Google Shape;318;p28"/>
          <p:cNvSpPr txBox="1"/>
          <p:nvPr/>
        </p:nvSpPr>
        <p:spPr>
          <a:xfrm>
            <a:off x="6334125" y="314131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Granular Source Control</a:t>
            </a:r>
            <a:endParaRPr/>
          </a:p>
        </p:txBody>
      </p:sp>
      <p:sp>
        <p:nvSpPr>
          <p:cNvPr id="319" name="Google Shape;319;p28"/>
          <p:cNvSpPr txBox="1"/>
          <p:nvPr/>
        </p:nvSpPr>
        <p:spPr>
          <a:xfrm>
            <a:off x="6334125" y="3627090"/>
            <a:ext cx="5286375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Block or allow traffic based on IP address ranges (CIDR blocks). This is the fastest way to stop known attackers or restrict access to trusted internal corporate networks.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GEO MATCH RULES</a:t>
            </a:r>
            <a:endParaRPr/>
          </a:p>
        </p:txBody>
      </p:sp>
      <p:sp>
        <p:nvSpPr>
          <p:cNvPr id="327" name="Google Shape;327;p29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9"/>
          <p:cNvSpPr txBox="1"/>
          <p:nvPr/>
        </p:nvSpPr>
        <p:spPr>
          <a:xfrm>
            <a:off x="571500" y="178593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Regional Restrictions</a:t>
            </a:r>
            <a:endParaRPr/>
          </a:p>
        </p:txBody>
      </p:sp>
      <p:sp>
        <p:nvSpPr>
          <p:cNvPr id="329" name="Google Shape;329;p29"/>
          <p:cNvSpPr txBox="1"/>
          <p:nvPr/>
        </p:nvSpPr>
        <p:spPr>
          <a:xfrm>
            <a:off x="571500" y="2271712"/>
            <a:ext cx="5286375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Filter traffic based on the country of origin. Useful for compliance or when your application is only intended for a specific geographic market.</a:t>
            </a:r>
            <a:endParaRPr/>
          </a:p>
        </p:txBody>
      </p:sp>
      <p:pic>
        <p:nvPicPr>
          <p:cNvPr id="330" name="Google Shape;330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9"/>
          <p:cNvSpPr txBox="1"/>
          <p:nvPr/>
        </p:nvSpPr>
        <p:spPr>
          <a:xfrm>
            <a:off x="1000125" y="336128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Country-level blocking</a:t>
            </a:r>
            <a:endParaRPr/>
          </a:p>
        </p:txBody>
      </p:sp>
      <p:sp>
        <p:nvSpPr>
          <p:cNvPr id="332" name="Google Shape;332;p29"/>
          <p:cNvSpPr txBox="1"/>
          <p:nvPr/>
        </p:nvSpPr>
        <p:spPr>
          <a:xfrm>
            <a:off x="1000125" y="384512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Reducing attack surface</a:t>
            </a:r>
            <a:endParaRPr/>
          </a:p>
        </p:txBody>
      </p:sp>
      <p:pic>
        <p:nvPicPr>
          <p:cNvPr id="333" name="Google Shape;333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99383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88322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7969"/>
            <a:ext cx="3492549" cy="320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27969"/>
            <a:ext cx="3492549" cy="320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27969"/>
            <a:ext cx="3492549" cy="320218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STRING &amp; REGEX MATCH</a:t>
            </a:r>
            <a:endParaRPr/>
          </a:p>
        </p:txBody>
      </p:sp>
      <p:sp>
        <p:nvSpPr>
          <p:cNvPr id="344" name="Google Shape;344;p30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0"/>
          <p:cNvSpPr txBox="1"/>
          <p:nvPr/>
        </p:nvSpPr>
        <p:spPr>
          <a:xfrm>
            <a:off x="866775" y="3270944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String Match</a:t>
            </a:r>
            <a:endParaRPr/>
          </a:p>
        </p:txBody>
      </p:sp>
      <p:sp>
        <p:nvSpPr>
          <p:cNvPr id="346" name="Google Shape;346;p30"/>
          <p:cNvSpPr txBox="1"/>
          <p:nvPr/>
        </p:nvSpPr>
        <p:spPr>
          <a:xfrm>
            <a:off x="866775" y="3851969"/>
            <a:ext cx="2901999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Looks for exact strings in headers, cookies, or query parameters (e.g., blocking "User-Agent: BadBot").</a:t>
            </a:r>
            <a:endParaRPr/>
          </a:p>
        </p:txBody>
      </p:sp>
      <p:sp>
        <p:nvSpPr>
          <p:cNvPr id="347" name="Google Shape;347;p30"/>
          <p:cNvSpPr txBox="1"/>
          <p:nvPr/>
        </p:nvSpPr>
        <p:spPr>
          <a:xfrm>
            <a:off x="4645074" y="3270944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Regex Match</a:t>
            </a:r>
            <a:endParaRPr/>
          </a:p>
        </p:txBody>
      </p:sp>
      <p:sp>
        <p:nvSpPr>
          <p:cNvPr id="348" name="Google Shape;348;p30"/>
          <p:cNvSpPr txBox="1"/>
          <p:nvPr/>
        </p:nvSpPr>
        <p:spPr>
          <a:xfrm>
            <a:off x="4645074" y="3851969"/>
            <a:ext cx="2901999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Powerful pattern matching for complex attack vectors or specific data formats within requests.</a:t>
            </a:r>
            <a:endParaRPr/>
          </a:p>
        </p:txBody>
      </p:sp>
      <p:sp>
        <p:nvSpPr>
          <p:cNvPr id="349" name="Google Shape;349;p30"/>
          <p:cNvSpPr txBox="1"/>
          <p:nvPr/>
        </p:nvSpPr>
        <p:spPr>
          <a:xfrm>
            <a:off x="8423374" y="3270944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Body Inspection</a:t>
            </a:r>
            <a:endParaRPr/>
          </a:p>
        </p:txBody>
      </p:sp>
      <p:sp>
        <p:nvSpPr>
          <p:cNvPr id="350" name="Google Shape;350;p30"/>
          <p:cNvSpPr txBox="1"/>
          <p:nvPr/>
        </p:nvSpPr>
        <p:spPr>
          <a:xfrm>
            <a:off x="8423374" y="3851969"/>
            <a:ext cx="2901999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Deeply inspect the JSON or XML content within POST request bodies for malicious payloads.</a:t>
            </a:r>
            <a:endParaRPr/>
          </a:p>
        </p:txBody>
      </p:sp>
      <p:pic>
        <p:nvPicPr>
          <p:cNvPr id="351" name="Google Shape;351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51819"/>
            <a:ext cx="3429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651819"/>
            <a:ext cx="2762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651819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RATE-BASED RULES</a:t>
            </a:r>
            <a:endParaRPr/>
          </a:p>
        </p:txBody>
      </p:sp>
      <p:sp>
        <p:nvSpPr>
          <p:cNvPr id="360" name="Google Shape;360;p31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71625"/>
            <a:ext cx="11049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571500" y="5400675"/>
            <a:ext cx="5286375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DDoS Protection: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Automatically blocks IP addresses that exceed a set threshold of requests within a 5-minute window.</a:t>
            </a:r>
            <a:endParaRPr/>
          </a:p>
        </p:txBody>
      </p:sp>
      <p:pic>
        <p:nvPicPr>
          <p:cNvPr id="363" name="Google Shape;363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5191125"/>
            <a:ext cx="5286375" cy="309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SQL INJECTION PROTECTION</a:t>
            </a:r>
            <a:endParaRPr/>
          </a:p>
        </p:txBody>
      </p:sp>
      <p:sp>
        <p:nvSpPr>
          <p:cNvPr id="371" name="Google Shape;371;p32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2"/>
          <p:cNvSpPr txBox="1"/>
          <p:nvPr/>
        </p:nvSpPr>
        <p:spPr>
          <a:xfrm>
            <a:off x="571500" y="178593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Prevent Database Exploits</a:t>
            </a:r>
            <a:endParaRPr/>
          </a:p>
        </p:txBody>
      </p:sp>
      <p:sp>
        <p:nvSpPr>
          <p:cNvPr id="373" name="Google Shape;373;p32"/>
          <p:cNvSpPr txBox="1"/>
          <p:nvPr/>
        </p:nvSpPr>
        <p:spPr>
          <a:xfrm>
            <a:off x="571500" y="2271712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WAF inspects requests for common SQL injection signatures like OR '1'='1' or --.</a:t>
            </a:r>
            <a:endParaRPr/>
          </a:p>
        </p:txBody>
      </p:sp>
      <p:pic>
        <p:nvPicPr>
          <p:cNvPr id="374" name="Google Shape;374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2"/>
          <p:cNvSpPr txBox="1"/>
          <p:nvPr/>
        </p:nvSpPr>
        <p:spPr>
          <a:xfrm>
            <a:off x="1000125" y="306794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Filters Query Strings</a:t>
            </a:r>
            <a:endParaRPr/>
          </a:p>
        </p:txBody>
      </p:sp>
      <p:sp>
        <p:nvSpPr>
          <p:cNvPr id="376" name="Google Shape;376;p32"/>
          <p:cNvSpPr txBox="1"/>
          <p:nvPr/>
        </p:nvSpPr>
        <p:spPr>
          <a:xfrm>
            <a:off x="1000125" y="355178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Protects POST parameters</a:t>
            </a:r>
            <a:endParaRPr/>
          </a:p>
        </p:txBody>
      </p:sp>
      <p:sp>
        <p:nvSpPr>
          <p:cNvPr id="377" name="Google Shape;377;p32"/>
          <p:cNvSpPr txBox="1"/>
          <p:nvPr/>
        </p:nvSpPr>
        <p:spPr>
          <a:xfrm>
            <a:off x="1000125" y="403562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Blocks credential exfiltration</a:t>
            </a:r>
            <a:endParaRPr/>
          </a:p>
        </p:txBody>
      </p:sp>
      <p:pic>
        <p:nvPicPr>
          <p:cNvPr id="378" name="Google Shape;378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0604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589883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073723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XSS MITIGATION</a:t>
            </a:r>
            <a:endParaRPr/>
          </a:p>
        </p:txBody>
      </p:sp>
      <p:sp>
        <p:nvSpPr>
          <p:cNvPr id="388" name="Google Shape;388;p33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3"/>
          <p:cNvSpPr txBox="1"/>
          <p:nvPr/>
        </p:nvSpPr>
        <p:spPr>
          <a:xfrm>
            <a:off x="571500" y="178593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Defending User Sessions</a:t>
            </a:r>
            <a:endParaRPr/>
          </a:p>
        </p:txBody>
      </p:sp>
      <p:sp>
        <p:nvSpPr>
          <p:cNvPr id="390" name="Google Shape;390;p33"/>
          <p:cNvSpPr txBox="1"/>
          <p:nvPr/>
        </p:nvSpPr>
        <p:spPr>
          <a:xfrm>
            <a:off x="571500" y="2271712"/>
            <a:ext cx="5286375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WAF detects &lt;/div&gt; tags and malicious JavaScript payloads meant to steal cookies or hijack browser sessions.</a:t>
            </a:r>
            <a:endParaRPr/>
          </a:p>
        </p:txBody>
      </p:sp>
      <p:pic>
        <p:nvPicPr>
          <p:cNvPr id="391" name="Google Shape;391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3"/>
          <p:cNvSpPr txBox="1"/>
          <p:nvPr/>
        </p:nvSpPr>
        <p:spPr>
          <a:xfrm>
            <a:off x="1000125" y="336128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Prevents defacement</a:t>
            </a:r>
            <a:endParaRPr/>
          </a:p>
        </p:txBody>
      </p:sp>
      <p:sp>
        <p:nvSpPr>
          <p:cNvPr id="393" name="Google Shape;393;p33"/>
          <p:cNvSpPr txBox="1"/>
          <p:nvPr/>
        </p:nvSpPr>
        <p:spPr>
          <a:xfrm>
            <a:off x="1000125" y="384512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Protects Session Cookies</a:t>
            </a:r>
            <a:endParaRPr/>
          </a:p>
        </p:txBody>
      </p:sp>
      <p:sp>
        <p:nvSpPr>
          <p:cNvPr id="394" name="Google Shape;394;p33"/>
          <p:cNvSpPr txBox="1"/>
          <p:nvPr/>
        </p:nvSpPr>
        <p:spPr>
          <a:xfrm>
            <a:off x="1000125" y="432896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Secures user input forms</a:t>
            </a:r>
            <a:endParaRPr/>
          </a:p>
        </p:txBody>
      </p:sp>
      <p:pic>
        <p:nvPicPr>
          <p:cNvPr id="395" name="Google Shape;395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9938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88322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367063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4"/>
          <p:cNvSpPr/>
          <p:nvPr/>
        </p:nvSpPr>
        <p:spPr>
          <a:xfrm>
            <a:off x="5619750" y="2434530"/>
            <a:ext cx="952500" cy="571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4"/>
          <p:cNvSpPr txBox="1"/>
          <p:nvPr/>
        </p:nvSpPr>
        <p:spPr>
          <a:xfrm>
            <a:off x="2165508" y="2567880"/>
            <a:ext cx="7860982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WAF Implementation</a:t>
            </a:r>
            <a:endParaRPr/>
          </a:p>
        </p:txBody>
      </p:sp>
      <p:sp>
        <p:nvSpPr>
          <p:cNvPr id="405" name="Google Shape;405;p34"/>
          <p:cNvSpPr txBox="1"/>
          <p:nvPr/>
        </p:nvSpPr>
        <p:spPr>
          <a:xfrm>
            <a:off x="4400550" y="3996630"/>
            <a:ext cx="33909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Deployment and Configuration Steps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AWS WAF SETUP STEPS</a:t>
            </a:r>
            <a:endParaRPr/>
          </a:p>
        </p:txBody>
      </p:sp>
      <p:sp>
        <p:nvSpPr>
          <p:cNvPr id="412" name="Google Shape;412;p3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5"/>
          <p:cNvSpPr/>
          <p:nvPr/>
        </p:nvSpPr>
        <p:spPr>
          <a:xfrm>
            <a:off x="571500" y="3929062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5"/>
          <p:cNvSpPr txBox="1"/>
          <p:nvPr/>
        </p:nvSpPr>
        <p:spPr>
          <a:xfrm>
            <a:off x="521780" y="4310062"/>
            <a:ext cx="208822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WAF Console</a:t>
            </a:r>
            <a:endParaRPr/>
          </a:p>
        </p:txBody>
      </p:sp>
      <p:sp>
        <p:nvSpPr>
          <p:cNvPr id="415" name="Google Shape;415;p35"/>
          <p:cNvSpPr txBox="1"/>
          <p:nvPr/>
        </p:nvSpPr>
        <p:spPr>
          <a:xfrm>
            <a:off x="571500" y="4795837"/>
            <a:ext cx="198879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Navigate to the WAF service in AWS console.</a:t>
            </a:r>
            <a:endParaRPr/>
          </a:p>
        </p:txBody>
      </p:sp>
      <p:sp>
        <p:nvSpPr>
          <p:cNvPr id="416" name="Google Shape;416;p35"/>
          <p:cNvSpPr txBox="1"/>
          <p:nvPr/>
        </p:nvSpPr>
        <p:spPr>
          <a:xfrm>
            <a:off x="2786795" y="1972716"/>
            <a:ext cx="208822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Create ACL</a:t>
            </a:r>
            <a:endParaRPr/>
          </a:p>
        </p:txBody>
      </p:sp>
      <p:sp>
        <p:nvSpPr>
          <p:cNvPr id="417" name="Google Shape;417;p35"/>
          <p:cNvSpPr txBox="1"/>
          <p:nvPr/>
        </p:nvSpPr>
        <p:spPr>
          <a:xfrm>
            <a:off x="2836515" y="2458491"/>
            <a:ext cx="198879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Define your primary Access Control List container.</a:t>
            </a:r>
            <a:endParaRPr/>
          </a:p>
        </p:txBody>
      </p:sp>
      <p:sp>
        <p:nvSpPr>
          <p:cNvPr id="418" name="Google Shape;418;p35"/>
          <p:cNvSpPr txBox="1"/>
          <p:nvPr/>
        </p:nvSpPr>
        <p:spPr>
          <a:xfrm>
            <a:off x="5051810" y="4310062"/>
            <a:ext cx="208822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Add Rules</a:t>
            </a:r>
            <a:endParaRPr/>
          </a:p>
        </p:txBody>
      </p:sp>
      <p:sp>
        <p:nvSpPr>
          <p:cNvPr id="419" name="Google Shape;419;p35"/>
          <p:cNvSpPr txBox="1"/>
          <p:nvPr/>
        </p:nvSpPr>
        <p:spPr>
          <a:xfrm>
            <a:off x="5101530" y="4795837"/>
            <a:ext cx="198879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Select Managed or build Custom security rules.</a:t>
            </a:r>
            <a:endParaRPr/>
          </a:p>
        </p:txBody>
      </p:sp>
      <p:sp>
        <p:nvSpPr>
          <p:cNvPr id="420" name="Google Shape;420;p35"/>
          <p:cNvSpPr txBox="1"/>
          <p:nvPr/>
        </p:nvSpPr>
        <p:spPr>
          <a:xfrm>
            <a:off x="7316825" y="1972716"/>
            <a:ext cx="208822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Associate</a:t>
            </a:r>
            <a:endParaRPr/>
          </a:p>
        </p:txBody>
      </p:sp>
      <p:sp>
        <p:nvSpPr>
          <p:cNvPr id="421" name="Google Shape;421;p35"/>
          <p:cNvSpPr txBox="1"/>
          <p:nvPr/>
        </p:nvSpPr>
        <p:spPr>
          <a:xfrm>
            <a:off x="7366545" y="2458491"/>
            <a:ext cx="198879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Link your Web ACL to a resource (ALB, CloudFront).</a:t>
            </a:r>
            <a:endParaRPr/>
          </a:p>
        </p:txBody>
      </p:sp>
      <p:sp>
        <p:nvSpPr>
          <p:cNvPr id="422" name="Google Shape;422;p35"/>
          <p:cNvSpPr txBox="1"/>
          <p:nvPr/>
        </p:nvSpPr>
        <p:spPr>
          <a:xfrm>
            <a:off x="9581841" y="4310062"/>
            <a:ext cx="208822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Monitor</a:t>
            </a:r>
            <a:endParaRPr/>
          </a:p>
        </p:txBody>
      </p:sp>
      <p:sp>
        <p:nvSpPr>
          <p:cNvPr id="423" name="Google Shape;423;p35"/>
          <p:cNvSpPr txBox="1"/>
          <p:nvPr/>
        </p:nvSpPr>
        <p:spPr>
          <a:xfrm>
            <a:off x="9631560" y="4795837"/>
            <a:ext cx="198879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Analyze blocked traffic in CloudWatch logs.</a:t>
            </a:r>
            <a:endParaRPr/>
          </a:p>
        </p:txBody>
      </p:sp>
      <p:sp>
        <p:nvSpPr>
          <p:cNvPr id="424" name="Google Shape;424;p35"/>
          <p:cNvSpPr/>
          <p:nvPr/>
        </p:nvSpPr>
        <p:spPr>
          <a:xfrm>
            <a:off x="1451520" y="38147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 w="38100" cap="flat" cmpd="sng">
            <a:solidFill>
              <a:srgbClr val="0B11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5"/>
          <p:cNvSpPr/>
          <p:nvPr/>
        </p:nvSpPr>
        <p:spPr>
          <a:xfrm>
            <a:off x="3716535" y="38147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 w="38100" cap="flat" cmpd="sng">
            <a:solidFill>
              <a:srgbClr val="0B11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5"/>
          <p:cNvSpPr/>
          <p:nvPr/>
        </p:nvSpPr>
        <p:spPr>
          <a:xfrm>
            <a:off x="5981551" y="38147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 w="38100" cap="flat" cmpd="sng">
            <a:solidFill>
              <a:srgbClr val="0B11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5"/>
          <p:cNvSpPr/>
          <p:nvPr/>
        </p:nvSpPr>
        <p:spPr>
          <a:xfrm>
            <a:off x="8246566" y="38147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 w="38100" cap="flat" cmpd="sng">
            <a:solidFill>
              <a:srgbClr val="0B11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5"/>
          <p:cNvSpPr/>
          <p:nvPr/>
        </p:nvSpPr>
        <p:spPr>
          <a:xfrm>
            <a:off x="10511581" y="38147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 w="38100" cap="flat" cmpd="sng">
            <a:solidFill>
              <a:srgbClr val="0B11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CREATING THE WEB ACL</a:t>
            </a:r>
            <a:endParaRPr/>
          </a:p>
        </p:txBody>
      </p:sp>
      <p:sp>
        <p:nvSpPr>
          <p:cNvPr id="435" name="Google Shape;435;p3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6"/>
          <p:cNvSpPr txBox="1"/>
          <p:nvPr/>
        </p:nvSpPr>
        <p:spPr>
          <a:xfrm>
            <a:off x="1000125" y="2961382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Resource Selection: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Choose between Regional (ALB/API Gateway) or Global (CloudFront).</a:t>
            </a:r>
            <a:endParaRPr/>
          </a:p>
        </p:txBody>
      </p:sp>
      <p:sp>
        <p:nvSpPr>
          <p:cNvPr id="437" name="Google Shape;437;p36"/>
          <p:cNvSpPr txBox="1"/>
          <p:nvPr/>
        </p:nvSpPr>
        <p:spPr>
          <a:xfrm>
            <a:off x="1000125" y="3445222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Default Action: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Set to 'Allow' by default, then selectively block malicious traffic.</a:t>
            </a:r>
            <a:endParaRPr/>
          </a:p>
        </p:txBody>
      </p:sp>
      <p:sp>
        <p:nvSpPr>
          <p:cNvPr id="438" name="Google Shape;438;p36"/>
          <p:cNvSpPr txBox="1"/>
          <p:nvPr/>
        </p:nvSpPr>
        <p:spPr>
          <a:xfrm>
            <a:off x="1000125" y="3929062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Rule Ordering: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WAF processes rules from top to bottom; priority 0 is first.</a:t>
            </a:r>
            <a:endParaRPr/>
          </a:p>
        </p:txBody>
      </p:sp>
      <p:sp>
        <p:nvSpPr>
          <p:cNvPr id="439" name="Google Shape;439;p36"/>
          <p:cNvSpPr txBox="1"/>
          <p:nvPr/>
        </p:nvSpPr>
        <p:spPr>
          <a:xfrm>
            <a:off x="1000125" y="4412902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Deployment: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Deployment is near-instant across edge locations.</a:t>
            </a:r>
            <a:endParaRPr/>
          </a:p>
        </p:txBody>
      </p:sp>
      <p:pic>
        <p:nvPicPr>
          <p:cNvPr id="440" name="Google Shape;440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9948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8332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671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51002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ADDING RULE LAYERS</a:t>
            </a:r>
            <a:endParaRPr/>
          </a:p>
        </p:txBody>
      </p:sp>
      <p:sp>
        <p:nvSpPr>
          <p:cNvPr id="453" name="Google Shape;453;p37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7"/>
          <p:cNvSpPr txBox="1"/>
          <p:nvPr/>
        </p:nvSpPr>
        <p:spPr>
          <a:xfrm>
            <a:off x="866775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AWS Managed</a:t>
            </a:r>
            <a:endParaRPr/>
          </a:p>
        </p:txBody>
      </p:sp>
      <p:sp>
        <p:nvSpPr>
          <p:cNvPr id="455" name="Google Shape;455;p37"/>
          <p:cNvSpPr txBox="1"/>
          <p:nvPr/>
        </p:nvSpPr>
        <p:spPr>
          <a:xfrm>
            <a:off x="866775" y="3998565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Immediate protection against common internet threats with one click.</a:t>
            </a:r>
            <a:endParaRPr/>
          </a:p>
        </p:txBody>
      </p:sp>
      <p:sp>
        <p:nvSpPr>
          <p:cNvPr id="456" name="Google Shape;456;p37"/>
          <p:cNvSpPr txBox="1"/>
          <p:nvPr/>
        </p:nvSpPr>
        <p:spPr>
          <a:xfrm>
            <a:off x="4645074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Custom Rules</a:t>
            </a:r>
            <a:endParaRPr/>
          </a:p>
        </p:txBody>
      </p:sp>
      <p:sp>
        <p:nvSpPr>
          <p:cNvPr id="457" name="Google Shape;457;p37"/>
          <p:cNvSpPr txBox="1"/>
          <p:nvPr/>
        </p:nvSpPr>
        <p:spPr>
          <a:xfrm>
            <a:off x="4645074" y="3998565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Rules that match your application's unique URL structure and data format.</a:t>
            </a:r>
            <a:endParaRPr/>
          </a:p>
        </p:txBody>
      </p:sp>
      <p:sp>
        <p:nvSpPr>
          <p:cNvPr id="458" name="Google Shape;458;p37"/>
          <p:cNvSpPr txBox="1"/>
          <p:nvPr/>
        </p:nvSpPr>
        <p:spPr>
          <a:xfrm>
            <a:off x="8423374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Rate Limiting</a:t>
            </a:r>
            <a:endParaRPr/>
          </a:p>
        </p:txBody>
      </p:sp>
      <p:sp>
        <p:nvSpPr>
          <p:cNvPr id="459" name="Google Shape;459;p37"/>
          <p:cNvSpPr txBox="1"/>
          <p:nvPr/>
        </p:nvSpPr>
        <p:spPr>
          <a:xfrm>
            <a:off x="8423374" y="3998565"/>
            <a:ext cx="2901999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Prevent brute-force and DDoS by limiting requests per IP.</a:t>
            </a:r>
            <a:endParaRPr/>
          </a:p>
        </p:txBody>
      </p:sp>
      <p:pic>
        <p:nvPicPr>
          <p:cNvPr id="460" name="Google Shape;460;p3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79841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3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79841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3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79841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ASSOCIATING RESOURCES</a:t>
            </a:r>
            <a:endParaRPr/>
          </a:p>
        </p:txBody>
      </p:sp>
      <p:sp>
        <p:nvSpPr>
          <p:cNvPr id="470" name="Google Shape;470;p38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8"/>
          <p:cNvSpPr txBox="1"/>
          <p:nvPr/>
        </p:nvSpPr>
        <p:spPr>
          <a:xfrm>
            <a:off x="571500" y="1995487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Web ACL is inactive until it is associated with a specific AWS resource.</a:t>
            </a:r>
            <a:endParaRPr/>
          </a:p>
        </p:txBody>
      </p:sp>
      <p:pic>
        <p:nvPicPr>
          <p:cNvPr id="472" name="Google Shape;472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8"/>
          <p:cNvSpPr txBox="1"/>
          <p:nvPr/>
        </p:nvSpPr>
        <p:spPr>
          <a:xfrm>
            <a:off x="1000125" y="2791717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Attach to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ALB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 Regional Apps</a:t>
            </a:r>
            <a:endParaRPr/>
          </a:p>
        </p:txBody>
      </p:sp>
      <p:sp>
        <p:nvSpPr>
          <p:cNvPr id="474" name="Google Shape;474;p38"/>
          <p:cNvSpPr txBox="1"/>
          <p:nvPr/>
        </p:nvSpPr>
        <p:spPr>
          <a:xfrm>
            <a:off x="1000125" y="3275558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Attach to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CloudFront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 Global</a:t>
            </a:r>
            <a:endParaRPr/>
          </a:p>
        </p:txBody>
      </p:sp>
      <p:sp>
        <p:nvSpPr>
          <p:cNvPr id="475" name="Google Shape;475;p38"/>
          <p:cNvSpPr txBox="1"/>
          <p:nvPr/>
        </p:nvSpPr>
        <p:spPr>
          <a:xfrm>
            <a:off x="1000125" y="3759398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Attach to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AppSync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 GraphQL</a:t>
            </a:r>
            <a:endParaRPr/>
          </a:p>
        </p:txBody>
      </p:sp>
      <p:pic>
        <p:nvPicPr>
          <p:cNvPr id="476" name="Google Shape;476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82981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1365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9749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483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/>
          <p:nvPr/>
        </p:nvSpPr>
        <p:spPr>
          <a:xfrm>
            <a:off x="5619750" y="2434530"/>
            <a:ext cx="952500" cy="571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9"/>
          <p:cNvSpPr txBox="1"/>
          <p:nvPr/>
        </p:nvSpPr>
        <p:spPr>
          <a:xfrm>
            <a:off x="1715452" y="2567880"/>
            <a:ext cx="876109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Monitoring and Logging</a:t>
            </a:r>
            <a:endParaRPr/>
          </a:p>
        </p:txBody>
      </p:sp>
      <p:sp>
        <p:nvSpPr>
          <p:cNvPr id="486" name="Google Shape;486;p39"/>
          <p:cNvSpPr txBox="1"/>
          <p:nvPr/>
        </p:nvSpPr>
        <p:spPr>
          <a:xfrm>
            <a:off x="5172075" y="3996630"/>
            <a:ext cx="18478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Operational Visibility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WAF VISIBILITY</a:t>
            </a:r>
            <a:endParaRPr/>
          </a:p>
        </p:txBody>
      </p:sp>
      <p:sp>
        <p:nvSpPr>
          <p:cNvPr id="494" name="Google Shape;494;p40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0"/>
          <p:cNvSpPr txBox="1"/>
          <p:nvPr/>
        </p:nvSpPr>
        <p:spPr>
          <a:xfrm>
            <a:off x="571500" y="178593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Real-time Metrics</a:t>
            </a:r>
            <a:endParaRPr/>
          </a:p>
        </p:txBody>
      </p:sp>
      <p:sp>
        <p:nvSpPr>
          <p:cNvPr id="496" name="Google Shape;496;p40"/>
          <p:cNvSpPr txBox="1"/>
          <p:nvPr/>
        </p:nvSpPr>
        <p:spPr>
          <a:xfrm>
            <a:off x="571500" y="2271712"/>
            <a:ext cx="5286375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Integration with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Amazon CloudWatch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provides immediate visibility into allowed and blocked traffic patterns.</a:t>
            </a:r>
            <a:endParaRPr/>
          </a:p>
        </p:txBody>
      </p:sp>
      <p:pic>
        <p:nvPicPr>
          <p:cNvPr id="497" name="Google Shape;497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0"/>
          <p:cNvSpPr txBox="1"/>
          <p:nvPr/>
        </p:nvSpPr>
        <p:spPr>
          <a:xfrm>
            <a:off x="1000125" y="336128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Set Alarms on Block Spikes</a:t>
            </a:r>
            <a:endParaRPr/>
          </a:p>
        </p:txBody>
      </p:sp>
      <p:sp>
        <p:nvSpPr>
          <p:cNvPr id="499" name="Google Shape;499;p40"/>
          <p:cNvSpPr txBox="1"/>
          <p:nvPr/>
        </p:nvSpPr>
        <p:spPr>
          <a:xfrm>
            <a:off x="1000125" y="384512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Analyze Rule Matches</a:t>
            </a:r>
            <a:endParaRPr/>
          </a:p>
        </p:txBody>
      </p:sp>
      <p:sp>
        <p:nvSpPr>
          <p:cNvPr id="500" name="Google Shape;500;p40"/>
          <p:cNvSpPr txBox="1"/>
          <p:nvPr/>
        </p:nvSpPr>
        <p:spPr>
          <a:xfrm>
            <a:off x="1000125" y="432896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Audit Request IDs</a:t>
            </a:r>
            <a:endParaRPr/>
          </a:p>
        </p:txBody>
      </p:sp>
      <p:pic>
        <p:nvPicPr>
          <p:cNvPr id="501" name="Google Shape;501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9938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4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88322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4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36706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LOGGING WEB REQUESTS</a:t>
            </a:r>
            <a:endParaRPr/>
          </a:p>
        </p:txBody>
      </p:sp>
      <p:sp>
        <p:nvSpPr>
          <p:cNvPr id="513" name="Google Shape;513;p41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41"/>
          <p:cNvSpPr txBox="1"/>
          <p:nvPr/>
        </p:nvSpPr>
        <p:spPr>
          <a:xfrm>
            <a:off x="866775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S3 Destination</a:t>
            </a:r>
            <a:endParaRPr/>
          </a:p>
        </p:txBody>
      </p:sp>
      <p:sp>
        <p:nvSpPr>
          <p:cNvPr id="515" name="Google Shape;515;p41"/>
          <p:cNvSpPr txBox="1"/>
          <p:nvPr/>
        </p:nvSpPr>
        <p:spPr>
          <a:xfrm>
            <a:off x="866775" y="3998565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Store full request logs for long-term audit and compliance requirements.</a:t>
            </a:r>
            <a:endParaRPr/>
          </a:p>
        </p:txBody>
      </p:sp>
      <p:sp>
        <p:nvSpPr>
          <p:cNvPr id="516" name="Google Shape;516;p41"/>
          <p:cNvSpPr txBox="1"/>
          <p:nvPr/>
        </p:nvSpPr>
        <p:spPr>
          <a:xfrm>
            <a:off x="4645074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Kinesis Firehose</a:t>
            </a:r>
            <a:endParaRPr/>
          </a:p>
        </p:txBody>
      </p:sp>
      <p:sp>
        <p:nvSpPr>
          <p:cNvPr id="517" name="Google Shape;517;p41"/>
          <p:cNvSpPr txBox="1"/>
          <p:nvPr/>
        </p:nvSpPr>
        <p:spPr>
          <a:xfrm>
            <a:off x="4645074" y="3998565"/>
            <a:ext cx="2901999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Stream logs in real-time to external SIEMs or analysis tools.</a:t>
            </a:r>
            <a:endParaRPr/>
          </a:p>
        </p:txBody>
      </p:sp>
      <p:sp>
        <p:nvSpPr>
          <p:cNvPr id="518" name="Google Shape;518;p41"/>
          <p:cNvSpPr txBox="1"/>
          <p:nvPr/>
        </p:nvSpPr>
        <p:spPr>
          <a:xfrm>
            <a:off x="8423374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CloudWatch Logs</a:t>
            </a:r>
            <a:endParaRPr/>
          </a:p>
        </p:txBody>
      </p:sp>
      <p:sp>
        <p:nvSpPr>
          <p:cNvPr id="519" name="Google Shape;519;p41"/>
          <p:cNvSpPr txBox="1"/>
          <p:nvPr/>
        </p:nvSpPr>
        <p:spPr>
          <a:xfrm>
            <a:off x="8423374" y="3998565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Perform rapid analysis using Log Insights for incident response.</a:t>
            </a:r>
            <a:endParaRPr/>
          </a:p>
        </p:txBody>
      </p:sp>
      <p:pic>
        <p:nvPicPr>
          <p:cNvPr id="520" name="Google Shape;520;p4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79841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4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79841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4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79841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KEY WAF METRICS</a:t>
            </a:r>
            <a:endParaRPr/>
          </a:p>
        </p:txBody>
      </p:sp>
      <p:sp>
        <p:nvSpPr>
          <p:cNvPr id="530" name="Google Shape;530;p42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2"/>
          <p:cNvSpPr txBox="1"/>
          <p:nvPr/>
        </p:nvSpPr>
        <p:spPr>
          <a:xfrm>
            <a:off x="571500" y="5677792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Continuous monitoring helps refine rule thresholds and minimize false positives.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43"/>
          <p:cNvSpPr/>
          <p:nvPr/>
        </p:nvSpPr>
        <p:spPr>
          <a:xfrm>
            <a:off x="5619750" y="2434530"/>
            <a:ext cx="952500" cy="571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43"/>
          <p:cNvSpPr txBox="1"/>
          <p:nvPr/>
        </p:nvSpPr>
        <p:spPr>
          <a:xfrm>
            <a:off x="1265396" y="2567880"/>
            <a:ext cx="9661207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AWS Security Integrations</a:t>
            </a:r>
            <a:endParaRPr/>
          </a:p>
        </p:txBody>
      </p:sp>
      <p:sp>
        <p:nvSpPr>
          <p:cNvPr id="539" name="Google Shape;539;p43"/>
          <p:cNvSpPr txBox="1"/>
          <p:nvPr/>
        </p:nvSpPr>
        <p:spPr>
          <a:xfrm>
            <a:off x="4872037" y="3996630"/>
            <a:ext cx="24479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Building a Layered Defense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AWS SHIELD INTEGRATION</a:t>
            </a:r>
            <a:endParaRPr/>
          </a:p>
        </p:txBody>
      </p:sp>
      <p:sp>
        <p:nvSpPr>
          <p:cNvPr id="547" name="Google Shape;547;p44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44"/>
          <p:cNvSpPr txBox="1"/>
          <p:nvPr/>
        </p:nvSpPr>
        <p:spPr>
          <a:xfrm>
            <a:off x="571500" y="178593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Unified DDoS Protection</a:t>
            </a:r>
            <a:endParaRPr/>
          </a:p>
        </p:txBody>
      </p:sp>
      <p:sp>
        <p:nvSpPr>
          <p:cNvPr id="549" name="Google Shape;549;p44"/>
          <p:cNvSpPr txBox="1"/>
          <p:nvPr/>
        </p:nvSpPr>
        <p:spPr>
          <a:xfrm>
            <a:off x="571500" y="2271712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AWS WAF works with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AWS Shield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to provide comprehensive Layer 3, 4, and 7 protection.</a:t>
            </a:r>
            <a:endParaRPr/>
          </a:p>
        </p:txBody>
      </p:sp>
      <p:pic>
        <p:nvPicPr>
          <p:cNvPr id="550" name="Google Shape;550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44"/>
          <p:cNvSpPr txBox="1"/>
          <p:nvPr/>
        </p:nvSpPr>
        <p:spPr>
          <a:xfrm>
            <a:off x="1000125" y="306794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Shield Standard (Automatic)</a:t>
            </a:r>
            <a:endParaRPr/>
          </a:p>
        </p:txBody>
      </p:sp>
      <p:sp>
        <p:nvSpPr>
          <p:cNvPr id="552" name="Google Shape;552;p44"/>
          <p:cNvSpPr txBox="1"/>
          <p:nvPr/>
        </p:nvSpPr>
        <p:spPr>
          <a:xfrm>
            <a:off x="1000125" y="355178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Shield Advanced (Dedicated Team)</a:t>
            </a:r>
            <a:endParaRPr/>
          </a:p>
        </p:txBody>
      </p:sp>
      <p:sp>
        <p:nvSpPr>
          <p:cNvPr id="553" name="Google Shape;553;p44"/>
          <p:cNvSpPr txBox="1"/>
          <p:nvPr/>
        </p:nvSpPr>
        <p:spPr>
          <a:xfrm>
            <a:off x="1000125" y="403562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Automatic Layer 7 Mitigation</a:t>
            </a:r>
            <a:endParaRPr/>
          </a:p>
        </p:txBody>
      </p:sp>
      <p:pic>
        <p:nvPicPr>
          <p:cNvPr id="554" name="Google Shape;554;p4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0604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4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589883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4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073723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4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AWS FIREWALL MANAGER</a:t>
            </a:r>
            <a:endParaRPr/>
          </a:p>
        </p:txBody>
      </p:sp>
      <p:sp>
        <p:nvSpPr>
          <p:cNvPr id="564" name="Google Shape;564;p4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5"/>
          <p:cNvSpPr txBox="1"/>
          <p:nvPr/>
        </p:nvSpPr>
        <p:spPr>
          <a:xfrm>
            <a:off x="571500" y="178593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Centralized Policy Management</a:t>
            </a:r>
            <a:endParaRPr/>
          </a:p>
        </p:txBody>
      </p:sp>
      <p:sp>
        <p:nvSpPr>
          <p:cNvPr id="566" name="Google Shape;566;p45"/>
          <p:cNvSpPr txBox="1"/>
          <p:nvPr/>
        </p:nvSpPr>
        <p:spPr>
          <a:xfrm>
            <a:off x="571500" y="2271712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Manage security rules across multiple AWS accounts in an organization from a single place.</a:t>
            </a:r>
            <a:endParaRPr/>
          </a:p>
        </p:txBody>
      </p:sp>
      <p:pic>
        <p:nvPicPr>
          <p:cNvPr id="567" name="Google Shape;567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5"/>
          <p:cNvSpPr txBox="1"/>
          <p:nvPr/>
        </p:nvSpPr>
        <p:spPr>
          <a:xfrm>
            <a:off x="1000125" y="306794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Scale to 100s of accounts</a:t>
            </a:r>
            <a:endParaRPr/>
          </a:p>
        </p:txBody>
      </p:sp>
      <p:sp>
        <p:nvSpPr>
          <p:cNvPr id="569" name="Google Shape;569;p45"/>
          <p:cNvSpPr txBox="1"/>
          <p:nvPr/>
        </p:nvSpPr>
        <p:spPr>
          <a:xfrm>
            <a:off x="1000125" y="355178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Ensure compliance with policies</a:t>
            </a:r>
            <a:endParaRPr/>
          </a:p>
        </p:txBody>
      </p:sp>
      <p:sp>
        <p:nvSpPr>
          <p:cNvPr id="570" name="Google Shape;570;p45"/>
          <p:cNvSpPr txBox="1"/>
          <p:nvPr/>
        </p:nvSpPr>
        <p:spPr>
          <a:xfrm>
            <a:off x="1000125" y="403562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Auto-remediate non-compliant ACLs</a:t>
            </a:r>
            <a:endParaRPr/>
          </a:p>
        </p:txBody>
      </p:sp>
      <p:pic>
        <p:nvPicPr>
          <p:cNvPr id="571" name="Google Shape;571;p4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0604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4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589883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4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073723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6"/>
          <p:cNvSpPr/>
          <p:nvPr/>
        </p:nvSpPr>
        <p:spPr>
          <a:xfrm>
            <a:off x="5619750" y="2434530"/>
            <a:ext cx="952500" cy="571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6"/>
          <p:cNvSpPr txBox="1"/>
          <p:nvPr/>
        </p:nvSpPr>
        <p:spPr>
          <a:xfrm>
            <a:off x="2120503" y="2567880"/>
            <a:ext cx="795099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Real World Use Cases</a:t>
            </a:r>
            <a:endParaRPr/>
          </a:p>
        </p:txBody>
      </p:sp>
      <p:sp>
        <p:nvSpPr>
          <p:cNvPr id="581" name="Google Shape;581;p46"/>
          <p:cNvSpPr txBox="1"/>
          <p:nvPr/>
        </p:nvSpPr>
        <p:spPr>
          <a:xfrm>
            <a:off x="4533900" y="3996630"/>
            <a:ext cx="31242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Practical Applications of AWS WAF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62187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E-COMMERCE SECURITY</a:t>
            </a:r>
            <a:endParaRPr/>
          </a:p>
        </p:txBody>
      </p:sp>
      <p:sp>
        <p:nvSpPr>
          <p:cNvPr id="589" name="Google Shape;589;p47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0" name="Google Shape;590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" y="2300287"/>
            <a:ext cx="32575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7"/>
          <p:cNvSpPr txBox="1"/>
          <p:nvPr/>
        </p:nvSpPr>
        <p:spPr>
          <a:xfrm>
            <a:off x="6334125" y="256222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Protecting Transactional Data</a:t>
            </a:r>
            <a:endParaRPr/>
          </a:p>
        </p:txBody>
      </p:sp>
      <p:sp>
        <p:nvSpPr>
          <p:cNvPr id="592" name="Google Shape;592;p47"/>
          <p:cNvSpPr txBox="1"/>
          <p:nvPr/>
        </p:nvSpPr>
        <p:spPr>
          <a:xfrm>
            <a:off x="6334125" y="3048000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E-commerce sites face high risks of SQL injection and automated price scraping.</a:t>
            </a:r>
            <a:endParaRPr/>
          </a:p>
        </p:txBody>
      </p:sp>
      <p:sp>
        <p:nvSpPr>
          <p:cNvPr id="593" name="Google Shape;593;p47"/>
          <p:cNvSpPr txBox="1"/>
          <p:nvPr/>
        </p:nvSpPr>
        <p:spPr>
          <a:xfrm>
            <a:off x="6762750" y="3844230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Secure Payment Portals</a:t>
            </a:r>
            <a:endParaRPr/>
          </a:p>
        </p:txBody>
      </p:sp>
      <p:sp>
        <p:nvSpPr>
          <p:cNvPr id="594" name="Google Shape;594;p47"/>
          <p:cNvSpPr txBox="1"/>
          <p:nvPr/>
        </p:nvSpPr>
        <p:spPr>
          <a:xfrm>
            <a:off x="6762750" y="4328070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Prevent Inventory Scraping</a:t>
            </a:r>
            <a:endParaRPr/>
          </a:p>
        </p:txBody>
      </p:sp>
      <p:sp>
        <p:nvSpPr>
          <p:cNvPr id="595" name="Google Shape;595;p47"/>
          <p:cNvSpPr txBox="1"/>
          <p:nvPr/>
        </p:nvSpPr>
        <p:spPr>
          <a:xfrm>
            <a:off x="6762750" y="4811910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Protect Login Endpoints</a:t>
            </a:r>
            <a:endParaRPr/>
          </a:p>
        </p:txBody>
      </p:sp>
      <p:pic>
        <p:nvPicPr>
          <p:cNvPr id="596" name="Google Shape;596;p4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88233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4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436617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4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4850010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62187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PROTECTING APIS</a:t>
            </a:r>
            <a:endParaRPr/>
          </a:p>
        </p:txBody>
      </p:sp>
      <p:sp>
        <p:nvSpPr>
          <p:cNvPr id="606" name="Google Shape;606;p48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7" name="Google Shape;607;p4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" y="2300287"/>
            <a:ext cx="32575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48"/>
          <p:cNvSpPr txBox="1"/>
          <p:nvPr/>
        </p:nvSpPr>
        <p:spPr>
          <a:xfrm>
            <a:off x="6334125" y="256222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API Gateway Hardening</a:t>
            </a:r>
            <a:endParaRPr/>
          </a:p>
        </p:txBody>
      </p:sp>
      <p:sp>
        <p:nvSpPr>
          <p:cNvPr id="609" name="Google Shape;609;p48"/>
          <p:cNvSpPr txBox="1"/>
          <p:nvPr/>
        </p:nvSpPr>
        <p:spPr>
          <a:xfrm>
            <a:off x="6334125" y="3048000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Public APIs are vulnerable to abuse. WAF helps manage request volume and detect malformed payloads.</a:t>
            </a:r>
            <a:endParaRPr/>
          </a:p>
        </p:txBody>
      </p:sp>
      <p:sp>
        <p:nvSpPr>
          <p:cNvPr id="610" name="Google Shape;610;p48"/>
          <p:cNvSpPr txBox="1"/>
          <p:nvPr/>
        </p:nvSpPr>
        <p:spPr>
          <a:xfrm>
            <a:off x="6762750" y="3844230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Granular Rate Limiting</a:t>
            </a:r>
            <a:endParaRPr/>
          </a:p>
        </p:txBody>
      </p:sp>
      <p:sp>
        <p:nvSpPr>
          <p:cNvPr id="611" name="Google Shape;611;p48"/>
          <p:cNvSpPr txBox="1"/>
          <p:nvPr/>
        </p:nvSpPr>
        <p:spPr>
          <a:xfrm>
            <a:off x="6762750" y="4328070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Input Validation</a:t>
            </a:r>
            <a:endParaRPr/>
          </a:p>
        </p:txBody>
      </p:sp>
      <p:sp>
        <p:nvSpPr>
          <p:cNvPr id="612" name="Google Shape;612;p48"/>
          <p:cNvSpPr txBox="1"/>
          <p:nvPr/>
        </p:nvSpPr>
        <p:spPr>
          <a:xfrm>
            <a:off x="6762750" y="4811910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Key-based Filtering</a:t>
            </a:r>
            <a:endParaRPr/>
          </a:p>
        </p:txBody>
      </p:sp>
      <p:pic>
        <p:nvPicPr>
          <p:cNvPr id="613" name="Google Shape;613;p4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88233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4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436617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4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4850010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Google Shape;620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49"/>
          <p:cNvSpPr txBox="1"/>
          <p:nvPr/>
        </p:nvSpPr>
        <p:spPr>
          <a:xfrm>
            <a:off x="762000" y="571500"/>
            <a:ext cx="5000625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PREVENTING BOT ATTACKS</a:t>
            </a:r>
            <a:endParaRPr/>
          </a:p>
        </p:txBody>
      </p:sp>
      <p:sp>
        <p:nvSpPr>
          <p:cNvPr id="622" name="Google Shape;622;p49"/>
          <p:cNvSpPr/>
          <p:nvPr/>
        </p:nvSpPr>
        <p:spPr>
          <a:xfrm>
            <a:off x="571500" y="571500"/>
            <a:ext cx="57150" cy="12382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3" name="Google Shape;623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49"/>
          <p:cNvSpPr txBox="1"/>
          <p:nvPr/>
        </p:nvSpPr>
        <p:spPr>
          <a:xfrm>
            <a:off x="571500" y="2190750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Advanced Bot Control</a:t>
            </a:r>
            <a:endParaRPr/>
          </a:p>
        </p:txBody>
      </p:sp>
      <p:sp>
        <p:nvSpPr>
          <p:cNvPr id="625" name="Google Shape;625;p49"/>
          <p:cNvSpPr txBox="1"/>
          <p:nvPr/>
        </p:nvSpPr>
        <p:spPr>
          <a:xfrm>
            <a:off x="571500" y="2676525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Bots consume resources and skew analytics. AWS WAF provides bot labels to categorize and block scripts.</a:t>
            </a:r>
            <a:endParaRPr/>
          </a:p>
        </p:txBody>
      </p:sp>
      <p:sp>
        <p:nvSpPr>
          <p:cNvPr id="626" name="Google Shape;626;p49"/>
          <p:cNvSpPr txBox="1"/>
          <p:nvPr/>
        </p:nvSpPr>
        <p:spPr>
          <a:xfrm>
            <a:off x="1000125" y="3663255"/>
            <a:ext cx="4524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Detect Search Engine Crawlers</a:t>
            </a:r>
            <a:endParaRPr/>
          </a:p>
        </p:txBody>
      </p:sp>
      <p:sp>
        <p:nvSpPr>
          <p:cNvPr id="627" name="Google Shape;627;p49"/>
          <p:cNvSpPr txBox="1"/>
          <p:nvPr/>
        </p:nvSpPr>
        <p:spPr>
          <a:xfrm>
            <a:off x="1000125" y="4147095"/>
            <a:ext cx="4524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Block Malicious Scrapers</a:t>
            </a:r>
            <a:endParaRPr/>
          </a:p>
        </p:txBody>
      </p:sp>
      <p:sp>
        <p:nvSpPr>
          <p:cNvPr id="628" name="Google Shape;628;p49"/>
          <p:cNvSpPr txBox="1"/>
          <p:nvPr/>
        </p:nvSpPr>
        <p:spPr>
          <a:xfrm>
            <a:off x="1000125" y="4630935"/>
            <a:ext cx="4524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Stop Credential Stuffing</a:t>
            </a:r>
            <a:endParaRPr/>
          </a:p>
        </p:txBody>
      </p:sp>
      <p:pic>
        <p:nvPicPr>
          <p:cNvPr id="629" name="Google Shape;629;p4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0135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4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8519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4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669035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50"/>
          <p:cNvSpPr/>
          <p:nvPr/>
        </p:nvSpPr>
        <p:spPr>
          <a:xfrm>
            <a:off x="5619750" y="2434530"/>
            <a:ext cx="952500" cy="571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50"/>
          <p:cNvSpPr txBox="1"/>
          <p:nvPr/>
        </p:nvSpPr>
        <p:spPr>
          <a:xfrm>
            <a:off x="3475672" y="2567880"/>
            <a:ext cx="524065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Best Practices</a:t>
            </a:r>
            <a:endParaRPr/>
          </a:p>
        </p:txBody>
      </p:sp>
      <p:sp>
        <p:nvSpPr>
          <p:cNvPr id="639" name="Google Shape;639;p50"/>
          <p:cNvSpPr txBox="1"/>
          <p:nvPr/>
        </p:nvSpPr>
        <p:spPr>
          <a:xfrm>
            <a:off x="4757737" y="3996630"/>
            <a:ext cx="26765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Optimizing Security and Cost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5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AWS WAF BEST PRACTICES</a:t>
            </a:r>
            <a:endParaRPr/>
          </a:p>
        </p:txBody>
      </p:sp>
      <p:sp>
        <p:nvSpPr>
          <p:cNvPr id="646" name="Google Shape;646;p51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51"/>
          <p:cNvSpPr txBox="1"/>
          <p:nvPr/>
        </p:nvSpPr>
        <p:spPr>
          <a:xfrm>
            <a:off x="1000125" y="2909887"/>
            <a:ext cx="4857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Enable Managed Rules: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Start with CRS and IP Reputation.</a:t>
            </a:r>
            <a:endParaRPr/>
          </a:p>
        </p:txBody>
      </p:sp>
      <p:sp>
        <p:nvSpPr>
          <p:cNvPr id="648" name="Google Shape;648;p51"/>
          <p:cNvSpPr txBox="1"/>
          <p:nvPr/>
        </p:nvSpPr>
        <p:spPr>
          <a:xfrm>
            <a:off x="1000125" y="3687067"/>
            <a:ext cx="4857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Monitor Logs Regularly: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Audit false positives in Log Insights.</a:t>
            </a:r>
            <a:endParaRPr/>
          </a:p>
        </p:txBody>
      </p:sp>
      <p:sp>
        <p:nvSpPr>
          <p:cNvPr id="649" name="Google Shape;649;p51"/>
          <p:cNvSpPr txBox="1"/>
          <p:nvPr/>
        </p:nvSpPr>
        <p:spPr>
          <a:xfrm>
            <a:off x="1000125" y="4464248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Use 'Count' First: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Test rules before blocking traffic.</a:t>
            </a:r>
            <a:endParaRPr/>
          </a:p>
        </p:txBody>
      </p:sp>
      <p:sp>
        <p:nvSpPr>
          <p:cNvPr id="650" name="Google Shape;650;p51"/>
          <p:cNvSpPr txBox="1"/>
          <p:nvPr/>
        </p:nvSpPr>
        <p:spPr>
          <a:xfrm>
            <a:off x="6762750" y="2909887"/>
            <a:ext cx="4857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Implement Rate Limits: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Protect every public endpoint.</a:t>
            </a:r>
            <a:endParaRPr/>
          </a:p>
        </p:txBody>
      </p:sp>
      <p:sp>
        <p:nvSpPr>
          <p:cNvPr id="651" name="Google Shape;651;p51"/>
          <p:cNvSpPr txBox="1"/>
          <p:nvPr/>
        </p:nvSpPr>
        <p:spPr>
          <a:xfrm>
            <a:off x="6762750" y="3687067"/>
            <a:ext cx="4857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Layered Security: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Use WAF with IAM, Shield, and CloudTrail.</a:t>
            </a:r>
            <a:endParaRPr/>
          </a:p>
        </p:txBody>
      </p:sp>
      <p:sp>
        <p:nvSpPr>
          <p:cNvPr id="652" name="Google Shape;652;p51"/>
          <p:cNvSpPr txBox="1"/>
          <p:nvPr/>
        </p:nvSpPr>
        <p:spPr>
          <a:xfrm>
            <a:off x="6762750" y="4464248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Cost Control: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Remove unused rules and sets.</a:t>
            </a:r>
            <a:endParaRPr/>
          </a:p>
        </p:txBody>
      </p:sp>
      <p:pic>
        <p:nvPicPr>
          <p:cNvPr id="653" name="Google Shape;653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479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5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2516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5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02348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5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29479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5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450234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2" name="Google Shape;662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81625" y="899368"/>
            <a:ext cx="1428750" cy="803671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52"/>
          <p:cNvSpPr txBox="1"/>
          <p:nvPr/>
        </p:nvSpPr>
        <p:spPr>
          <a:xfrm>
            <a:off x="3760708" y="2084040"/>
            <a:ext cx="467058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665" name="Google Shape;665;p52"/>
          <p:cNvSpPr txBox="1"/>
          <p:nvPr/>
        </p:nvSpPr>
        <p:spPr>
          <a:xfrm>
            <a:off x="4667250" y="3722340"/>
            <a:ext cx="28575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Questions &amp; Answers</a:t>
            </a:r>
            <a:endParaRPr/>
          </a:p>
        </p:txBody>
      </p:sp>
      <p:sp>
        <p:nvSpPr>
          <p:cNvPr id="666" name="Google Shape;666;p52"/>
          <p:cNvSpPr txBox="1"/>
          <p:nvPr/>
        </p:nvSpPr>
        <p:spPr>
          <a:xfrm>
            <a:off x="4476750" y="5044380"/>
            <a:ext cx="32385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AWS Security Solutions Portfolio</a:t>
            </a:r>
            <a:endParaRPr/>
          </a:p>
        </p:txBody>
      </p:sp>
      <p:sp>
        <p:nvSpPr>
          <p:cNvPr id="667" name="Google Shape;667;p52"/>
          <p:cNvSpPr txBox="1"/>
          <p:nvPr/>
        </p:nvSpPr>
        <p:spPr>
          <a:xfrm>
            <a:off x="4476750" y="5547270"/>
            <a:ext cx="32385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Visit aws.amazon.com/waf for more details.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674" name="Google Shape;674;p53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53"/>
          <p:cNvSpPr/>
          <p:nvPr/>
        </p:nvSpPr>
        <p:spPr>
          <a:xfrm>
            <a:off x="571500" y="15716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53"/>
          <p:cNvSpPr/>
          <p:nvPr/>
        </p:nvSpPr>
        <p:spPr>
          <a:xfrm>
            <a:off x="571500" y="23431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53"/>
          <p:cNvSpPr/>
          <p:nvPr/>
        </p:nvSpPr>
        <p:spPr>
          <a:xfrm>
            <a:off x="571500" y="31146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53"/>
          <p:cNvSpPr/>
          <p:nvPr/>
        </p:nvSpPr>
        <p:spPr>
          <a:xfrm>
            <a:off x="571500" y="38862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53"/>
          <p:cNvSpPr/>
          <p:nvPr/>
        </p:nvSpPr>
        <p:spPr>
          <a:xfrm>
            <a:off x="571500" y="4657725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53"/>
          <p:cNvSpPr/>
          <p:nvPr/>
        </p:nvSpPr>
        <p:spPr>
          <a:xfrm>
            <a:off x="571500" y="23336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53"/>
          <p:cNvSpPr/>
          <p:nvPr/>
        </p:nvSpPr>
        <p:spPr>
          <a:xfrm>
            <a:off x="571500" y="23336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53"/>
          <p:cNvSpPr/>
          <p:nvPr/>
        </p:nvSpPr>
        <p:spPr>
          <a:xfrm>
            <a:off x="571500" y="3105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53"/>
          <p:cNvSpPr/>
          <p:nvPr/>
        </p:nvSpPr>
        <p:spPr>
          <a:xfrm>
            <a:off x="571500" y="3105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53"/>
          <p:cNvSpPr/>
          <p:nvPr/>
        </p:nvSpPr>
        <p:spPr>
          <a:xfrm>
            <a:off x="571500" y="3876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53"/>
          <p:cNvSpPr/>
          <p:nvPr/>
        </p:nvSpPr>
        <p:spPr>
          <a:xfrm>
            <a:off x="571500" y="3876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53"/>
          <p:cNvSpPr/>
          <p:nvPr/>
        </p:nvSpPr>
        <p:spPr>
          <a:xfrm>
            <a:off x="571500" y="4648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53"/>
          <p:cNvSpPr/>
          <p:nvPr/>
        </p:nvSpPr>
        <p:spPr>
          <a:xfrm>
            <a:off x="571500" y="4648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53"/>
          <p:cNvSpPr/>
          <p:nvPr/>
        </p:nvSpPr>
        <p:spPr>
          <a:xfrm>
            <a:off x="571500" y="55508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53"/>
          <p:cNvSpPr/>
          <p:nvPr/>
        </p:nvSpPr>
        <p:spPr>
          <a:xfrm>
            <a:off x="571500" y="55508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0" name="Google Shape;690;p5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145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 txBox="1"/>
          <p:nvPr/>
        </p:nvSpPr>
        <p:spPr>
          <a:xfrm>
            <a:off x="1666875" y="173548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https://www.a10networks.com/wp-content/uploads/web-application-firewall-vs-network-firewall-1024x539.png</a:t>
            </a:r>
            <a:endParaRPr/>
          </a:p>
        </p:txBody>
      </p:sp>
      <p:sp>
        <p:nvSpPr>
          <p:cNvPr id="692" name="Google Shape;692;p53"/>
          <p:cNvSpPr txBox="1"/>
          <p:nvPr/>
        </p:nvSpPr>
        <p:spPr>
          <a:xfrm>
            <a:off x="1666875" y="195634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www.a10networks.com</a:t>
            </a:r>
            <a:endParaRPr/>
          </a:p>
        </p:txBody>
      </p:sp>
      <p:pic>
        <p:nvPicPr>
          <p:cNvPr id="693" name="Google Shape;693;p5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860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/>
        </p:nvSpPr>
        <p:spPr>
          <a:xfrm>
            <a:off x="1666875" y="250700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https://www.conceptdraw.com/How-To-Guide/picture/Computer-Networks-Cloud-Computing-Diagrams-Cloud-Computing.png</a:t>
            </a:r>
            <a:endParaRPr/>
          </a:p>
        </p:txBody>
      </p:sp>
      <p:sp>
        <p:nvSpPr>
          <p:cNvPr id="695" name="Google Shape;695;p53"/>
          <p:cNvSpPr txBox="1"/>
          <p:nvPr/>
        </p:nvSpPr>
        <p:spPr>
          <a:xfrm>
            <a:off x="1666875" y="272787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www.conceptdraw.com</a:t>
            </a:r>
            <a:endParaRPr/>
          </a:p>
        </p:txBody>
      </p:sp>
      <p:pic>
        <p:nvPicPr>
          <p:cNvPr id="696" name="Google Shape;696;p5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575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53"/>
          <p:cNvSpPr txBox="1"/>
          <p:nvPr/>
        </p:nvSpPr>
        <p:spPr>
          <a:xfrm>
            <a:off x="1666875" y="327853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https://static.vecteezy.com/system/resources/previews/067/903/076/non_2x/security-logo-design-blue-shield-and-lock-symbol-for-safe-digital-access-and-protection-vector.jpg</a:t>
            </a:r>
            <a:endParaRPr/>
          </a:p>
        </p:txBody>
      </p:sp>
      <p:sp>
        <p:nvSpPr>
          <p:cNvPr id="698" name="Google Shape;698;p53"/>
          <p:cNvSpPr txBox="1"/>
          <p:nvPr/>
        </p:nvSpPr>
        <p:spPr>
          <a:xfrm>
            <a:off x="1666875" y="349939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id="699" name="Google Shape;699;p5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0290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53"/>
          <p:cNvSpPr txBox="1"/>
          <p:nvPr/>
        </p:nvSpPr>
        <p:spPr>
          <a:xfrm>
            <a:off x="1666875" y="405005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https://images.ctfassets.net/4un77bcsnjzw/5f4WTLP2LxjP8VX90lKt7I/efc24ee13738349d555ffe6c9f866c58/SQL_Injection_Attack.svg</a:t>
            </a:r>
            <a:endParaRPr/>
          </a:p>
        </p:txBody>
      </p:sp>
      <p:sp>
        <p:nvSpPr>
          <p:cNvPr id="701" name="Google Shape;701;p53"/>
          <p:cNvSpPr txBox="1"/>
          <p:nvPr/>
        </p:nvSpPr>
        <p:spPr>
          <a:xfrm>
            <a:off x="1666875" y="427092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learn.snyk.io</a:t>
            </a:r>
            <a:endParaRPr/>
          </a:p>
        </p:txBody>
      </p:sp>
      <p:pic>
        <p:nvPicPr>
          <p:cNvPr id="702" name="Google Shape;702;p5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660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3"/>
          <p:cNvSpPr txBox="1"/>
          <p:nvPr/>
        </p:nvSpPr>
        <p:spPr>
          <a:xfrm>
            <a:off x="1666875" y="4800600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https://static.vecteezy.com/system/resources/previews/069/816/984/large_2x/global-network-map-digital-connections-glowing-nodes-dark-background-website-banner-photo.jpg</a:t>
            </a:r>
            <a:endParaRPr/>
          </a:p>
        </p:txBody>
      </p:sp>
      <p:sp>
        <p:nvSpPr>
          <p:cNvPr id="704" name="Google Shape;704;p53"/>
          <p:cNvSpPr txBox="1"/>
          <p:nvPr/>
        </p:nvSpPr>
        <p:spPr>
          <a:xfrm>
            <a:off x="1666875" y="5194696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id="705" name="Google Shape;705;p5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70324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3"/>
          <p:cNvSpPr txBox="1"/>
          <p:nvPr/>
        </p:nvSpPr>
        <p:spPr>
          <a:xfrm>
            <a:off x="1666875" y="572422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https://img.freepik.com/premium-vector/cyber-security-fingerprint-dark-blue-abstract-digital-conceptual-technology-background_87946-472.jpg</a:t>
            </a:r>
            <a:endParaRPr/>
          </a:p>
        </p:txBody>
      </p:sp>
      <p:sp>
        <p:nvSpPr>
          <p:cNvPr id="707" name="Google Shape;707;p53"/>
          <p:cNvSpPr txBox="1"/>
          <p:nvPr/>
        </p:nvSpPr>
        <p:spPr>
          <a:xfrm>
            <a:off x="1666875" y="594508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www.freepik.com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2" name="Google Shape;712;p5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5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714" name="Google Shape;714;p54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54"/>
          <p:cNvSpPr/>
          <p:nvPr/>
        </p:nvSpPr>
        <p:spPr>
          <a:xfrm>
            <a:off x="571500" y="2325141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54"/>
          <p:cNvSpPr/>
          <p:nvPr/>
        </p:nvSpPr>
        <p:spPr>
          <a:xfrm>
            <a:off x="571500" y="3227784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54"/>
          <p:cNvSpPr/>
          <p:nvPr/>
        </p:nvSpPr>
        <p:spPr>
          <a:xfrm>
            <a:off x="571500" y="3999309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54"/>
          <p:cNvSpPr/>
          <p:nvPr/>
        </p:nvSpPr>
        <p:spPr>
          <a:xfrm>
            <a:off x="571500" y="321825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54"/>
          <p:cNvSpPr/>
          <p:nvPr/>
        </p:nvSpPr>
        <p:spPr>
          <a:xfrm>
            <a:off x="571500" y="321825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54"/>
          <p:cNvSpPr/>
          <p:nvPr/>
        </p:nvSpPr>
        <p:spPr>
          <a:xfrm>
            <a:off x="571500" y="398978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54"/>
          <p:cNvSpPr/>
          <p:nvPr/>
        </p:nvSpPr>
        <p:spPr>
          <a:xfrm>
            <a:off x="571500" y="398978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54"/>
          <p:cNvSpPr/>
          <p:nvPr/>
        </p:nvSpPr>
        <p:spPr>
          <a:xfrm>
            <a:off x="571500" y="47613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54"/>
          <p:cNvSpPr/>
          <p:nvPr/>
        </p:nvSpPr>
        <p:spPr>
          <a:xfrm>
            <a:off x="571500" y="47613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4" name="Google Shape;724;p5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335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4"/>
          <p:cNvSpPr txBox="1"/>
          <p:nvPr/>
        </p:nvSpPr>
        <p:spPr>
          <a:xfrm>
            <a:off x="1666875" y="2468016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https://static.vecteezy.com/system/resources/previews/048/967/243/non_2x/e-commerce-checkout-page-concept-with-payment-method-in-shopping-cart-secure-payment-gateway-select-and-activate-a-suitable-mobile-payment-method-for-a-seamless-online-shopping-experience-vector.jpg</a:t>
            </a:r>
            <a:endParaRPr/>
          </a:p>
        </p:txBody>
      </p:sp>
      <p:sp>
        <p:nvSpPr>
          <p:cNvPr id="726" name="Google Shape;726;p54"/>
          <p:cNvSpPr txBox="1"/>
          <p:nvPr/>
        </p:nvSpPr>
        <p:spPr>
          <a:xfrm>
            <a:off x="1666875" y="286211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id="727" name="Google Shape;727;p5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706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4"/>
          <p:cNvSpPr txBox="1"/>
          <p:nvPr/>
        </p:nvSpPr>
        <p:spPr>
          <a:xfrm>
            <a:off x="1666875" y="339164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https://miro.medium.com/1*YrVYFtEiQC6ySf1JxmUraQ.png</a:t>
            </a:r>
            <a:endParaRPr/>
          </a:p>
        </p:txBody>
      </p:sp>
      <p:sp>
        <p:nvSpPr>
          <p:cNvPr id="729" name="Google Shape;729;p54"/>
          <p:cNvSpPr txBox="1"/>
          <p:nvPr/>
        </p:nvSpPr>
        <p:spPr>
          <a:xfrm>
            <a:off x="1666875" y="361250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qa-nora.medium.com</a:t>
            </a:r>
            <a:endParaRPr/>
          </a:p>
        </p:txBody>
      </p:sp>
      <p:pic>
        <p:nvPicPr>
          <p:cNvPr id="730" name="Google Shape;730;p5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421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54"/>
          <p:cNvSpPr txBox="1"/>
          <p:nvPr/>
        </p:nvSpPr>
        <p:spPr>
          <a:xfrm>
            <a:off x="1666875" y="416316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https://offensoacademy.com/wp-content/uploads/2026/01/image.png</a:t>
            </a:r>
            <a:endParaRPr/>
          </a:p>
        </p:txBody>
      </p:sp>
      <p:sp>
        <p:nvSpPr>
          <p:cNvPr id="732" name="Google Shape;732;p54"/>
          <p:cNvSpPr txBox="1"/>
          <p:nvPr/>
        </p:nvSpPr>
        <p:spPr>
          <a:xfrm>
            <a:off x="1666875" y="438403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offensoacademy.com</a:t>
            </a:r>
            <a:endParaRPr/>
          </a:p>
        </p:txBody>
      </p:sp>
      <p:pic>
        <p:nvPicPr>
          <p:cNvPr id="733" name="Google Shape;733;p5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9137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54"/>
          <p:cNvSpPr txBox="1"/>
          <p:nvPr/>
        </p:nvSpPr>
        <p:spPr>
          <a:xfrm>
            <a:off x="1666875" y="493469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https://miro.medium.com/1*9lwFCltCReo4MmizE4piiQ.png</a:t>
            </a:r>
            <a:endParaRPr/>
          </a:p>
        </p:txBody>
      </p:sp>
      <p:sp>
        <p:nvSpPr>
          <p:cNvPr id="735" name="Google Shape;735;p54"/>
          <p:cNvSpPr txBox="1"/>
          <p:nvPr/>
        </p:nvSpPr>
        <p:spPr>
          <a:xfrm>
            <a:off x="1666875" y="515555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blog.prateekjain.dev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1602</Words>
  <Application>Microsoft Office PowerPoint</Application>
  <PresentationFormat>Widescreen</PresentationFormat>
  <Paragraphs>223</Paragraphs>
  <Slides>42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Urbanist</vt:lpstr>
      <vt:lpstr>Calibri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ADLAGATTA VIGNESH</cp:lastModifiedBy>
  <cp:revision>1</cp:revision>
  <dcterms:modified xsi:type="dcterms:W3CDTF">2026-03-18T06:35:28Z</dcterms:modified>
</cp:coreProperties>
</file>