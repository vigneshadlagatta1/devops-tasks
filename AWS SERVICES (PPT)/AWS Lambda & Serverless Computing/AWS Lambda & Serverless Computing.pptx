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98" r:id="rId2"/>
    <p:sldId id="305" r:id="rId3"/>
    <p:sldId id="257" r:id="rId4"/>
    <p:sldId id="301" r:id="rId5"/>
    <p:sldId id="308" r:id="rId6"/>
    <p:sldId id="259" r:id="rId7"/>
    <p:sldId id="260" r:id="rId8"/>
    <p:sldId id="261" r:id="rId9"/>
    <p:sldId id="30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03" r:id="rId40"/>
    <p:sldId id="291" r:id="rId41"/>
    <p:sldId id="292" r:id="rId42"/>
    <p:sldId id="293" r:id="rId43"/>
    <p:sldId id="304" r:id="rId44"/>
    <p:sldId id="306" r:id="rId45"/>
    <p:sldId id="307" r:id="rId46"/>
    <p:sldId id="295" r:id="rId47"/>
    <p:sldId id="296" r:id="rId48"/>
    <p:sldId id="297" r:id="rId49"/>
  </p:sldIdLst>
  <p:sldSz cx="12192000" cy="6858000"/>
  <p:notesSz cx="6858000" cy="9144000"/>
  <p:embeddedFontLst>
    <p:embeddedFont>
      <p:font typeface="Inter" panose="020B060402020202020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4150C4-0B7D-4527-B1FA-953015F39284}">
  <a:tblStyle styleId="{894150C4-0B7D-4527-B1FA-953015F392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2.png"/><Relationship Id="rId5" Type="http://schemas.openxmlformats.org/officeDocument/2006/relationships/image" Target="../media/image25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24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4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4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4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0" Type="http://schemas.openxmlformats.org/officeDocument/2006/relationships/image" Target="../media/image116.png"/><Relationship Id="rId4" Type="http://schemas.openxmlformats.org/officeDocument/2006/relationships/image" Target="../media/image34.png"/><Relationship Id="rId9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4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2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gi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4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796C3-9320-26A8-E487-29C11CBB7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F98F29-FE3C-8092-D45C-723CAB9A6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65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86">
        <p159:morph option="byObject"/>
      </p:transition>
    </mc:Choice>
    <mc:Fallback>
      <p:transition spd="slow" advTm="58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A9FBC9-436A-2E2A-6830-B2C17D79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428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225">
        <p15:prstTrans prst="pageCurlDouble"/>
      </p:transition>
    </mc:Choice>
    <mc:Fallback>
      <p:transition spd="slow" advTm="22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85" y="-20106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81000" y="6324600"/>
            <a:ext cx="80396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19420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1:</a:t>
            </a:r>
            <a:r>
              <a:rPr lang="en-US" sz="1650" b="0" i="0" u="none" strike="noStrike" cap="none" dirty="0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Cloud &amp; Serverless Basics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24278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2:</a:t>
            </a:r>
            <a:r>
              <a:rPr lang="en-US" sz="1650" b="0" i="0" u="none" strike="noStrike" cap="none" dirty="0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AWS Lambda Fundamentals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29136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3: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Lambda Console Walkthrough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39938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4: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Configuration &amp; Performance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8851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5: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Monitoring and Troubleshooting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3709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6: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Security Best Practices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48567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7: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Real-world Applications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8492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706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564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44224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9280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4137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48995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50">
        <p14:switch dir="r"/>
      </p:transition>
    </mc:Choice>
    <mc:Fallback>
      <p:transition spd="slow" advTm="15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2E99F-903C-B209-6EB2-EE1D51303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16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77">
        <p:circle/>
      </p:transition>
    </mc:Choice>
    <mc:Fallback>
      <p:transition spd="slow" advTm="177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What is cloud computing?">
            <a:extLst>
              <a:ext uri="{FF2B5EF4-FFF2-40B4-BE49-F238E27FC236}">
                <a16:creationId xmlns:a16="http://schemas.microsoft.com/office/drawing/2014/main" id="{F41602D9-2D7F-B1B9-C9FE-36685FAAE0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21BD0-8F11-CFD9-FEE1-7B6B40F6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217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Types of Cloud Services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381000" y="6324600"/>
            <a:ext cx="92437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2103596" y="3430934"/>
            <a:ext cx="46005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IaaS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1915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Infrastructure as a Service. You manage the OS, runtime, and data. Example: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Amazon EC2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825966" y="3430934"/>
            <a:ext cx="54006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PaaS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581525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Platform as a Service. AWS manages the underlying infrastructure. Example: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AWS Elastic Beanstalk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93341" y="3430934"/>
            <a:ext cx="53006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FaaS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4390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Function as a Service. You only write the code. No servers to manage. Example: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AWS Lambda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8594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8594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2859434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Serverless Computing?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81000" y="6324600"/>
            <a:ext cx="9542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No Server Management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You never have to provision, maintain, or administer servers. AWS handles all hardware and operating system maintenance, patching, and capacity provisioning.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Event-Driven &amp; Auto-Scaling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Code runs only in response to triggers (events). The system automatically scales from zero to thousands of concurrent requests seamlessly, and you pay only when code runs.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87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7287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7287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75633"/>
            <a:ext cx="1104900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Benefits of Serverless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381000" y="6324600"/>
            <a:ext cx="9471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173480" y="2586037"/>
            <a:ext cx="232029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Operational Cost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19150" y="29326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Pay only for the compute time you consume down to the millisecond.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110876" y="2586037"/>
            <a:ext cx="197024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Automatic Scaling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581525" y="29326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Scales continuously based on individual requests.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988266" y="2586037"/>
            <a:ext cx="174021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Availability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343900" y="29326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Built-in fault tolerance and availability across multiple zones.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010864" y="4732883"/>
            <a:ext cx="217027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Faster Development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3833812" y="5079503"/>
            <a:ext cx="4524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Focus strictly on business logic rather than infrastructure tasks.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43125" y="20145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1687" y="20145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67875" y="20145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57875" y="4161383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E03B6-DE73-6C9A-E4AA-5EF204E8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974"/>
            <a:ext cx="12192000" cy="709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0127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AWS Lambda?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81000" y="6324600"/>
            <a:ext cx="9097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952500" y="1884908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AWS Lambda is an event-driven, serverless computing service provided by Amazon.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52500" y="2999333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Runs code without provisioning or managing underlying servers.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52500" y="3799433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Automatically executes code only when triggered by specific AWS events.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52500" y="4599533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Handles all capacity, patching, and administration seamlessly.</a:t>
            </a:r>
            <a:endParaRPr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92777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4219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4229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4239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44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6144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6144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61333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3875" y="3761333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0" y="3761333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Supported Languages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81000" y="6324600"/>
            <a:ext cx="9438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948576" y="2471737"/>
            <a:ext cx="77009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1915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Excellent for scripting, data processing, and automation.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680948" y="2471737"/>
            <a:ext cx="83010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581525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Perfect for asynchronous, event-driven applications.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598342" y="2471737"/>
            <a:ext cx="52006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Java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34390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Great for enterprise-level backend services.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2178605" y="4618583"/>
            <a:ext cx="31003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19150" y="4965203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High performance and minimal cold start times.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5580935" y="4618583"/>
            <a:ext cx="103012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C# (.NET)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581525" y="4965203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Ideal for migrating existing Windows workloads.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9583340" y="4618583"/>
            <a:ext cx="55006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Ruby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343900" y="4965203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Fast development for web applications and scripts.</a:t>
            </a:r>
            <a:endParaRPr/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66937" y="19002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29312" y="19002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15500" y="19002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95500" y="404708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929312" y="404708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667875" y="40470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Architecture Diagram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81000" y="6324600"/>
            <a:ext cx="8021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256" name="Google Shape;25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952500" y="20420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User makes a request via web or mobile app.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952500" y="28421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Acts as the front door, receiving the HTTP request.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952500" y="36422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AWS Lambda: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Executes business logic triggered by the API Gateway.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52500" y="44423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Lambda interacts with the database to read/write data.</a:t>
            </a:r>
            <a:endParaRPr/>
          </a:p>
        </p:txBody>
      </p:sp>
      <p:pic>
        <p:nvPicPr>
          <p:cNvPr id="261" name="Google Shape;26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849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850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851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8523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Event-Driven Architecture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381000" y="6324600"/>
            <a:ext cx="83953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952500" y="24278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is fundamentally event-driven; it waits for a trigger to execute.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952500" y="29136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API request: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Triggered via API Gateway or Application Load Balancer.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952500" y="339938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upload to S3: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Image processing triggered when a file is saved to a bucket.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952500" y="38851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 update: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DynamoDB Streams trigger Lambda upon data modification.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952500" y="43709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Scheduled task: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EventBridge triggers code on a cron-like schedule.</a:t>
            </a:r>
            <a:endParaRPr/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06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5647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22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80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1379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Execution Flow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381000" y="6324600"/>
            <a:ext cx="9670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571500" y="3861345"/>
            <a:ext cx="110490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507968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1. Event Occurs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571500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 trigger fires (e.g., user uploads an image to S3).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3343888" y="279082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2. Invocation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3407419" y="313744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AWS Lambda is automatically invoked by the service.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179808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3. Execution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243339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provisions compute resources and runs your code.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9015728" y="279082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4. Response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9079259" y="313744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Code completes, returns a response, and resources are freed.</a:t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1727820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4563740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7399659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10235579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4087"/>
            <a:ext cx="3524250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224087"/>
            <a:ext cx="3524250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224087"/>
            <a:ext cx="3524250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61333"/>
            <a:ext cx="5405437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5062" y="3761333"/>
            <a:ext cx="5405437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Components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381000" y="6324600"/>
            <a:ext cx="868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1858565" y="2471737"/>
            <a:ext cx="95011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Function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81915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actual script or code package you upload to AWS to perform the logic.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5650944" y="2471737"/>
            <a:ext cx="89011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Runtime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4581525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language-specific environment that runs your function (e.g., Python 3.10).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9433321" y="2471737"/>
            <a:ext cx="85010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Handler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834390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specific method in your code that Lambda calls to start execution.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2589133" y="4008983"/>
            <a:ext cx="137017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 Object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819150" y="4355603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JSON-formatted data passed to your function containing request details.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8117681" y="4008983"/>
            <a:ext cx="160020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Execution Role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6462712" y="4355603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IAM role granting Lambda permission to access other AWS services.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4730829" y="2581275"/>
            <a:ext cx="27303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3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4300537" y="3457575"/>
            <a:ext cx="35909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AWS Lambda Console Deep Dive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381000" y="6324600"/>
            <a:ext cx="10334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Console Overview</a:t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381000" y="6324600"/>
            <a:ext cx="944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952500" y="24278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Functions: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main dashboard to view, create, and manage all your Lambda functions.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952500" y="29136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Group multiple functions and resources into serverless applications.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952500" y="339938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Layers: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Manage shared code libraries and dependencies outside your deployment package.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952500" y="38851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Code Editor: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built-in IDE to write and edit function code directly in the browser.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952500" y="43709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Configuration Tab: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Manage triggers, permissions, environment variables, and memory.</a:t>
            </a:r>
            <a:endParaRPr/>
          </a:p>
        </p:txBody>
      </p:sp>
      <p:pic>
        <p:nvPicPr>
          <p:cNvPr id="353" name="Google Shape;35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069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564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224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80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1379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2142"/>
            <a:ext cx="528637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82142"/>
            <a:ext cx="528637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Function Overview Panel</a:t>
            </a:r>
            <a:endParaRPr/>
          </a:p>
        </p:txBody>
      </p:sp>
      <p:sp>
        <p:nvSpPr>
          <p:cNvPr id="367" name="Google Shape;367;p2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381000" y="6324600"/>
            <a:ext cx="107037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914400" y="27250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Identity &amp; Status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914400" y="31878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Function Name: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unique identifier for your resource.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Function ARN: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Amazon Resource Name, used to reference the function globally across AWS.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6677025" y="27250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Metadata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6677025" y="3187898"/>
            <a:ext cx="46005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Runtime: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active language version (e.g., Node.js 18.x).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Last Modified: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Timestamp of the most recent code or configuration deployment.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Handler: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configured entry point for execution.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Code Deployment Options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381000" y="6324600"/>
            <a:ext cx="85412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1693545" y="3430934"/>
            <a:ext cx="128016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Inline Editor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81915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Write and edit code directly in the AWS Management Console. Best for quick tests and small functions.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5295900" y="3430934"/>
            <a:ext cx="160020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Upload ZIP File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4581525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Package your code and dependencies locally, then upload via console or CLI. Standard for production.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8968263" y="3430934"/>
            <a:ext cx="178022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Container Image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834390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Deploy code as a Docker container image via Amazon ECR. Great for large packages up to 10GB.</a:t>
            </a:r>
            <a:endParaRPr/>
          </a:p>
        </p:txBody>
      </p:sp>
      <p:pic>
        <p:nvPicPr>
          <p:cNvPr id="391" name="Google Shape;39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8594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53125" y="285943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859434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Runtime Settings &amp; Handlers</a:t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381000" y="6324600"/>
            <a:ext cx="91097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914400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Understanding the Handler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914400" y="34164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handler is the method in your code that processes events. When invoked, Lambda runs the handler method first.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Format typically follows: filename.method_name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6677025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Example: Python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6677025" y="34164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Handler Configuration: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lambda_function.lambda_handler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This tells AWS to look inside the lambda_function.py file and execute the lambda_handler(event, context) method.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0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Layers</a:t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381000" y="6324600"/>
            <a:ext cx="83447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18" name="Google Shape;418;p30"/>
          <p:cNvSpPr txBox="1"/>
          <p:nvPr/>
        </p:nvSpPr>
        <p:spPr>
          <a:xfrm>
            <a:off x="952500" y="25135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are they?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ZIP archive containing libraries, custom runtimes, or other dependencies.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952500" y="29993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Reuse libraries: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Share common code across multiple Lambda functions without duplicating it.</a:t>
            </a:r>
            <a:endParaRPr/>
          </a:p>
        </p:txBody>
      </p:sp>
      <p:sp>
        <p:nvSpPr>
          <p:cNvPr id="420" name="Google Shape;420;p30"/>
          <p:cNvSpPr txBox="1"/>
          <p:nvPr/>
        </p:nvSpPr>
        <p:spPr>
          <a:xfrm>
            <a:off x="952500" y="34851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 package size: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Keep your deployment package small to enable the inline code editor.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952500" y="397088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Simplified updates: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Update a dependency in one layer, and all associated functions can use the new version.</a:t>
            </a:r>
            <a:endParaRPr/>
          </a:p>
        </p:txBody>
      </p:sp>
      <p:pic>
        <p:nvPicPr>
          <p:cNvPr id="422" name="Google Shape;42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219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279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374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Environment Variables</a:t>
            </a:r>
            <a:endParaRPr/>
          </a:p>
        </p:txBody>
      </p:sp>
      <p:sp>
        <p:nvSpPr>
          <p:cNvPr id="435" name="Google Shape;435;p31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381000" y="6324600"/>
            <a:ext cx="8076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914400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Store Configuration Values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914400" y="34164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Pass operational parameters to your function at runtime without modifying your code. Useful for distinguishing between dev, test, and prod environments.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6677025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Common Examples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6677025" y="34164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Keys: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Third-party integration tokens.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Database URLs: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DynamoDB table names or RDS connection strings.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Log Levels: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Setting debug vs. info output.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IAM Role Permissions</a:t>
            </a:r>
            <a:endParaRPr/>
          </a:p>
        </p:txBody>
      </p:sp>
      <p:sp>
        <p:nvSpPr>
          <p:cNvPr id="448" name="Google Shape;448;p3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381000" y="6324600"/>
            <a:ext cx="9044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952500" y="219923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Execution Role: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An AWS Identity and Access Management (IAM) role that grants the function permission to access AWS services and resources.</a:t>
            </a:r>
            <a:endParaRPr/>
          </a:p>
        </p:txBody>
      </p:sp>
      <p:sp>
        <p:nvSpPr>
          <p:cNvPr id="451" name="Google Shape;451;p32"/>
          <p:cNvSpPr txBox="1"/>
          <p:nvPr/>
        </p:nvSpPr>
        <p:spPr>
          <a:xfrm>
            <a:off x="952500" y="299933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Attached Policies: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JSON documents defining exactly what actions the Lambda can perform (e.g., `s3:GetObject`).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952500" y="37994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Basic Execution: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By default, Lambda needs permission to upload logs to Amazon CloudWatch.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952500" y="4285208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Least Privilege Access: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Best practice is to grant only the minimum permissions required for the code to function.</a:t>
            </a:r>
            <a:endParaRPr/>
          </a:p>
        </p:txBody>
      </p:sp>
      <p:pic>
        <p:nvPicPr>
          <p:cNvPr id="454" name="Google Shape;45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420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21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422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80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3087"/>
            <a:ext cx="352425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843087"/>
            <a:ext cx="352425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843087"/>
            <a:ext cx="352425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61333"/>
            <a:ext cx="5405437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5062" y="3761333"/>
            <a:ext cx="5405437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3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Common Lambda Triggers</a:t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3"/>
          <p:cNvSpPr txBox="1"/>
          <p:nvPr/>
        </p:nvSpPr>
        <p:spPr>
          <a:xfrm>
            <a:off x="381000" y="6324600"/>
            <a:ext cx="84013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72" name="Google Shape;472;p33"/>
          <p:cNvSpPr txBox="1"/>
          <p:nvPr/>
        </p:nvSpPr>
        <p:spPr>
          <a:xfrm>
            <a:off x="1648539" y="2700337"/>
            <a:ext cx="137017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</a:t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1290637" y="3046958"/>
            <a:ext cx="2085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Synchronous HTTP requests.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5480923" y="2700337"/>
            <a:ext cx="123015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Amazon S3</a:t>
            </a:r>
            <a:endParaRPr/>
          </a:p>
        </p:txBody>
      </p:sp>
      <p:sp>
        <p:nvSpPr>
          <p:cNvPr id="475" name="Google Shape;475;p33"/>
          <p:cNvSpPr txBox="1"/>
          <p:nvPr/>
        </p:nvSpPr>
        <p:spPr>
          <a:xfrm>
            <a:off x="4857750" y="3046958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Object creation or deletion events.</a:t>
            </a: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9253299" y="2700337"/>
            <a:ext cx="121015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</a:t>
            </a:r>
            <a:endParaRPr/>
          </a:p>
        </p:txBody>
      </p:sp>
      <p:sp>
        <p:nvSpPr>
          <p:cNvPr id="477" name="Google Shape;477;p33"/>
          <p:cNvSpPr txBox="1"/>
          <p:nvPr/>
        </p:nvSpPr>
        <p:spPr>
          <a:xfrm>
            <a:off x="8682037" y="3046958"/>
            <a:ext cx="2352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Table data modification streams.</a:t>
            </a:r>
            <a:endParaRPr/>
          </a:p>
        </p:txBody>
      </p:sp>
      <p:sp>
        <p:nvSpPr>
          <p:cNvPr id="478" name="Google Shape;478;p33"/>
          <p:cNvSpPr txBox="1"/>
          <p:nvPr/>
        </p:nvSpPr>
        <p:spPr>
          <a:xfrm>
            <a:off x="2614136" y="4618583"/>
            <a:ext cx="132016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EventBridge</a:t>
            </a:r>
            <a:endParaRPr/>
          </a:p>
        </p:txBody>
      </p:sp>
      <p:sp>
        <p:nvSpPr>
          <p:cNvPr id="479" name="Google Shape;479;p33"/>
          <p:cNvSpPr txBox="1"/>
          <p:nvPr/>
        </p:nvSpPr>
        <p:spPr>
          <a:xfrm>
            <a:off x="2145506" y="4965203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Scheduled tasks and cron jobs.</a:t>
            </a:r>
            <a:endParaRPr/>
          </a:p>
        </p:txBody>
      </p:sp>
      <p:sp>
        <p:nvSpPr>
          <p:cNvPr id="480" name="Google Shape;480;p33"/>
          <p:cNvSpPr txBox="1"/>
          <p:nvPr/>
        </p:nvSpPr>
        <p:spPr>
          <a:xfrm>
            <a:off x="8372713" y="4618583"/>
            <a:ext cx="109013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SNS / SQS</a:t>
            </a:r>
            <a:endParaRPr/>
          </a:p>
        </p:txBody>
      </p:sp>
      <p:sp>
        <p:nvSpPr>
          <p:cNvPr id="481" name="Google Shape;481;p33"/>
          <p:cNvSpPr txBox="1"/>
          <p:nvPr/>
        </p:nvSpPr>
        <p:spPr>
          <a:xfrm>
            <a:off x="7360443" y="4965203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Pub/Sub messaging and queue processing.</a:t>
            </a:r>
            <a:endParaRPr/>
          </a:p>
        </p:txBody>
      </p:sp>
      <p:pic>
        <p:nvPicPr>
          <p:cNvPr id="482" name="Google Shape;482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95500" y="21288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9312" y="21288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67875" y="21288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083718" y="40470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727281" y="40470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4"/>
          <p:cNvSpPr txBox="1"/>
          <p:nvPr/>
        </p:nvSpPr>
        <p:spPr>
          <a:xfrm>
            <a:off x="4720828" y="2581275"/>
            <a:ext cx="27503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4</a:t>
            </a:r>
            <a:endParaRPr/>
          </a:p>
        </p:txBody>
      </p:sp>
      <p:sp>
        <p:nvSpPr>
          <p:cNvPr id="494" name="Google Shape;494;p34"/>
          <p:cNvSpPr txBox="1"/>
          <p:nvPr/>
        </p:nvSpPr>
        <p:spPr>
          <a:xfrm>
            <a:off x="4533900" y="3457575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Configuration &amp; Performance</a:t>
            </a:r>
            <a:endParaRPr/>
          </a:p>
        </p:txBody>
      </p:sp>
      <p:sp>
        <p:nvSpPr>
          <p:cNvPr id="495" name="Google Shape;495;p34"/>
          <p:cNvSpPr txBox="1"/>
          <p:nvPr/>
        </p:nvSpPr>
        <p:spPr>
          <a:xfrm>
            <a:off x="381000" y="6324600"/>
            <a:ext cx="10720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5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Memory Settings</a:t>
            </a:r>
            <a:endParaRPr/>
          </a:p>
        </p:txBody>
      </p:sp>
      <p:sp>
        <p:nvSpPr>
          <p:cNvPr id="503" name="Google Shape;503;p35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 txBox="1"/>
          <p:nvPr/>
        </p:nvSpPr>
        <p:spPr>
          <a:xfrm>
            <a:off x="381000" y="6324600"/>
            <a:ext cx="8675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05" name="Google Shape;505;p35"/>
          <p:cNvSpPr txBox="1"/>
          <p:nvPr/>
        </p:nvSpPr>
        <p:spPr>
          <a:xfrm>
            <a:off x="952500" y="25135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Memory Allocation: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Configure the amount of memory available to your function (128 MB to 10,240 MB).</a:t>
            </a:r>
            <a:endParaRPr/>
          </a:p>
        </p:txBody>
      </p:sp>
      <p:sp>
        <p:nvSpPr>
          <p:cNvPr id="506" name="Google Shape;506;p35"/>
          <p:cNvSpPr txBox="1"/>
          <p:nvPr/>
        </p:nvSpPr>
        <p:spPr>
          <a:xfrm>
            <a:off x="952500" y="29993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Relationship: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AWS allocates CPU power linearly in proportion to the amount of memory configured.</a:t>
            </a:r>
            <a:endParaRPr/>
          </a:p>
        </p:txBody>
      </p:sp>
      <p:sp>
        <p:nvSpPr>
          <p:cNvPr id="507" name="Google Shape;507;p35"/>
          <p:cNvSpPr txBox="1"/>
          <p:nvPr/>
        </p:nvSpPr>
        <p:spPr>
          <a:xfrm>
            <a:off x="952500" y="34851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 Impact: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 are charged based on the memory size configured and the execution duration.</a:t>
            </a:r>
            <a:endParaRPr/>
          </a:p>
        </p:txBody>
      </p:sp>
      <p:sp>
        <p:nvSpPr>
          <p:cNvPr id="508" name="Google Shape;508;p35"/>
          <p:cNvSpPr txBox="1"/>
          <p:nvPr/>
        </p:nvSpPr>
        <p:spPr>
          <a:xfrm>
            <a:off x="952500" y="397088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Sometimes increasing memory lowers overall cost because the function executes significantly faster.</a:t>
            </a:r>
            <a:endParaRPr/>
          </a:p>
        </p:txBody>
      </p:sp>
      <p:pic>
        <p:nvPicPr>
          <p:cNvPr id="509" name="Google Shape;50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219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279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374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Timeout Settings</a:t>
            </a:r>
            <a:endParaRPr/>
          </a:p>
        </p:txBody>
      </p:sp>
      <p:sp>
        <p:nvSpPr>
          <p:cNvPr id="522" name="Google Shape;522;p3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 txBox="1"/>
          <p:nvPr/>
        </p:nvSpPr>
        <p:spPr>
          <a:xfrm>
            <a:off x="381000" y="6324600"/>
            <a:ext cx="9517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24" name="Google Shape;524;p36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Maximum Execution Time</a:t>
            </a:r>
            <a:endParaRPr/>
          </a:p>
        </p:txBody>
      </p:sp>
      <p:sp>
        <p:nvSpPr>
          <p:cNvPr id="525" name="Google Shape;525;p36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functions are not designed for long-running processes. The maximum allowed timeout is exactly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15 minutes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(900 seconds). Default is 3 seconds.</a:t>
            </a:r>
            <a:endParaRPr/>
          </a:p>
        </p:txBody>
      </p:sp>
      <p:sp>
        <p:nvSpPr>
          <p:cNvPr id="526" name="Google Shape;526;p36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Example Use Case</a:t>
            </a:r>
            <a:endParaRPr/>
          </a:p>
        </p:txBody>
      </p:sp>
      <p:sp>
        <p:nvSpPr>
          <p:cNvPr id="527" name="Google Shape;527;p36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Payment Processing API: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Set a strict timeout of 5-10 seconds to ensure the client isn't left hanging if a third-party payment gateway fails to respond.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Temporary Storage (/tmp)</a:t>
            </a:r>
            <a:endParaRPr/>
          </a:p>
        </p:txBody>
      </p:sp>
      <p:sp>
        <p:nvSpPr>
          <p:cNvPr id="537" name="Google Shape;537;p3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7"/>
          <p:cNvSpPr txBox="1"/>
          <p:nvPr/>
        </p:nvSpPr>
        <p:spPr>
          <a:xfrm>
            <a:off x="381000" y="6324600"/>
            <a:ext cx="8870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39" name="Google Shape;539;p37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Ephemeral Storage</a:t>
            </a:r>
            <a:endParaRPr/>
          </a:p>
        </p:txBody>
      </p:sp>
      <p:sp>
        <p:nvSpPr>
          <p:cNvPr id="540" name="Google Shape;540;p37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Each Lambda execution environment provides temporary local storage in the /tmp directory, configurable between 512 MB and 10,240 MB.</a:t>
            </a:r>
            <a:endParaRPr/>
          </a:p>
        </p:txBody>
      </p:sp>
      <p:sp>
        <p:nvSpPr>
          <p:cNvPr id="541" name="Google Shape;541;p37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Use Cases</a:t>
            </a:r>
            <a:endParaRPr/>
          </a:p>
        </p:txBody>
      </p:sp>
      <p:sp>
        <p:nvSpPr>
          <p:cNvPr id="542" name="Google Shape;542;p37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Ideal for downloading files from S3, unpacking ZIP archives, or temporarily caching data during a single execution before uploading results.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Concurrency Models</a:t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381000" y="6324600"/>
            <a:ext cx="83209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54" name="Google Shape;554;p38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Reserved Concurrency</a:t>
            </a:r>
            <a:endParaRPr/>
          </a:p>
        </p:txBody>
      </p:sp>
      <p:sp>
        <p:nvSpPr>
          <p:cNvPr id="555" name="Google Shape;555;p38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Guarantees a maximum number of concurrent instances for a specific function. Useful for throttling downstream databases from being overwhelmed.</a:t>
            </a:r>
            <a:endParaRPr/>
          </a:p>
        </p:txBody>
      </p:sp>
      <p:sp>
        <p:nvSpPr>
          <p:cNvPr id="556" name="Google Shape;556;p38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Provisioned Concurrency</a:t>
            </a:r>
            <a:endParaRPr/>
          </a:p>
        </p:txBody>
      </p:sp>
      <p:sp>
        <p:nvSpPr>
          <p:cNvPr id="557" name="Google Shape;557;p38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Keeps environments initialized and ready to respond immediately. Eliminates cold starts, ensuring consistent double-digit millisecond latency.</a:t>
            </a:r>
            <a:endParaRPr/>
          </a:p>
        </p:txBody>
      </p:sp>
    </p:spTree>
  </p:cSld>
  <p:clrMapOvr>
    <a:masterClrMapping/>
  </p:clrMapOvr>
  <p:transition spd="slow">
    <p:comb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The Cold Start Problem</a:t>
            </a:r>
            <a:endParaRPr/>
          </a:p>
        </p:txBody>
      </p:sp>
      <p:sp>
        <p:nvSpPr>
          <p:cNvPr id="565" name="Google Shape;565;p3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9"/>
          <p:cNvSpPr txBox="1"/>
          <p:nvPr/>
        </p:nvSpPr>
        <p:spPr>
          <a:xfrm>
            <a:off x="381000" y="6324600"/>
            <a:ext cx="87793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67" name="Google Shape;567;p39"/>
          <p:cNvSpPr txBox="1"/>
          <p:nvPr/>
        </p:nvSpPr>
        <p:spPr>
          <a:xfrm>
            <a:off x="952500" y="244212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it?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Latency experienced when a new Lambda execution environment is initialized (downloading code, starting runtime).</a:t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952500" y="324222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it happens: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Occurs on the very first invocation, after code updates, or when scaling up to handle concurrent traffic.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952500" y="404232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Ways to reduce latency: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Choose faster runtimes (Go/Node vs Java), reduce deployment package size, or use Provisioned Concurrency.</a:t>
            </a:r>
            <a:endParaRPr/>
          </a:p>
        </p:txBody>
      </p:sp>
      <p:pic>
        <p:nvPicPr>
          <p:cNvPr id="570" name="Google Shape;570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8498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8508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8518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0"/>
          <p:cNvSpPr txBox="1"/>
          <p:nvPr/>
        </p:nvSpPr>
        <p:spPr>
          <a:xfrm>
            <a:off x="4740830" y="2581275"/>
            <a:ext cx="271033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5</a:t>
            </a:r>
            <a:endParaRPr/>
          </a:p>
        </p:txBody>
      </p:sp>
      <p:sp>
        <p:nvSpPr>
          <p:cNvPr id="580" name="Google Shape;580;p40"/>
          <p:cNvSpPr txBox="1"/>
          <p:nvPr/>
        </p:nvSpPr>
        <p:spPr>
          <a:xfrm>
            <a:off x="4495800" y="345757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Monitoring &amp; Troubleshooting</a:t>
            </a:r>
            <a:endParaRPr/>
          </a:p>
        </p:txBody>
      </p:sp>
      <p:sp>
        <p:nvSpPr>
          <p:cNvPr id="581" name="Google Shape;581;p40"/>
          <p:cNvSpPr txBox="1"/>
          <p:nvPr/>
        </p:nvSpPr>
        <p:spPr>
          <a:xfrm>
            <a:off x="381000" y="6324600"/>
            <a:ext cx="11581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1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Metrics</a:t>
            </a:r>
            <a:endParaRPr/>
          </a:p>
        </p:txBody>
      </p:sp>
      <p:sp>
        <p:nvSpPr>
          <p:cNvPr id="590" name="Google Shape;590;p41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1"/>
          <p:cNvSpPr txBox="1"/>
          <p:nvPr/>
        </p:nvSpPr>
        <p:spPr>
          <a:xfrm>
            <a:off x="381000" y="6324600"/>
            <a:ext cx="8221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592" name="Google Shape;592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1"/>
          <p:cNvSpPr txBox="1"/>
          <p:nvPr/>
        </p:nvSpPr>
        <p:spPr>
          <a:xfrm>
            <a:off x="952500" y="20420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Invocations: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total number of times the function was triggered.</a:t>
            </a:r>
            <a:endParaRPr/>
          </a:p>
        </p:txBody>
      </p:sp>
      <p:sp>
        <p:nvSpPr>
          <p:cNvPr id="594" name="Google Shape;594;p41"/>
          <p:cNvSpPr txBox="1"/>
          <p:nvPr/>
        </p:nvSpPr>
        <p:spPr>
          <a:xfrm>
            <a:off x="952500" y="28421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Errors: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Number of failed invocations due to code or configuration issues.</a:t>
            </a:r>
            <a:endParaRPr/>
          </a:p>
        </p:txBody>
      </p:sp>
      <p:sp>
        <p:nvSpPr>
          <p:cNvPr id="595" name="Google Shape;595;p41"/>
          <p:cNvSpPr txBox="1"/>
          <p:nvPr/>
        </p:nvSpPr>
        <p:spPr>
          <a:xfrm>
            <a:off x="952500" y="36422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Duration: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Average, min, and max execution time (helps optimize memory).</a:t>
            </a:r>
            <a:endParaRPr/>
          </a:p>
        </p:txBody>
      </p:sp>
      <p:sp>
        <p:nvSpPr>
          <p:cNvPr id="596" name="Google Shape;596;p41"/>
          <p:cNvSpPr txBox="1"/>
          <p:nvPr/>
        </p:nvSpPr>
        <p:spPr>
          <a:xfrm>
            <a:off x="952500" y="44423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Throttles: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Invocations rejected due to exceeding concurrency limits.</a:t>
            </a:r>
            <a:endParaRPr/>
          </a:p>
        </p:txBody>
      </p:sp>
      <p:pic>
        <p:nvPicPr>
          <p:cNvPr id="597" name="Google Shape;597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849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850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851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8523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Logs</a:t>
            </a:r>
            <a:endParaRPr/>
          </a:p>
        </p:txBody>
      </p:sp>
      <p:sp>
        <p:nvSpPr>
          <p:cNvPr id="608" name="Google Shape;608;p4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2"/>
          <p:cNvSpPr txBox="1"/>
          <p:nvPr/>
        </p:nvSpPr>
        <p:spPr>
          <a:xfrm>
            <a:off x="381000" y="6324600"/>
            <a:ext cx="8493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10" name="Google Shape;610;p42"/>
          <p:cNvSpPr txBox="1"/>
          <p:nvPr/>
        </p:nvSpPr>
        <p:spPr>
          <a:xfrm>
            <a:off x="952500" y="2513558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Every Lambda function automatically streams its standard output (`console.log`, `print`) to Amazon CloudWatch Logs.</a:t>
            </a:r>
            <a:endParaRPr/>
          </a:p>
        </p:txBody>
      </p:sp>
      <p:sp>
        <p:nvSpPr>
          <p:cNvPr id="611" name="Google Shape;611;p42"/>
          <p:cNvSpPr txBox="1"/>
          <p:nvPr/>
        </p:nvSpPr>
        <p:spPr>
          <a:xfrm>
            <a:off x="952500" y="33136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View Logs: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Organized into Log Groups (by function) and Log Streams (by execution environment).</a:t>
            </a:r>
            <a:endParaRPr/>
          </a:p>
        </p:txBody>
      </p:sp>
      <p:sp>
        <p:nvSpPr>
          <p:cNvPr id="612" name="Google Shape;612;p42"/>
          <p:cNvSpPr txBox="1"/>
          <p:nvPr/>
        </p:nvSpPr>
        <p:spPr>
          <a:xfrm>
            <a:off x="952500" y="37994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Debug Code Errors: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Easily track down stack traces, exceptions, and custom debug messages.</a:t>
            </a:r>
            <a:endParaRPr/>
          </a:p>
        </p:txBody>
      </p:sp>
      <p:sp>
        <p:nvSpPr>
          <p:cNvPr id="613" name="Google Shape;613;p42"/>
          <p:cNvSpPr txBox="1"/>
          <p:nvPr/>
        </p:nvSpPr>
        <p:spPr>
          <a:xfrm>
            <a:off x="952500" y="42852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Retention: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Configure log retention policies to save costs on storage.</a:t>
            </a:r>
            <a:endParaRPr/>
          </a:p>
        </p:txBody>
      </p:sp>
      <p:pic>
        <p:nvPicPr>
          <p:cNvPr id="614" name="Google Shape;614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652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422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8070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384"/>
            <a:ext cx="352425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459384"/>
            <a:ext cx="352425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59384"/>
            <a:ext cx="352425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3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Troubleshooting Example</a:t>
            </a:r>
            <a:endParaRPr/>
          </a:p>
        </p:txBody>
      </p:sp>
      <p:sp>
        <p:nvSpPr>
          <p:cNvPr id="628" name="Google Shape;628;p43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3"/>
          <p:cNvSpPr txBox="1"/>
          <p:nvPr/>
        </p:nvSpPr>
        <p:spPr>
          <a:xfrm>
            <a:off x="381000" y="6324600"/>
            <a:ext cx="10071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30" name="Google Shape;630;p43"/>
          <p:cNvSpPr txBox="1"/>
          <p:nvPr/>
        </p:nvSpPr>
        <p:spPr>
          <a:xfrm>
            <a:off x="1833562" y="3316634"/>
            <a:ext cx="100012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Error</a:t>
            </a:r>
            <a:endParaRPr/>
          </a:p>
        </p:txBody>
      </p:sp>
      <p:sp>
        <p:nvSpPr>
          <p:cNvPr id="631" name="Google Shape;631;p43"/>
          <p:cNvSpPr txBox="1"/>
          <p:nvPr/>
        </p:nvSpPr>
        <p:spPr>
          <a:xfrm>
            <a:off x="819150" y="36632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Client receives a "404 Not Found" or "Missing Authentication Token" when making an HTTP API request.</a:t>
            </a:r>
            <a:endParaRPr/>
          </a:p>
        </p:txBody>
      </p:sp>
      <p:sp>
        <p:nvSpPr>
          <p:cNvPr id="632" name="Google Shape;632;p43"/>
          <p:cNvSpPr txBox="1"/>
          <p:nvPr/>
        </p:nvSpPr>
        <p:spPr>
          <a:xfrm>
            <a:off x="5520928" y="3316634"/>
            <a:ext cx="115014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Cause</a:t>
            </a:r>
            <a:endParaRPr/>
          </a:p>
        </p:txBody>
      </p:sp>
      <p:sp>
        <p:nvSpPr>
          <p:cNvPr id="633" name="Google Shape;633;p43"/>
          <p:cNvSpPr txBox="1"/>
          <p:nvPr/>
        </p:nvSpPr>
        <p:spPr>
          <a:xfrm>
            <a:off x="4581525" y="3663255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API Gateway route is either completely missing, misspelled, or expecting a different HTTP method (GET vs POST).</a:t>
            </a:r>
            <a:endParaRPr/>
          </a:p>
        </p:txBody>
      </p:sp>
      <p:sp>
        <p:nvSpPr>
          <p:cNvPr id="634" name="Google Shape;634;p43"/>
          <p:cNvSpPr txBox="1"/>
          <p:nvPr/>
        </p:nvSpPr>
        <p:spPr>
          <a:xfrm>
            <a:off x="9463325" y="3316634"/>
            <a:ext cx="79009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Fix</a:t>
            </a:r>
            <a:endParaRPr/>
          </a:p>
        </p:txBody>
      </p:sp>
      <p:sp>
        <p:nvSpPr>
          <p:cNvPr id="635" name="Google Shape;635;p43"/>
          <p:cNvSpPr txBox="1"/>
          <p:nvPr/>
        </p:nvSpPr>
        <p:spPr>
          <a:xfrm>
            <a:off x="8343900" y="36632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Verify the route definition in API Gateway, ensure it is linked to the correct Lambda, and critically: deploy the stage.</a:t>
            </a:r>
            <a:endParaRPr/>
          </a:p>
        </p:txBody>
      </p:sp>
      <p:pic>
        <p:nvPicPr>
          <p:cNvPr id="636" name="Google Shape;636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7451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7451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7875" y="274513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4"/>
          <p:cNvSpPr txBox="1"/>
          <p:nvPr/>
        </p:nvSpPr>
        <p:spPr>
          <a:xfrm>
            <a:off x="4730829" y="2581275"/>
            <a:ext cx="27303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6</a:t>
            </a:r>
            <a:endParaRPr/>
          </a:p>
        </p:txBody>
      </p:sp>
      <p:sp>
        <p:nvSpPr>
          <p:cNvPr id="646" name="Google Shape;646;p44"/>
          <p:cNvSpPr txBox="1"/>
          <p:nvPr/>
        </p:nvSpPr>
        <p:spPr>
          <a:xfrm>
            <a:off x="4838700" y="3457575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Security Best Practices</a:t>
            </a:r>
            <a:endParaRPr/>
          </a:p>
        </p:txBody>
      </p:sp>
      <p:sp>
        <p:nvSpPr>
          <p:cNvPr id="647" name="Google Shape;647;p44"/>
          <p:cNvSpPr txBox="1"/>
          <p:nvPr/>
        </p:nvSpPr>
        <p:spPr>
          <a:xfrm>
            <a:off x="381000" y="6324600"/>
            <a:ext cx="10358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5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IAM Security</a:t>
            </a:r>
            <a:endParaRPr/>
          </a:p>
        </p:txBody>
      </p:sp>
      <p:sp>
        <p:nvSpPr>
          <p:cNvPr id="655" name="Google Shape;655;p45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5"/>
          <p:cNvSpPr txBox="1"/>
          <p:nvPr/>
        </p:nvSpPr>
        <p:spPr>
          <a:xfrm>
            <a:off x="381000" y="6324600"/>
            <a:ext cx="8852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57" name="Google Shape;657;p45"/>
          <p:cNvSpPr txBox="1"/>
          <p:nvPr/>
        </p:nvSpPr>
        <p:spPr>
          <a:xfrm>
            <a:off x="952500" y="2513558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Least Privilege Access: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Never use wildcard permissions (`*`) in production. Specify exact actions and resources.</a:t>
            </a:r>
            <a:endParaRPr/>
          </a:p>
        </p:txBody>
      </p:sp>
      <p:sp>
        <p:nvSpPr>
          <p:cNvPr id="658" name="Google Shape;658;p45"/>
          <p:cNvSpPr txBox="1"/>
          <p:nvPr/>
        </p:nvSpPr>
        <p:spPr>
          <a:xfrm>
            <a:off x="952500" y="33136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Role Policies: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One IAM role per Lambda function. Do not share roles across multiple functions.</a:t>
            </a:r>
            <a:endParaRPr/>
          </a:p>
        </p:txBody>
      </p:sp>
      <p:sp>
        <p:nvSpPr>
          <p:cNvPr id="659" name="Google Shape;659;p45"/>
          <p:cNvSpPr txBox="1"/>
          <p:nvPr/>
        </p:nvSpPr>
        <p:spPr>
          <a:xfrm>
            <a:off x="952500" y="37994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Resource Policies: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Control which external AWS services (like S3) are allowed to trigger your function.</a:t>
            </a:r>
            <a:endParaRPr/>
          </a:p>
        </p:txBody>
      </p:sp>
      <p:sp>
        <p:nvSpPr>
          <p:cNvPr id="660" name="Google Shape;660;p45"/>
          <p:cNvSpPr txBox="1"/>
          <p:nvPr/>
        </p:nvSpPr>
        <p:spPr>
          <a:xfrm>
            <a:off x="952500" y="42852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Auditing: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 AWS CloudTrail to monitor when and by whom your function configurations are modified.</a:t>
            </a:r>
            <a:endParaRPr/>
          </a:p>
        </p:txBody>
      </p:sp>
      <p:pic>
        <p:nvPicPr>
          <p:cNvPr id="661" name="Google Shape;661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65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422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80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4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Environment Variable Encryption</a:t>
            </a:r>
            <a:endParaRPr/>
          </a:p>
        </p:txBody>
      </p:sp>
      <p:sp>
        <p:nvSpPr>
          <p:cNvPr id="674" name="Google Shape;674;p4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6"/>
          <p:cNvSpPr txBox="1"/>
          <p:nvPr/>
        </p:nvSpPr>
        <p:spPr>
          <a:xfrm>
            <a:off x="381000" y="6324600"/>
            <a:ext cx="84683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76" name="Google Shape;676;p46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Protect Secrets</a:t>
            </a:r>
            <a:endParaRPr/>
          </a:p>
        </p:txBody>
      </p:sp>
      <p:sp>
        <p:nvSpPr>
          <p:cNvPr id="677" name="Google Shape;677;p46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Environment variables are stored at rest securely, but they are visible in plain text inside the AWS Console to anyone with view access to the function.</a:t>
            </a:r>
            <a:endParaRPr/>
          </a:p>
        </p:txBody>
      </p:sp>
      <p:sp>
        <p:nvSpPr>
          <p:cNvPr id="678" name="Google Shape;678;p46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Use AWS KMS</a:t>
            </a:r>
            <a:endParaRPr/>
          </a:p>
        </p:txBody>
      </p:sp>
      <p:sp>
        <p:nvSpPr>
          <p:cNvPr id="679" name="Google Shape;679;p46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For sensitive data like passwords or API keys, encrypt the variables using AWS Key Management Service (KMS) or store them securely in AWS Secrets Manager.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VPC Integration</a:t>
            </a:r>
            <a:endParaRPr/>
          </a:p>
        </p:txBody>
      </p:sp>
      <p:sp>
        <p:nvSpPr>
          <p:cNvPr id="687" name="Google Shape;687;p4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7"/>
          <p:cNvSpPr txBox="1"/>
          <p:nvPr/>
        </p:nvSpPr>
        <p:spPr>
          <a:xfrm>
            <a:off x="381000" y="6324600"/>
            <a:ext cx="7648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89" name="Google Shape;689;p47"/>
          <p:cNvSpPr txBox="1"/>
          <p:nvPr/>
        </p:nvSpPr>
        <p:spPr>
          <a:xfrm>
            <a:off x="952500" y="2356395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By default, Lambda runs in a secure AWS-managed VPC with internet access.</a:t>
            </a:r>
            <a:endParaRPr/>
          </a:p>
        </p:txBody>
      </p:sp>
      <p:sp>
        <p:nvSpPr>
          <p:cNvPr id="690" name="Google Shape;690;p47"/>
          <p:cNvSpPr txBox="1"/>
          <p:nvPr/>
        </p:nvSpPr>
        <p:spPr>
          <a:xfrm>
            <a:off x="952500" y="284217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 Private Resources: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Attach Lambda to your custom VPC to access private RDS databases or ElastiCache clusters.</a:t>
            </a:r>
            <a:endParaRPr/>
          </a:p>
        </p:txBody>
      </p:sp>
      <p:sp>
        <p:nvSpPr>
          <p:cNvPr id="691" name="Google Shape;691;p47"/>
          <p:cNvSpPr txBox="1"/>
          <p:nvPr/>
        </p:nvSpPr>
        <p:spPr>
          <a:xfrm>
            <a:off x="952500" y="364227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Networking: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Requires specifying VPC Subnets and Security Groups.</a:t>
            </a:r>
            <a:endParaRPr/>
          </a:p>
        </p:txBody>
      </p:sp>
      <p:sp>
        <p:nvSpPr>
          <p:cNvPr id="692" name="Google Shape;692;p47"/>
          <p:cNvSpPr txBox="1"/>
          <p:nvPr/>
        </p:nvSpPr>
        <p:spPr>
          <a:xfrm>
            <a:off x="952500" y="412804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Internet Access: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VPC-attached Lambda loses default internet access; requires a NAT Gateway to reach public APIs.</a:t>
            </a:r>
            <a:endParaRPr/>
          </a:p>
        </p:txBody>
      </p:sp>
      <p:pic>
        <p:nvPicPr>
          <p:cNvPr id="693" name="Google Shape;693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9925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850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851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0908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17B629-D070-6C78-ED16-B16CFE355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800"/>
            <a:ext cx="12192000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25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Food Delivery Architecture</a:t>
            </a:r>
            <a:endParaRPr/>
          </a:p>
        </p:txBody>
      </p:sp>
      <p:sp>
        <p:nvSpPr>
          <p:cNvPr id="705" name="Google Shape;705;p4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8"/>
          <p:cNvSpPr txBox="1"/>
          <p:nvPr/>
        </p:nvSpPr>
        <p:spPr>
          <a:xfrm>
            <a:off x="381000" y="6324600"/>
            <a:ext cx="82807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707" name="Google Shape;707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8"/>
          <p:cNvSpPr txBox="1"/>
          <p:nvPr/>
        </p:nvSpPr>
        <p:spPr>
          <a:xfrm>
            <a:off x="952500" y="242783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App: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User submits order.</a:t>
            </a:r>
            <a:endParaRPr/>
          </a:p>
        </p:txBody>
      </p:sp>
      <p:sp>
        <p:nvSpPr>
          <p:cNvPr id="709" name="Google Shape;709;p48"/>
          <p:cNvSpPr txBox="1"/>
          <p:nvPr/>
        </p:nvSpPr>
        <p:spPr>
          <a:xfrm>
            <a:off x="952500" y="2913608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Routes request securely.</a:t>
            </a:r>
            <a:endParaRPr/>
          </a:p>
        </p:txBody>
      </p:sp>
      <p:sp>
        <p:nvSpPr>
          <p:cNvPr id="710" name="Google Shape;710;p48"/>
          <p:cNvSpPr txBox="1"/>
          <p:nvPr/>
        </p:nvSpPr>
        <p:spPr>
          <a:xfrm>
            <a:off x="952500" y="339938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Processes order, applies logic.</a:t>
            </a:r>
            <a:endParaRPr/>
          </a:p>
        </p:txBody>
      </p:sp>
      <p:sp>
        <p:nvSpPr>
          <p:cNvPr id="711" name="Google Shape;711;p48"/>
          <p:cNvSpPr txBox="1"/>
          <p:nvPr/>
        </p:nvSpPr>
        <p:spPr>
          <a:xfrm>
            <a:off x="952500" y="3885158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Saves order state.</a:t>
            </a:r>
            <a:endParaRPr/>
          </a:p>
        </p:txBody>
      </p:sp>
      <p:sp>
        <p:nvSpPr>
          <p:cNvPr id="712" name="Google Shape;712;p48"/>
          <p:cNvSpPr txBox="1"/>
          <p:nvPr/>
        </p:nvSpPr>
        <p:spPr>
          <a:xfrm>
            <a:off x="952500" y="437093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Payment Service: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Third-party API invoked.</a:t>
            </a:r>
            <a:endParaRPr/>
          </a:p>
        </p:txBody>
      </p:sp>
      <p:pic>
        <p:nvPicPr>
          <p:cNvPr id="713" name="Google Shape;713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4706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95647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4422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9280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441379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E-Commerce System (Event Flow)</a:t>
            </a:r>
            <a:endParaRPr/>
          </a:p>
        </p:txBody>
      </p:sp>
      <p:sp>
        <p:nvSpPr>
          <p:cNvPr id="725" name="Google Shape;725;p4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9"/>
          <p:cNvSpPr txBox="1"/>
          <p:nvPr/>
        </p:nvSpPr>
        <p:spPr>
          <a:xfrm>
            <a:off x="381000" y="6324600"/>
            <a:ext cx="8916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27" name="Google Shape;727;p49"/>
          <p:cNvSpPr/>
          <p:nvPr/>
        </p:nvSpPr>
        <p:spPr>
          <a:xfrm>
            <a:off x="571500" y="3861345"/>
            <a:ext cx="110490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9"/>
          <p:cNvSpPr txBox="1"/>
          <p:nvPr/>
        </p:nvSpPr>
        <p:spPr>
          <a:xfrm>
            <a:off x="507968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1. Product Upload</a:t>
            </a:r>
            <a:endParaRPr/>
          </a:p>
        </p:txBody>
      </p:sp>
      <p:sp>
        <p:nvSpPr>
          <p:cNvPr id="729" name="Google Shape;729;p49"/>
          <p:cNvSpPr txBox="1"/>
          <p:nvPr/>
        </p:nvSpPr>
        <p:spPr>
          <a:xfrm>
            <a:off x="571500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Vendor uploads image to S3; Lambda generates thumbnails.</a:t>
            </a:r>
            <a:endParaRPr/>
          </a:p>
        </p:txBody>
      </p:sp>
      <p:sp>
        <p:nvSpPr>
          <p:cNvPr id="730" name="Google Shape;730;p49"/>
          <p:cNvSpPr txBox="1"/>
          <p:nvPr/>
        </p:nvSpPr>
        <p:spPr>
          <a:xfrm>
            <a:off x="4761774" y="279082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2. Payment Processing</a:t>
            </a:r>
            <a:endParaRPr/>
          </a:p>
        </p:txBody>
      </p:sp>
      <p:sp>
        <p:nvSpPr>
          <p:cNvPr id="731" name="Google Shape;731;p49"/>
          <p:cNvSpPr txBox="1"/>
          <p:nvPr/>
        </p:nvSpPr>
        <p:spPr>
          <a:xfrm>
            <a:off x="4825305" y="313744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Gateway triggers Lambda to handle checkout transaction.</a:t>
            </a:r>
            <a:endParaRPr/>
          </a:p>
        </p:txBody>
      </p:sp>
      <p:sp>
        <p:nvSpPr>
          <p:cNvPr id="732" name="Google Shape;732;p49"/>
          <p:cNvSpPr txBox="1"/>
          <p:nvPr/>
        </p:nvSpPr>
        <p:spPr>
          <a:xfrm>
            <a:off x="9015579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3. Order Confirmation</a:t>
            </a:r>
            <a:endParaRPr/>
          </a:p>
        </p:txBody>
      </p:sp>
      <p:sp>
        <p:nvSpPr>
          <p:cNvPr id="733" name="Google Shape;733;p49"/>
          <p:cNvSpPr txBox="1"/>
          <p:nvPr/>
        </p:nvSpPr>
        <p:spPr>
          <a:xfrm>
            <a:off x="9079110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DynamoDB stream triggers Lambda to send SNS email receipt.</a:t>
            </a:r>
            <a:endParaRPr/>
          </a:p>
        </p:txBody>
      </p:sp>
      <p:sp>
        <p:nvSpPr>
          <p:cNvPr id="734" name="Google Shape;734;p49"/>
          <p:cNvSpPr/>
          <p:nvPr/>
        </p:nvSpPr>
        <p:spPr>
          <a:xfrm>
            <a:off x="1727820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9"/>
          <p:cNvSpPr/>
          <p:nvPr/>
        </p:nvSpPr>
        <p:spPr>
          <a:xfrm>
            <a:off x="5981625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9"/>
          <p:cNvSpPr/>
          <p:nvPr/>
        </p:nvSpPr>
        <p:spPr>
          <a:xfrm>
            <a:off x="10235431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0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Companies Using Lambda</a:t>
            </a:r>
            <a:endParaRPr/>
          </a:p>
        </p:txBody>
      </p:sp>
      <p:sp>
        <p:nvSpPr>
          <p:cNvPr id="747" name="Google Shape;747;p50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0"/>
          <p:cNvSpPr txBox="1"/>
          <p:nvPr/>
        </p:nvSpPr>
        <p:spPr>
          <a:xfrm>
            <a:off x="381000" y="6324600"/>
            <a:ext cx="82406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49" name="Google Shape;749;p50"/>
          <p:cNvSpPr txBox="1"/>
          <p:nvPr/>
        </p:nvSpPr>
        <p:spPr>
          <a:xfrm>
            <a:off x="1978580" y="3430934"/>
            <a:ext cx="71008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Netflix</a:t>
            </a:r>
            <a:endParaRPr/>
          </a:p>
        </p:txBody>
      </p:sp>
      <p:sp>
        <p:nvSpPr>
          <p:cNvPr id="750" name="Google Shape;750;p50"/>
          <p:cNvSpPr txBox="1"/>
          <p:nvPr/>
        </p:nvSpPr>
        <p:spPr>
          <a:xfrm>
            <a:off x="81915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Uses Lambda for media processing, encoding files, and managing backup infrastructure.</a:t>
            </a:r>
            <a:endParaRPr/>
          </a:p>
        </p:txBody>
      </p:sp>
      <p:sp>
        <p:nvSpPr>
          <p:cNvPr id="751" name="Google Shape;751;p50"/>
          <p:cNvSpPr txBox="1"/>
          <p:nvPr/>
        </p:nvSpPr>
        <p:spPr>
          <a:xfrm>
            <a:off x="5730954" y="3430934"/>
            <a:ext cx="73009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Airbnb</a:t>
            </a:r>
            <a:endParaRPr/>
          </a:p>
        </p:txBody>
      </p:sp>
      <p:sp>
        <p:nvSpPr>
          <p:cNvPr id="752" name="Google Shape;752;p50"/>
          <p:cNvSpPr txBox="1"/>
          <p:nvPr/>
        </p:nvSpPr>
        <p:spPr>
          <a:xfrm>
            <a:off x="4581525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Relies on Serverless architecture for search infrastructure and asynchronous background jobs.</a:t>
            </a:r>
            <a:endParaRPr/>
          </a:p>
        </p:txBody>
      </p:sp>
      <p:sp>
        <p:nvSpPr>
          <p:cNvPr id="753" name="Google Shape;753;p50"/>
          <p:cNvSpPr txBox="1"/>
          <p:nvPr/>
        </p:nvSpPr>
        <p:spPr>
          <a:xfrm>
            <a:off x="9283303" y="3430934"/>
            <a:ext cx="115014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Coca-Cola</a:t>
            </a:r>
            <a:endParaRPr/>
          </a:p>
        </p:txBody>
      </p:sp>
      <p:sp>
        <p:nvSpPr>
          <p:cNvPr id="754" name="Google Shape;754;p50"/>
          <p:cNvSpPr txBox="1"/>
          <p:nvPr/>
        </p:nvSpPr>
        <p:spPr>
          <a:xfrm>
            <a:off x="834390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Migrated vending machine telemetry processing to a highly scalable serverless backend.</a:t>
            </a:r>
            <a:endParaRPr/>
          </a:p>
        </p:txBody>
      </p:sp>
      <p:pic>
        <p:nvPicPr>
          <p:cNvPr id="755" name="Google Shape;755;p5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9312" y="28594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5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8594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5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2859434"/>
            <a:ext cx="2381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A5B36F-E37F-ACB0-7518-70AA9ED7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0555"/>
            <a:ext cx="12192000" cy="71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096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rverless Architectures &amp; AWS Lambda Introduction">
            <a:extLst>
              <a:ext uri="{FF2B5EF4-FFF2-40B4-BE49-F238E27FC236}">
                <a16:creationId xmlns:a16="http://schemas.microsoft.com/office/drawing/2014/main" id="{3311A363-24CE-FDEE-53BC-6A4112C6F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0"/>
            <a:ext cx="12118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3049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AWS Lambda interview questions overview">
            <a:extLst>
              <a:ext uri="{FF2B5EF4-FFF2-40B4-BE49-F238E27FC236}">
                <a16:creationId xmlns:a16="http://schemas.microsoft.com/office/drawing/2014/main" id="{4286FA85-73F8-7EA3-4215-52E45B60E7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ABA9E-C2F4-4FEB-C6A5-68DC77549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6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46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/>
          </a:p>
        </p:txBody>
      </p:sp>
      <p:sp>
        <p:nvSpPr>
          <p:cNvPr id="790" name="Google Shape;790;p5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2"/>
          <p:cNvSpPr txBox="1"/>
          <p:nvPr/>
        </p:nvSpPr>
        <p:spPr>
          <a:xfrm>
            <a:off x="381000" y="6324600"/>
            <a:ext cx="8664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92" name="Google Shape;792;p52"/>
          <p:cNvSpPr txBox="1"/>
          <p:nvPr/>
        </p:nvSpPr>
        <p:spPr>
          <a:xfrm>
            <a:off x="952500" y="267072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Serverless reduces infrastructure management: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Focus entirely on your application's business logic.</a:t>
            </a:r>
            <a:endParaRPr/>
          </a:p>
        </p:txBody>
      </p:sp>
      <p:sp>
        <p:nvSpPr>
          <p:cNvPr id="793" name="Google Shape;793;p52"/>
          <p:cNvSpPr txBox="1"/>
          <p:nvPr/>
        </p:nvSpPr>
        <p:spPr>
          <a:xfrm>
            <a:off x="952500" y="3156495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 scales automatically: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Effortlessly handles sporadic and unpredictable traffic without provisioning.</a:t>
            </a:r>
            <a:endParaRPr/>
          </a:p>
        </p:txBody>
      </p:sp>
      <p:sp>
        <p:nvSpPr>
          <p:cNvPr id="794" name="Google Shape;794;p52"/>
          <p:cNvSpPr txBox="1"/>
          <p:nvPr/>
        </p:nvSpPr>
        <p:spPr>
          <a:xfrm>
            <a:off x="952500" y="364227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Event-driven systems improve performance: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Highly decoupled architectures lead to resilient applications.</a:t>
            </a:r>
            <a:endParaRPr/>
          </a:p>
        </p:txBody>
      </p:sp>
      <p:sp>
        <p:nvSpPr>
          <p:cNvPr id="795" name="Google Shape;795;p52"/>
          <p:cNvSpPr txBox="1"/>
          <p:nvPr/>
        </p:nvSpPr>
        <p:spPr>
          <a:xfrm>
            <a:off x="952500" y="4128045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 optimization: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Pay exclusively for the exact compute time your code consumes.</a:t>
            </a:r>
            <a:endParaRPr/>
          </a:p>
        </p:txBody>
      </p:sp>
      <p:pic>
        <p:nvPicPr>
          <p:cNvPr id="796" name="Google Shape;796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1358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9935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8513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0908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53"/>
          <p:cNvSpPr txBox="1"/>
          <p:nvPr/>
        </p:nvSpPr>
        <p:spPr>
          <a:xfrm>
            <a:off x="295275" y="4762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807" name="Google Shape;807;p53"/>
          <p:cNvSpPr txBox="1"/>
          <p:nvPr/>
        </p:nvSpPr>
        <p:spPr>
          <a:xfrm>
            <a:off x="571500" y="15811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Thank you for your time.</a:t>
            </a:r>
            <a:endParaRPr/>
          </a:p>
        </p:txBody>
      </p:sp>
      <p:sp>
        <p:nvSpPr>
          <p:cNvPr id="808" name="Google Shape;808;p53"/>
          <p:cNvSpPr txBox="1"/>
          <p:nvPr/>
        </p:nvSpPr>
        <p:spPr>
          <a:xfrm>
            <a:off x="381000" y="6405562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54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815" name="Google Shape;815;p54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4"/>
          <p:cNvSpPr/>
          <p:nvPr/>
        </p:nvSpPr>
        <p:spPr>
          <a:xfrm>
            <a:off x="1428750" y="1718220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4"/>
          <p:cNvSpPr/>
          <p:nvPr/>
        </p:nvSpPr>
        <p:spPr>
          <a:xfrm>
            <a:off x="1428750" y="2489745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4"/>
          <p:cNvSpPr/>
          <p:nvPr/>
        </p:nvSpPr>
        <p:spPr>
          <a:xfrm>
            <a:off x="1428750" y="3261270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4"/>
          <p:cNvSpPr/>
          <p:nvPr/>
        </p:nvSpPr>
        <p:spPr>
          <a:xfrm>
            <a:off x="1428750" y="4032795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4"/>
          <p:cNvSpPr/>
          <p:nvPr/>
        </p:nvSpPr>
        <p:spPr>
          <a:xfrm>
            <a:off x="1428750" y="248022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4"/>
          <p:cNvSpPr/>
          <p:nvPr/>
        </p:nvSpPr>
        <p:spPr>
          <a:xfrm>
            <a:off x="1428750" y="248022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4"/>
          <p:cNvSpPr/>
          <p:nvPr/>
        </p:nvSpPr>
        <p:spPr>
          <a:xfrm>
            <a:off x="1428750" y="325174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4"/>
          <p:cNvSpPr/>
          <p:nvPr/>
        </p:nvSpPr>
        <p:spPr>
          <a:xfrm>
            <a:off x="1428750" y="325174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4"/>
          <p:cNvSpPr/>
          <p:nvPr/>
        </p:nvSpPr>
        <p:spPr>
          <a:xfrm>
            <a:off x="1428750" y="402327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4"/>
          <p:cNvSpPr/>
          <p:nvPr/>
        </p:nvSpPr>
        <p:spPr>
          <a:xfrm>
            <a:off x="1428750" y="402327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4"/>
          <p:cNvSpPr/>
          <p:nvPr/>
        </p:nvSpPr>
        <p:spPr>
          <a:xfrm>
            <a:off x="1428750" y="479479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4"/>
          <p:cNvSpPr/>
          <p:nvPr/>
        </p:nvSpPr>
        <p:spPr>
          <a:xfrm>
            <a:off x="1428750" y="479479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8" name="Google Shape;828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750" y="18610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54"/>
          <p:cNvSpPr txBox="1"/>
          <p:nvPr/>
        </p:nvSpPr>
        <p:spPr>
          <a:xfrm>
            <a:off x="2524125" y="1868239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https://www.stackscale.com/wp-content/uploads/2020/04/cloud-service-models-iaas-paas-saas-stackscale.jpg</a:t>
            </a:r>
            <a:endParaRPr/>
          </a:p>
        </p:txBody>
      </p:sp>
      <p:sp>
        <p:nvSpPr>
          <p:cNvPr id="830" name="Google Shape;830;p54"/>
          <p:cNvSpPr txBox="1"/>
          <p:nvPr/>
        </p:nvSpPr>
        <p:spPr>
          <a:xfrm>
            <a:off x="2524125" y="2101601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www.stackscale.com</a:t>
            </a:r>
            <a:endParaRPr/>
          </a:p>
        </p:txBody>
      </p:sp>
      <p:pic>
        <p:nvPicPr>
          <p:cNvPr id="831" name="Google Shape;831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8750" y="26326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54"/>
          <p:cNvSpPr txBox="1"/>
          <p:nvPr/>
        </p:nvSpPr>
        <p:spPr>
          <a:xfrm>
            <a:off x="2524125" y="2639764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https://d2908q01vomqb2.cloudfront.net/fc074d501302eb2b93e2554793fcaf50b3bf7291/2021/07/20/Serverles-Antipatterns-Example-1.png</a:t>
            </a:r>
            <a:endParaRPr/>
          </a:p>
        </p:txBody>
      </p:sp>
      <p:sp>
        <p:nvSpPr>
          <p:cNvPr id="833" name="Google Shape;833;p54"/>
          <p:cNvSpPr txBox="1"/>
          <p:nvPr/>
        </p:nvSpPr>
        <p:spPr>
          <a:xfrm>
            <a:off x="2524125" y="2873126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id="834" name="Google Shape;834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8750" y="34041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54"/>
          <p:cNvSpPr txBox="1"/>
          <p:nvPr/>
        </p:nvSpPr>
        <p:spPr>
          <a:xfrm>
            <a:off x="2524125" y="3411289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https://miro.medium.com/v2/resize:fit:1200/1*WK_-gPDoCp29u8_MfStF7g.png</a:t>
            </a:r>
            <a:endParaRPr/>
          </a:p>
        </p:txBody>
      </p:sp>
      <p:sp>
        <p:nvSpPr>
          <p:cNvPr id="836" name="Google Shape;836;p54"/>
          <p:cNvSpPr txBox="1"/>
          <p:nvPr/>
        </p:nvSpPr>
        <p:spPr>
          <a:xfrm>
            <a:off x="2524125" y="3644651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id="837" name="Google Shape;837;p5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28750" y="41756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54"/>
          <p:cNvSpPr txBox="1"/>
          <p:nvPr/>
        </p:nvSpPr>
        <p:spPr>
          <a:xfrm>
            <a:off x="2524125" y="4182814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https://docs.aws.amazon.com/images/AmazonCloudWatch/latest/monitoring/images/CW-default-dashboard-update.png</a:t>
            </a:r>
            <a:endParaRPr/>
          </a:p>
        </p:txBody>
      </p:sp>
      <p:sp>
        <p:nvSpPr>
          <p:cNvPr id="839" name="Google Shape;839;p54"/>
          <p:cNvSpPr txBox="1"/>
          <p:nvPr/>
        </p:nvSpPr>
        <p:spPr>
          <a:xfrm>
            <a:off x="2524125" y="4416176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docs.aws.amazon.com</a:t>
            </a:r>
            <a:endParaRPr/>
          </a:p>
        </p:txBody>
      </p:sp>
      <p:pic>
        <p:nvPicPr>
          <p:cNvPr id="840" name="Google Shape;840;p5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8750" y="49471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54"/>
          <p:cNvSpPr txBox="1"/>
          <p:nvPr/>
        </p:nvSpPr>
        <p:spPr>
          <a:xfrm>
            <a:off x="2524125" y="4954339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https://cdn.dribbble.com/userupload/42825309/file/original-9d4ec93f3216e5b017cbe5e53393d17e.png?resize=752x&amp;vertical=center</a:t>
            </a:r>
            <a:endParaRPr/>
          </a:p>
        </p:txBody>
      </p:sp>
      <p:sp>
        <p:nvSpPr>
          <p:cNvPr id="842" name="Google Shape;842;p54"/>
          <p:cNvSpPr txBox="1"/>
          <p:nvPr/>
        </p:nvSpPr>
        <p:spPr>
          <a:xfrm>
            <a:off x="2524125" y="5187701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2334</Words>
  <Application>Microsoft Office PowerPoint</Application>
  <PresentationFormat>Widescreen</PresentationFormat>
  <Paragraphs>267</Paragraphs>
  <Slides>48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ADLAGATTA VIGNESH</dc:creator>
  <cp:lastModifiedBy>ADLAGATTA VIGNESH</cp:lastModifiedBy>
  <cp:revision>4</cp:revision>
  <dcterms:modified xsi:type="dcterms:W3CDTF">2026-03-16T18:19:29Z</dcterms:modified>
</cp:coreProperties>
</file>