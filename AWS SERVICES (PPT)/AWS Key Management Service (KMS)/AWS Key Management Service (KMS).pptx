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DM Sans" pitchFamily="2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76C930-2C56-4858-A588-F657968CD419}">
  <a:tblStyle styleId="{7476C930-2C56-4858-A588-F657968CD4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54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4814888"/>
            <a:ext cx="28575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5333" y="2681287"/>
            <a:ext cx="10661332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AWS </a:t>
            </a:r>
            <a:r>
              <a:rPr lang="en-US" sz="5400" b="1" i="0" u="none" strike="noStrike" cap="non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Key Management Service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90800" y="3816548"/>
            <a:ext cx="70104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Cloud Encryption &amp; Strategic Key Management at Scale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924425" y="5014763"/>
            <a:ext cx="23431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Cloud Security Architecture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5F692-054D-EDAC-3F78-FE333DBCFCA8}"/>
              </a:ext>
            </a:extLst>
          </p:cNvPr>
          <p:cNvSpPr txBox="1"/>
          <p:nvPr/>
        </p:nvSpPr>
        <p:spPr>
          <a:xfrm>
            <a:off x="4326194" y="5422387"/>
            <a:ext cx="3333135" cy="39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Presented By Vignesh Adlagatta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90787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Foundations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9671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Introduction to encryption concepts and cloud data challenges.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740175" y="35290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AWS KMS Core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40175" y="39671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Features, architecture, and the mechanics of envelope encryption.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8813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51847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18475" y="39671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Implementation workflow, integrations, and security best practices.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SESSION AGENDA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Fundamentals of Encryption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data in the modern cloud landscape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18811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Encryption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process of converting plaintext information into ciphertext using mathematical algorithms and a secret key.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52500" y="29860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Confidentiality: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Only authorized parties can read data.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37861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Integrity: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 unauthorized changes to information.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45862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Authenticity: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Verify the identity of the sender.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50815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Compliance: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Meet regulatory standards (GDPR, HIPAA, PCI-DSS).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DEFINING DATA ENCRYPTION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86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861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862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815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4637"/>
            <a:ext cx="34924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14637"/>
            <a:ext cx="3492549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14637"/>
            <a:ext cx="34924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62025" y="320516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Symmetric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364331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Same key for encryption and decryption. High speed, ideal for bulk data.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40175" y="320516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Asymmetric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740175" y="364331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Public/Private key pairs. Secure key exchange and digital signatures.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18475" y="320516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At Rest / Transit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18475" y="364331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Protecting data stored on disks vs. data moving across networks.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ENCRYPTION MODALITIES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AWS KMS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heart of AWS security infrastructure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6381750" y="20335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AWS KMS is a managed service that makes it easy for you to create and control the cryptographic keys used to protect your data.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62750" y="31384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FIPS 140-2 Level 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Hardware-backed security modules (HSM).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62750" y="39385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Highly Integrated: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Native support for 100+ AWS services.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762750" y="47386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Scalable: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billions of requests per day.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762750" y="52339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Auditable: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usage is logged in AWS CloudTrail.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MANAGED KEY INFRASTRUCTURE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1384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9385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738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2339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90787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6202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Auto Rotation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62025" y="39671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Lower the blast radius by automatically rotating keys annually.</a:t>
            </a:r>
            <a:endParaRPr/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175" y="288131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740175" y="35290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Cost-Effective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4740175" y="3967162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$1 per KMS key per month. Pay only for what you use.</a:t>
            </a:r>
            <a:endParaRPr/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47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51847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HSM Protection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518475" y="396716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Keys are generated and used within specialized hardware.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STRATEGIC VALUE PROPOSITION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Core Concepts &amp; CMKs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the building blocks of KMS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5" y="4310062"/>
            <a:ext cx="1905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952500" y="22812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KMS Keys (CMKs):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Logical representation of a master key. Used to protect Data Keys.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52500" y="30813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Keys: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Encryption keys used to encrypt large datasets directly.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52500" y="38814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Key Policies: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Resource-based policies that control access to KMS keys.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52500" y="46815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Grants: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Temporary delegation of permissions to other AWS principals.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4875" y="28813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8991600" y="3833812"/>
            <a:ext cx="19050" cy="4762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HIERARCHICAL KEY MODEL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81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81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81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815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86812" y="3167062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762000" y="571500"/>
            <a:ext cx="535066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ENVELOPE ENCRYPTION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14763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method of protecting data by encrypting it with a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Key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and then encrypting that data key with a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KMS Master Key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25812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Large data is encrypted locally with symmetric keys.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52500" y="33813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 keys are stored alongside encrypted data in an encrypted format.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41814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 need to send massive datasets to KMS over the network.</a:t>
            </a:r>
            <a:endParaRPr/>
          </a:p>
        </p:txBody>
      </p:sp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1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81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814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7470D-548F-1BE0-92B4-79517231C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668" y="1095375"/>
            <a:ext cx="5766158" cy="3844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Architecture &amp; Workflows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 encryption happens in real-time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/>
          <p:nvPr/>
        </p:nvSpPr>
        <p:spPr>
          <a:xfrm>
            <a:off x="571500" y="387191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1729680" y="40624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510733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Request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39481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requests a Data Key from KMS using a CMK ID.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4602360" y="40624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3383413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Generate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3444180" y="39481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KMS sends Plaintext Data Key + Encrypted Data Key.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7475041" y="40624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6256094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Encrypt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6316860" y="39481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encrypts data locally; deletes Plaintext Data Key.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10347721" y="40624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9128774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9189541" y="3948112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Encrypted data + Encrypted Data Key are stored.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 ARCHITECTURE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AWS Service Integrations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 protection across the ecosystem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3187"/>
            <a:ext cx="34924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43187"/>
            <a:ext cx="3492549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643187"/>
            <a:ext cx="34924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033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962025" y="36814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Amazon S3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962025" y="411956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Server-side encryption for buckets and objects.</a:t>
            </a:r>
            <a:endParaRPr/>
          </a:p>
        </p:txBody>
      </p:sp>
      <p:pic>
        <p:nvPicPr>
          <p:cNvPr id="285" name="Google Shape;285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3033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4740175" y="36814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Amazon EBS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4740175" y="4119562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Encrypted volumes and snapshots for EC2.</a:t>
            </a:r>
            <a:endParaRPr/>
          </a:p>
        </p:txBody>
      </p:sp>
      <p:pic>
        <p:nvPicPr>
          <p:cNvPr id="288" name="Google Shape;28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30337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8518475" y="36814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Amazon RDS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8518475" y="411956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Encryption at rest for databases and backups.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UNIFIED KEY MANAGEMENT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/>
          <p:nvPr/>
        </p:nvSpPr>
        <p:spPr>
          <a:xfrm>
            <a:off x="571500" y="368617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3118246" y="368617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6631334" y="368617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71500" y="427672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118246" y="427672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6631334" y="427672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71500" y="486727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118246" y="486727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6631334" y="486727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71500" y="545782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3118246" y="545782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6631334" y="545782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KMS SECURITY MODEL</a:t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58AE6-463E-E209-5FE1-68C3A9268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04862"/>
            <a:ext cx="10993386" cy="55436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Best Practices &amp; Costs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for security and performance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952500" y="22812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Principle of Least Privilege: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Segregate administrators from key users.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952500" y="30813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Enable Rotation: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AWS Managed rotation for security hygiene.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952500" y="38814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Region Strategy: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Multi-Region keys for global compliance/DR.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952500" y="46815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Monitoring: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Alert on "ScheduleKeyDeletion" events immediately.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SECURITY GOVERNANCE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81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81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81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815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571500" y="54911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*Use AWS Managed Keys whenever possible to eliminate per-key storage costs.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KMS COST EFFICIENCY</a:t>
            </a: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C08BA-00A3-BE34-B15A-2CA9DFB2D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357" y="1907459"/>
            <a:ext cx="3384881" cy="2489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ECA969-84AA-801C-9623-A805C63C9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07459"/>
            <a:ext cx="3384881" cy="2597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7865E7-4E74-D987-99EA-D03E593085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2201" y="1907459"/>
            <a:ext cx="3647598" cy="24317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295275" y="571500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Q&amp;A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571500" y="22479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 your cloud journey with strategic key management.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571500" y="324609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more details, visit: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aws.amazon.com/kms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571500" y="355089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Follow AWS Security Best Practices Whitepapers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/>
          <p:nvPr/>
        </p:nvSpPr>
        <p:spPr>
          <a:xfrm>
            <a:off x="571500" y="147637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571500" y="245923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71500" y="324400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571500" y="422686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571500" y="501163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71500" y="24497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571500" y="24497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571500" y="32344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571500" y="32344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571500" y="4217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571500" y="4217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571500" y="50021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571500" y="50021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571500" y="598497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71500" y="598497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1666875" y="161925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https://conceptdraw.com/a3130c3/p19/preview/640/pict--aws-kms-aws-security,-identity-and-compliance---vector-stencils-library.png--diagram-flowchart-example.png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1666875" y="20630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www.conceptdraw.com</a:t>
            </a:r>
            <a:endParaRPr/>
          </a:p>
        </p:txBody>
      </p:sp>
      <p:pic>
        <p:nvPicPr>
          <p:cNvPr id="379" name="Google Shape;379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08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1666875" y="26021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https://cdn.prod.website-files.com/63e21dce115cee384ab9eeca/68cbd087750df3344ac51fa2_Cloud%20data%20security%20guide%20visual%204.webp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1666875" y="28478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www.sentra.io</a:t>
            </a:r>
            <a:endParaRPr/>
          </a:p>
        </p:txBody>
      </p:sp>
      <p:pic>
        <p:nvPicPr>
          <p:cNvPr id="382" name="Google Shape;38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9254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1666875" y="338688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https://static.vecteezy.com/system/resources/previews/035/728/677/non_2x/3d-security-shield-lock-check-mark-and-cloud-cyber-protection-3d-rendering-password-protected-icon-for-mobile-applications-and-website-concept-illustration-vector.jpg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1666875" y="38306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385" name="Google Shape;385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762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 txBox="1"/>
          <p:nvPr/>
        </p:nvSpPr>
        <p:spPr>
          <a:xfrm>
            <a:off x="1666875" y="436974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https://cdn.hashnode.com/res/hashnode/image/upload/v1635198756845/mXf8rwGhU.png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1666875" y="46154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www.freecodecamp.org</a:t>
            </a:r>
            <a:endParaRPr/>
          </a:p>
        </p:txBody>
      </p:sp>
      <p:pic>
        <p:nvPicPr>
          <p:cNvPr id="388" name="Google Shape;388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2601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 txBox="1"/>
          <p:nvPr/>
        </p:nvSpPr>
        <p:spPr>
          <a:xfrm>
            <a:off x="1666875" y="515451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https://static.vecteezy.com/system/resources/previews/015/286/163/non_2x/abstract-background-digital-concept-cybersecurity-shield-anti-virus-malware-spy-protection-cyber-theft-security-on-a-blue-black-background-vector.jpg</a:t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1666875" y="559831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391" name="Google Shape;391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61439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1666875" y="613737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https://img.freepik.com/premium-vector/exploring-global-computer-network-infrastructure_18660-6632.jpg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1666875" y="63830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IMAGE SOURCES</a:t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811</Words>
  <Application>Microsoft Office PowerPoint</Application>
  <PresentationFormat>Widescreen</PresentationFormat>
  <Paragraphs>106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Arial</vt:lpstr>
      <vt:lpstr>DM Sans</vt:lpstr>
      <vt:lpstr>Lato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ADLAGATTA VIGNESH</cp:lastModifiedBy>
  <cp:revision>2</cp:revision>
  <dcterms:modified xsi:type="dcterms:W3CDTF">2026-04-04T17:21:34Z</dcterms:modified>
</cp:coreProperties>
</file>