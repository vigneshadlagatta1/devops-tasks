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96" r:id="rId7"/>
    <p:sldId id="262" r:id="rId8"/>
    <p:sldId id="263" r:id="rId9"/>
    <p:sldId id="297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embeddedFontLst>
    <p:embeddedFont>
      <p:font typeface="Lato" panose="020F0502020204030203" pitchFamily="34" charset="0"/>
      <p:regular r:id="rId43"/>
      <p:bold r:id="rId44"/>
      <p:italic r:id="rId45"/>
      <p:boldItalic r:id="rId46"/>
    </p:embeddedFont>
    <p:embeddedFont>
      <p:font typeface="Montserrat" panose="000005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3302DD-3372-4B47-951A-7BA99306A948}">
  <a:tblStyle styleId="{EB3302DD-3372-4B47-951A-7BA99306A94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0.png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0" y="4107953"/>
            <a:ext cx="3810000" cy="108763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662261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AWS MANAGED SERVICE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187922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AWS Amazon MQ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048892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Managed Message Broker Service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191000" y="4307978"/>
            <a:ext cx="3810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Cloud Messaging Solution for Enterprise Applications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4191000" y="4951809"/>
            <a:ext cx="38100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AWS Technical Presentation Series 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Presented By Vignesh Adlagatta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2801540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Introduction to Messaging Systems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327201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What is Amazon MQ &amp; Why Use It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385286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Broker Engines: ActiveMQ &amp; RabbitMQ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4378523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Architecture &amp; Deployment Modes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15125" y="2801540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Setup, Security &amp; Network Configuration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15125" y="3327201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AWS Service Integrations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15125" y="385286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Real-World Use Cases &amp; Monitoring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15125" y="4378523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Best Practices &amp; Summary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0154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2720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52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785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80154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32720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852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37852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/>
          <p:nvPr/>
        </p:nvSpPr>
        <p:spPr>
          <a:xfrm>
            <a:off x="5715000" y="2519362"/>
            <a:ext cx="7620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295275" y="2843212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1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295275" y="3871912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Cloud Messaging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8628"/>
            <a:ext cx="3555950" cy="298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358628"/>
            <a:ext cx="3555950" cy="298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358628"/>
            <a:ext cx="3555950" cy="298846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WHAT IS MESSAGING MIDDLEWARE?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866775" y="334922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Distributed Apps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66775" y="3711178"/>
            <a:ext cx="29654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Enables communication between geographically dispersed or logicially separated components.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613225" y="334922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Decoupling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613225" y="371117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Decouples producers from consumers so they don't need to be online at the same time.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359675" y="334922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Asynchronous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359675" y="371117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Improves scalability and reliability by allowing non-blocking communication flows.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69200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69200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692003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PROBLEMS WITHOUT BROKERS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952500" y="1947862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Tight Coupling: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Services are directly dependent on each other.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52500" y="2808684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Poor Scalability: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Synchronous calls bottleneck the entire system.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52500" y="3669506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Failure Handling: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If the receiver is down, the message is lost.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52500" y="4530328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Latency: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Users wait for downstream processes to finish.</a:t>
            </a:r>
            <a:endParaRPr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947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0868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6950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3032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43D44-F133-BE91-8628-A432C8806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64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881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KEY BENEFITS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86677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Fully Managed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66775" y="3878758"/>
            <a:ext cx="29654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AWS handles patching, setup, and maintenance automatically.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61322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Secure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613225" y="3878758"/>
            <a:ext cx="29654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Encryption at rest and in transit. VPC integration for isolation.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35967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Migration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359675" y="387875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Easy migration for legacy apps using standard APIs like JMS and AMQP.</a:t>
            </a:r>
            <a:endParaRPr/>
          </a:p>
        </p:txBody>
      </p:sp>
      <p:pic>
        <p:nvPicPr>
          <p:cNvPr id="191" name="Google Shape;19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8595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8595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859583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2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Messaging Concepts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A2BFD7-5801-EF0F-F04F-2E5CFC143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F07CC4-6F43-22EA-7093-31E64E318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323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922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7272"/>
            <a:ext cx="5286375" cy="2771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67272"/>
            <a:ext cx="5286375" cy="277117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QUEUE VS. TOPIC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866775" y="2762547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The Queue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866775" y="3124497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Point-to-Point Messaging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866775" y="3602533"/>
            <a:ext cx="46958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Messages are sent to one specific queue. Only </a:t>
            </a: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one consumer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receives and processes a specific message. Perfect for task distribution.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629400" y="2762547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The Topic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629400" y="3124497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Publish / Subscribe Model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629400" y="3602533"/>
            <a:ext cx="46958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Messages are published to a topic. </a:t>
            </a: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Multiple consumers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(subscribers) can receive the same message simultaneously. Ideal for event broadcasting.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3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Amazon MQ Features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24112"/>
            <a:ext cx="52863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NATIVE FEATURES</a:t>
            </a: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952500" y="242411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Engine Support: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ActiveMQ and RabbitMQ.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952500" y="2949773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Durability: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Messages are stored across multiple Availability Zones.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952500" y="3810595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Auto-Backups: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Managed snapshots for recovery.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952500" y="4336256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Integration: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Seamless with CloudWatch metrics.</a:t>
            </a:r>
            <a:endParaRPr/>
          </a:p>
        </p:txBody>
      </p:sp>
      <p:pic>
        <p:nvPicPr>
          <p:cNvPr id="254" name="Google Shape;25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241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4977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1059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3625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5B6A30-A160-B8A8-4AA2-8FC626BC79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1076" y="1125326"/>
            <a:ext cx="6216292" cy="41441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SUPPORTED PROTOCOLS</a:t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3690937"/>
            <a:ext cx="2405657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2977157" y="3690937"/>
            <a:ext cx="4019103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6996261" y="3690937"/>
            <a:ext cx="4624238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4167187"/>
            <a:ext cx="2405657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2977157" y="4167187"/>
            <a:ext cx="4019103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6996261" y="4167187"/>
            <a:ext cx="4624238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71500" y="4643437"/>
            <a:ext cx="2405657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2977157" y="4643437"/>
            <a:ext cx="4019103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6996261" y="4643437"/>
            <a:ext cx="4624238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5119687"/>
            <a:ext cx="2405657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2977157" y="5119687"/>
            <a:ext cx="4019103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6996261" y="5119687"/>
            <a:ext cx="4624238" cy="95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83F64-9635-F56B-8F20-4B6D3C16F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97" y="1435511"/>
            <a:ext cx="11653605" cy="4316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AMAZON MQ USE CASES</a:t>
            </a: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86677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Microservices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866775" y="387875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Decoupling complex service architectures into manageable components.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461322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Financial Systems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4613225" y="387875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Ensuring transactional integrity and message ordering in banking.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835967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Order Processing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8359675" y="387875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Managing high-volume asynchronous tasks like inventory updates.</a:t>
            </a:r>
            <a:endParaRPr/>
          </a:p>
        </p:txBody>
      </p:sp>
      <p:pic>
        <p:nvPicPr>
          <p:cNvPr id="294" name="Google Shape;294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8595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85958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859583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7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4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Broker Architecture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8"/>
          <p:cNvSpPr txBox="1"/>
          <p:nvPr/>
        </p:nvSpPr>
        <p:spPr>
          <a:xfrm>
            <a:off x="762000" y="571500"/>
            <a:ext cx="5000625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  <a:endParaRPr/>
          </a:p>
        </p:txBody>
      </p:sp>
      <p:sp>
        <p:nvSpPr>
          <p:cNvPr id="311" name="Google Shape;311;p28"/>
          <p:cNvSpPr/>
          <p:nvPr/>
        </p:nvSpPr>
        <p:spPr>
          <a:xfrm>
            <a:off x="571500" y="571500"/>
            <a:ext cx="57150" cy="933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571500" y="1885950"/>
            <a:ext cx="49530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architecture consists of clients connecting to a managed broker instance within a VPC. The broker communicates with specialized storage and logging layers.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952500" y="3512343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Elastic Network Interface (ENI)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952500" y="4038004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Security Group Layer</a:t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952500" y="4563665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High-availability Storage</a:t>
            </a:r>
            <a:endParaRPr/>
          </a:p>
        </p:txBody>
      </p:sp>
      <p:pic>
        <p:nvPicPr>
          <p:cNvPr id="316" name="Google Shape;31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1234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3800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6366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2925124-6039-6BB6-AB72-CA5DE60B0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0" y="1325703"/>
            <a:ext cx="6309890" cy="420659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73871"/>
            <a:ext cx="3300412" cy="1957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62412" y="2873871"/>
            <a:ext cx="3300412" cy="1957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3325" y="2873871"/>
            <a:ext cx="4067175" cy="195798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9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BROKER COMPONENTS</a:t>
            </a:r>
            <a:endParaRPr/>
          </a:p>
        </p:txBody>
      </p:sp>
      <p:sp>
        <p:nvSpPr>
          <p:cNvPr id="328" name="Google Shape;328;p29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866775" y="3169146"/>
            <a:ext cx="284535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The Instance</a:t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866775" y="3531096"/>
            <a:ext cx="2709862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virtual compute resource running the message broker engine.</a:t>
            </a:r>
            <a:endParaRPr/>
          </a:p>
        </p:txBody>
      </p:sp>
      <p:sp>
        <p:nvSpPr>
          <p:cNvPr id="331" name="Google Shape;331;p29"/>
          <p:cNvSpPr txBox="1"/>
          <p:nvPr/>
        </p:nvSpPr>
        <p:spPr>
          <a:xfrm>
            <a:off x="4357687" y="3169146"/>
            <a:ext cx="284535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Storage Layer</a:t>
            </a:r>
            <a:endParaRPr/>
          </a:p>
        </p:txBody>
      </p:sp>
      <p:sp>
        <p:nvSpPr>
          <p:cNvPr id="332" name="Google Shape;332;p29"/>
          <p:cNvSpPr txBox="1"/>
          <p:nvPr/>
        </p:nvSpPr>
        <p:spPr>
          <a:xfrm>
            <a:off x="4357687" y="3531096"/>
            <a:ext cx="2709862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Where messages are stored (EBS or EFS depending on HA needs).</a:t>
            </a:r>
            <a:endParaRPr/>
          </a:p>
        </p:txBody>
      </p:sp>
      <p:sp>
        <p:nvSpPr>
          <p:cNvPr id="333" name="Google Shape;333;p29"/>
          <p:cNvSpPr txBox="1"/>
          <p:nvPr/>
        </p:nvSpPr>
        <p:spPr>
          <a:xfrm>
            <a:off x="7848600" y="3169146"/>
            <a:ext cx="365045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Endpoints</a:t>
            </a:r>
            <a:endParaRPr/>
          </a:p>
        </p:txBody>
      </p:sp>
      <p:sp>
        <p:nvSpPr>
          <p:cNvPr id="334" name="Google Shape;334;p29"/>
          <p:cNvSpPr txBox="1"/>
          <p:nvPr/>
        </p:nvSpPr>
        <p:spPr>
          <a:xfrm>
            <a:off x="7848600" y="3531096"/>
            <a:ext cx="34766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Unique URLs provided per protocol (e.g., ssl://broker-id.mq.region.amazonaws.com:61617).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0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SINGLE INSTANCE DEPLOYMENT</a:t>
            </a:r>
            <a:endParaRPr/>
          </a:p>
        </p:txBody>
      </p:sp>
      <p:sp>
        <p:nvSpPr>
          <p:cNvPr id="342" name="Google Shape;342;p30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0"/>
          <p:cNvSpPr txBox="1"/>
          <p:nvPr/>
        </p:nvSpPr>
        <p:spPr>
          <a:xfrm>
            <a:off x="571500" y="19478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Development &amp; Testing</a:t>
            </a:r>
            <a:endParaRPr/>
          </a:p>
        </p:txBody>
      </p:sp>
      <p:sp>
        <p:nvSpPr>
          <p:cNvPr id="344" name="Google Shape;344;p30"/>
          <p:cNvSpPr txBox="1"/>
          <p:nvPr/>
        </p:nvSpPr>
        <p:spPr>
          <a:xfrm>
            <a:off x="571500" y="2166937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Consists of one broker in one Availability Zone.</a:t>
            </a:r>
            <a:endParaRPr/>
          </a:p>
        </p:txBody>
      </p:sp>
      <p:pic>
        <p:nvPicPr>
          <p:cNvPr id="345" name="Google Shape;345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0"/>
          <p:cNvSpPr txBox="1"/>
          <p:nvPr/>
        </p:nvSpPr>
        <p:spPr>
          <a:xfrm>
            <a:off x="952500" y="2692598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Lowest cost option.</a:t>
            </a: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952500" y="3218259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No high availability (single point of failure).</a:t>
            </a:r>
            <a:endParaRPr/>
          </a:p>
        </p:txBody>
      </p:sp>
      <p:sp>
        <p:nvSpPr>
          <p:cNvPr id="348" name="Google Shape;348;p30"/>
          <p:cNvSpPr txBox="1"/>
          <p:nvPr/>
        </p:nvSpPr>
        <p:spPr>
          <a:xfrm>
            <a:off x="952500" y="3743920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Recommended for non-production environments.</a:t>
            </a:r>
            <a:endParaRPr/>
          </a:p>
        </p:txBody>
      </p:sp>
      <p:pic>
        <p:nvPicPr>
          <p:cNvPr id="349" name="Google Shape;349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69259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1825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4392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1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ACTIVE / STANDBY DEPLOYMENT</a:t>
            </a:r>
            <a:endParaRPr/>
          </a:p>
        </p:txBody>
      </p:sp>
      <p:sp>
        <p:nvSpPr>
          <p:cNvPr id="359" name="Google Shape;359;p31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1"/>
          <p:cNvSpPr txBox="1"/>
          <p:nvPr/>
        </p:nvSpPr>
        <p:spPr>
          <a:xfrm>
            <a:off x="6334125" y="19478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Production High Availability</a:t>
            </a:r>
            <a:endParaRPr/>
          </a:p>
        </p:txBody>
      </p:sp>
      <p:sp>
        <p:nvSpPr>
          <p:cNvPr id="362" name="Google Shape;362;p31"/>
          <p:cNvSpPr txBox="1"/>
          <p:nvPr/>
        </p:nvSpPr>
        <p:spPr>
          <a:xfrm>
            <a:off x="6334125" y="2166937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Two brokers in different AZs sharing redundant storage.</a:t>
            </a:r>
            <a:endParaRPr/>
          </a:p>
        </p:txBody>
      </p:sp>
      <p:sp>
        <p:nvSpPr>
          <p:cNvPr id="363" name="Google Shape;363;p31"/>
          <p:cNvSpPr txBox="1"/>
          <p:nvPr/>
        </p:nvSpPr>
        <p:spPr>
          <a:xfrm>
            <a:off x="6715125" y="2692598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Automatic failover if Active broker fails.</a:t>
            </a:r>
            <a:endParaRPr/>
          </a:p>
        </p:txBody>
      </p:sp>
      <p:sp>
        <p:nvSpPr>
          <p:cNvPr id="364" name="Google Shape;364;p31"/>
          <p:cNvSpPr txBox="1"/>
          <p:nvPr/>
        </p:nvSpPr>
        <p:spPr>
          <a:xfrm>
            <a:off x="6715125" y="3218259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Ensures zero message loss with replicated storage.</a:t>
            </a:r>
            <a:endParaRPr/>
          </a:p>
        </p:txBody>
      </p:sp>
      <p:sp>
        <p:nvSpPr>
          <p:cNvPr id="365" name="Google Shape;365;p31"/>
          <p:cNvSpPr txBox="1"/>
          <p:nvPr/>
        </p:nvSpPr>
        <p:spPr>
          <a:xfrm>
            <a:off x="6715125" y="3743920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Standard for critical enterprise workloads.</a:t>
            </a:r>
            <a:endParaRPr/>
          </a:p>
        </p:txBody>
      </p:sp>
      <p:pic>
        <p:nvPicPr>
          <p:cNvPr id="366" name="Google Shape;366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9259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21825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74392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DAA297-7DC0-9BAE-A464-1AD5412A38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1560909"/>
            <a:ext cx="5715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2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5</a:t>
            </a:r>
            <a:endParaRPr/>
          </a:p>
        </p:txBody>
      </p:sp>
      <p:sp>
        <p:nvSpPr>
          <p:cNvPr id="375" name="Google Shape;375;p32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Amazon MQ Setup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3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CREATING A BROKER</a:t>
            </a:r>
            <a:endParaRPr/>
          </a:p>
        </p:txBody>
      </p:sp>
      <p:sp>
        <p:nvSpPr>
          <p:cNvPr id="382" name="Google Shape;382;p33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3"/>
          <p:cNvSpPr txBox="1"/>
          <p:nvPr/>
        </p:nvSpPr>
        <p:spPr>
          <a:xfrm>
            <a:off x="952500" y="253871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Step 1: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Navigate to Amazon MQ in the AWS Management Console.</a:t>
            </a:r>
            <a:endParaRPr/>
          </a:p>
        </p:txBody>
      </p:sp>
      <p:sp>
        <p:nvSpPr>
          <p:cNvPr id="384" name="Google Shape;384;p33"/>
          <p:cNvSpPr txBox="1"/>
          <p:nvPr/>
        </p:nvSpPr>
        <p:spPr>
          <a:xfrm>
            <a:off x="952500" y="3064371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Step 2: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Click "Create Broker" and select your engine (ActiveMQ/RabbitMQ).</a:t>
            </a:r>
            <a:endParaRPr/>
          </a:p>
        </p:txBody>
      </p:sp>
      <p:sp>
        <p:nvSpPr>
          <p:cNvPr id="385" name="Google Shape;385;p33"/>
          <p:cNvSpPr txBox="1"/>
          <p:nvPr/>
        </p:nvSpPr>
        <p:spPr>
          <a:xfrm>
            <a:off x="952500" y="3590032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Step 3: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Select Deployment Mode (Single or Active/Standby).</a:t>
            </a:r>
            <a:endParaRPr/>
          </a:p>
        </p:txBody>
      </p:sp>
      <p:sp>
        <p:nvSpPr>
          <p:cNvPr id="386" name="Google Shape;386;p33"/>
          <p:cNvSpPr txBox="1"/>
          <p:nvPr/>
        </p:nvSpPr>
        <p:spPr>
          <a:xfrm>
            <a:off x="952500" y="4115692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Step 4: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Configure instance size (mq.t3.micro up to mq.m5.large).</a:t>
            </a:r>
            <a:endParaRPr/>
          </a:p>
        </p:txBody>
      </p:sp>
      <p:sp>
        <p:nvSpPr>
          <p:cNvPr id="387" name="Google Shape;387;p33"/>
          <p:cNvSpPr txBox="1"/>
          <p:nvPr/>
        </p:nvSpPr>
        <p:spPr>
          <a:xfrm>
            <a:off x="952500" y="4641353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Step 5: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Review and Launch.</a:t>
            </a:r>
            <a:endParaRPr/>
          </a:p>
        </p:txBody>
      </p:sp>
      <p:pic>
        <p:nvPicPr>
          <p:cNvPr id="388" name="Google Shape;388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87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6437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9003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156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4135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4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BROKER CONFIGURATION</a:t>
            </a:r>
            <a:endParaRPr/>
          </a:p>
        </p:txBody>
      </p:sp>
      <p:sp>
        <p:nvSpPr>
          <p:cNvPr id="399" name="Google Shape;399;p34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26956E-8884-15B7-6E86-1DF78A874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222" y="1229032"/>
            <a:ext cx="7763183" cy="51754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41451"/>
            <a:ext cx="5286375" cy="1622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041451"/>
            <a:ext cx="5286375" cy="1622821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NETWORK CONFIGURATION</a:t>
            </a:r>
            <a:endParaRPr/>
          </a:p>
        </p:txBody>
      </p:sp>
      <p:sp>
        <p:nvSpPr>
          <p:cNvPr id="417" name="Google Shape;417;p35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866775" y="3336726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VPC &amp; Subnets</a:t>
            </a:r>
            <a:endParaRPr/>
          </a:p>
        </p:txBody>
      </p:sp>
      <p:sp>
        <p:nvSpPr>
          <p:cNvPr id="419" name="Google Shape;419;p35"/>
          <p:cNvSpPr txBox="1"/>
          <p:nvPr/>
        </p:nvSpPr>
        <p:spPr>
          <a:xfrm>
            <a:off x="866775" y="3698676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The broker should be placed in a Private Subnet for security. It interacts with other services via ENIs.</a:t>
            </a:r>
            <a:endParaRPr/>
          </a:p>
        </p:txBody>
      </p:sp>
      <p:sp>
        <p:nvSpPr>
          <p:cNvPr id="420" name="Google Shape;420;p35"/>
          <p:cNvSpPr txBox="1"/>
          <p:nvPr/>
        </p:nvSpPr>
        <p:spPr>
          <a:xfrm>
            <a:off x="6629400" y="3336726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Security Groups</a:t>
            </a:r>
            <a:endParaRPr/>
          </a:p>
        </p:txBody>
      </p:sp>
      <p:sp>
        <p:nvSpPr>
          <p:cNvPr id="421" name="Google Shape;421;p35"/>
          <p:cNvSpPr txBox="1"/>
          <p:nvPr/>
        </p:nvSpPr>
        <p:spPr>
          <a:xfrm>
            <a:off x="6629400" y="3698676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Must allow inbound traffic on specific protocol ports (e.g., 5671 for RabbitMQ AMQP/SSL).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AUTHENTICATION SETUP</a:t>
            </a:r>
            <a:endParaRPr/>
          </a:p>
        </p:txBody>
      </p:sp>
      <p:sp>
        <p:nvSpPr>
          <p:cNvPr id="428" name="Google Shape;428;p36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6"/>
          <p:cNvSpPr txBox="1"/>
          <p:nvPr/>
        </p:nvSpPr>
        <p:spPr>
          <a:xfrm>
            <a:off x="952500" y="2801540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Console Credentials: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Username and password for the management console.</a:t>
            </a:r>
            <a:endParaRPr/>
          </a:p>
        </p:txBody>
      </p:sp>
      <p:sp>
        <p:nvSpPr>
          <p:cNvPr id="430" name="Google Shape;430;p36"/>
          <p:cNvSpPr txBox="1"/>
          <p:nvPr/>
        </p:nvSpPr>
        <p:spPr>
          <a:xfrm>
            <a:off x="952500" y="3327201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Application Credentials: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Separate credentials for producer/consumer connectivity.</a:t>
            </a:r>
            <a:endParaRPr/>
          </a:p>
        </p:txBody>
      </p:sp>
      <p:sp>
        <p:nvSpPr>
          <p:cNvPr id="431" name="Google Shape;431;p36"/>
          <p:cNvSpPr txBox="1"/>
          <p:nvPr/>
        </p:nvSpPr>
        <p:spPr>
          <a:xfrm>
            <a:off x="952500" y="3852862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IAM Integration: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Use AWS IAM to control who can create or delete brokers.</a:t>
            </a:r>
            <a:endParaRPr/>
          </a:p>
        </p:txBody>
      </p:sp>
      <p:sp>
        <p:nvSpPr>
          <p:cNvPr id="432" name="Google Shape;432;p36"/>
          <p:cNvSpPr txBox="1"/>
          <p:nvPr/>
        </p:nvSpPr>
        <p:spPr>
          <a:xfrm>
            <a:off x="952500" y="4378523"/>
            <a:ext cx="1066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Active Directory: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Integration available for complex ActiveMQ auth requirements.</a:t>
            </a:r>
            <a:endParaRPr/>
          </a:p>
        </p:txBody>
      </p:sp>
      <p:pic>
        <p:nvPicPr>
          <p:cNvPr id="433" name="Google Shape;433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0154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2720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52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78523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526208"/>
            <a:ext cx="3555950" cy="26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7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BROKER ACCESS METHODS</a:t>
            </a:r>
            <a:endParaRPr/>
          </a:p>
        </p:txBody>
      </p:sp>
      <p:sp>
        <p:nvSpPr>
          <p:cNvPr id="446" name="Google Shape;446;p37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7"/>
          <p:cNvSpPr txBox="1"/>
          <p:nvPr/>
        </p:nvSpPr>
        <p:spPr>
          <a:xfrm>
            <a:off x="86677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SDK / CLI</a:t>
            </a:r>
            <a:endParaRPr/>
          </a:p>
        </p:txBody>
      </p:sp>
      <p:sp>
        <p:nvSpPr>
          <p:cNvPr id="448" name="Google Shape;448;p37"/>
          <p:cNvSpPr txBox="1"/>
          <p:nvPr/>
        </p:nvSpPr>
        <p:spPr>
          <a:xfrm>
            <a:off x="866775" y="387875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Managing the broker infrastructure via AWS SDKs or CLI commands.</a:t>
            </a:r>
            <a:endParaRPr/>
          </a:p>
        </p:txBody>
      </p:sp>
      <p:sp>
        <p:nvSpPr>
          <p:cNvPr id="449" name="Google Shape;449;p37"/>
          <p:cNvSpPr txBox="1"/>
          <p:nvPr/>
        </p:nvSpPr>
        <p:spPr>
          <a:xfrm>
            <a:off x="461322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Client Libs</a:t>
            </a:r>
            <a:endParaRPr/>
          </a:p>
        </p:txBody>
      </p:sp>
      <p:sp>
        <p:nvSpPr>
          <p:cNvPr id="450" name="Google Shape;450;p37"/>
          <p:cNvSpPr txBox="1"/>
          <p:nvPr/>
        </p:nvSpPr>
        <p:spPr>
          <a:xfrm>
            <a:off x="4613225" y="387875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Standard libraries (Pika, JMS) connecting to wire-level endpoints.</a:t>
            </a:r>
            <a:endParaRPr/>
          </a:p>
        </p:txBody>
      </p:sp>
      <p:sp>
        <p:nvSpPr>
          <p:cNvPr id="451" name="Google Shape;451;p37"/>
          <p:cNvSpPr txBox="1"/>
          <p:nvPr/>
        </p:nvSpPr>
        <p:spPr>
          <a:xfrm>
            <a:off x="8359675" y="3516808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Web Console</a:t>
            </a:r>
            <a:endParaRPr/>
          </a:p>
        </p:txBody>
      </p:sp>
      <p:sp>
        <p:nvSpPr>
          <p:cNvPr id="452" name="Google Shape;452;p37"/>
          <p:cNvSpPr txBox="1"/>
          <p:nvPr/>
        </p:nvSpPr>
        <p:spPr>
          <a:xfrm>
            <a:off x="8359675" y="3878758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Native ActiveMQ or RabbitMQ dashboard for queue monitoring.</a:t>
            </a:r>
            <a:endParaRPr/>
          </a:p>
        </p:txBody>
      </p:sp>
      <p:pic>
        <p:nvPicPr>
          <p:cNvPr id="453" name="Google Shape;453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859583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3225" y="285958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859583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6</a:t>
            </a:r>
            <a:endParaRPr/>
          </a:p>
        </p:txBody>
      </p:sp>
      <p:sp>
        <p:nvSpPr>
          <p:cNvPr id="462" name="Google Shape;462;p38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AWS Integrations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73871"/>
            <a:ext cx="3555950" cy="1957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873871"/>
            <a:ext cx="3555950" cy="1957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873871"/>
            <a:ext cx="3555950" cy="1957982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9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INTEGRATION WITH AWS ECOSYSTEM</a:t>
            </a:r>
            <a:endParaRPr/>
          </a:p>
        </p:txBody>
      </p:sp>
      <p:sp>
        <p:nvSpPr>
          <p:cNvPr id="472" name="Google Shape;472;p39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9"/>
          <p:cNvSpPr txBox="1"/>
          <p:nvPr/>
        </p:nvSpPr>
        <p:spPr>
          <a:xfrm>
            <a:off x="866775" y="3169146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AWS Lambda</a:t>
            </a:r>
            <a:endParaRPr/>
          </a:p>
        </p:txBody>
      </p:sp>
      <p:sp>
        <p:nvSpPr>
          <p:cNvPr id="474" name="Google Shape;474;p39"/>
          <p:cNvSpPr txBox="1"/>
          <p:nvPr/>
        </p:nvSpPr>
        <p:spPr>
          <a:xfrm>
            <a:off x="866775" y="3531096"/>
            <a:ext cx="29654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Trigger functions based on message arrivals in the queue.</a:t>
            </a:r>
            <a:endParaRPr/>
          </a:p>
        </p:txBody>
      </p:sp>
      <p:sp>
        <p:nvSpPr>
          <p:cNvPr id="475" name="Google Shape;475;p39"/>
          <p:cNvSpPr txBox="1"/>
          <p:nvPr/>
        </p:nvSpPr>
        <p:spPr>
          <a:xfrm>
            <a:off x="4613225" y="3169146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EC2 / ECS</a:t>
            </a:r>
            <a:endParaRPr/>
          </a:p>
        </p:txBody>
      </p:sp>
      <p:sp>
        <p:nvSpPr>
          <p:cNvPr id="476" name="Google Shape;476;p39"/>
          <p:cNvSpPr txBox="1"/>
          <p:nvPr/>
        </p:nvSpPr>
        <p:spPr>
          <a:xfrm>
            <a:off x="4613225" y="3531096"/>
            <a:ext cx="29654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Run persistent worker applications that consume messages.</a:t>
            </a:r>
            <a:endParaRPr/>
          </a:p>
        </p:txBody>
      </p:sp>
      <p:sp>
        <p:nvSpPr>
          <p:cNvPr id="477" name="Google Shape;477;p39"/>
          <p:cNvSpPr txBox="1"/>
          <p:nvPr/>
        </p:nvSpPr>
        <p:spPr>
          <a:xfrm>
            <a:off x="8359675" y="3169146"/>
            <a:ext cx="311367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CloudWatch</a:t>
            </a:r>
            <a:endParaRPr/>
          </a:p>
        </p:txBody>
      </p:sp>
      <p:sp>
        <p:nvSpPr>
          <p:cNvPr id="478" name="Google Shape;478;p39"/>
          <p:cNvSpPr txBox="1"/>
          <p:nvPr/>
        </p:nvSpPr>
        <p:spPr>
          <a:xfrm>
            <a:off x="8359675" y="3531096"/>
            <a:ext cx="29654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Centralized logging and alerting for broker health.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0"/>
          <p:cNvSpPr txBox="1"/>
          <p:nvPr/>
        </p:nvSpPr>
        <p:spPr>
          <a:xfrm>
            <a:off x="762000" y="571500"/>
            <a:ext cx="5000625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INTEGRATION ARCHITECTURE</a:t>
            </a:r>
            <a:endParaRPr/>
          </a:p>
        </p:txBody>
      </p:sp>
      <p:sp>
        <p:nvSpPr>
          <p:cNvPr id="486" name="Google Shape;486;p40"/>
          <p:cNvSpPr/>
          <p:nvPr/>
        </p:nvSpPr>
        <p:spPr>
          <a:xfrm>
            <a:off x="571500" y="571500"/>
            <a:ext cx="57150" cy="93345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0"/>
          <p:cNvSpPr txBox="1"/>
          <p:nvPr/>
        </p:nvSpPr>
        <p:spPr>
          <a:xfrm>
            <a:off x="571500" y="1885950"/>
            <a:ext cx="49530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Modern applications use Amazon MQ to glue together serverless functions and containerized workloads. The message broker acts as the persistent state for inter-service communication.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1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7</a:t>
            </a:r>
            <a:endParaRPr/>
          </a:p>
        </p:txBody>
      </p:sp>
      <p:sp>
        <p:nvSpPr>
          <p:cNvPr id="494" name="Google Shape;494;p41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Example Workflows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2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ORDER PROCESSING WORKFLOW</a:t>
            </a:r>
            <a:endParaRPr/>
          </a:p>
        </p:txBody>
      </p:sp>
      <p:sp>
        <p:nvSpPr>
          <p:cNvPr id="501" name="Google Shape;501;p42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2"/>
          <p:cNvSpPr/>
          <p:nvPr/>
        </p:nvSpPr>
        <p:spPr>
          <a:xfrm>
            <a:off x="571500" y="3884414"/>
            <a:ext cx="110490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2"/>
          <p:cNvSpPr/>
          <p:nvPr/>
        </p:nvSpPr>
        <p:spPr>
          <a:xfrm>
            <a:off x="1581150" y="37891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2"/>
          <p:cNvSpPr txBox="1"/>
          <p:nvPr/>
        </p:nvSpPr>
        <p:spPr>
          <a:xfrm>
            <a:off x="516254" y="4360664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1. Checkout</a:t>
            </a:r>
            <a:endParaRPr/>
          </a:p>
        </p:txBody>
      </p:sp>
      <p:sp>
        <p:nvSpPr>
          <p:cNvPr id="505" name="Google Shape;505;p42"/>
          <p:cNvSpPr txBox="1"/>
          <p:nvPr/>
        </p:nvSpPr>
        <p:spPr>
          <a:xfrm>
            <a:off x="571500" y="4579739"/>
            <a:ext cx="22098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Customer places order on website.</a:t>
            </a:r>
            <a:endParaRPr/>
          </a:p>
        </p:txBody>
      </p:sp>
      <p:sp>
        <p:nvSpPr>
          <p:cNvPr id="506" name="Google Shape;506;p42"/>
          <p:cNvSpPr/>
          <p:nvPr/>
        </p:nvSpPr>
        <p:spPr>
          <a:xfrm>
            <a:off x="4527500" y="37891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2"/>
          <p:cNvSpPr txBox="1"/>
          <p:nvPr/>
        </p:nvSpPr>
        <p:spPr>
          <a:xfrm>
            <a:off x="3462605" y="4360664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2. Publish</a:t>
            </a:r>
            <a:endParaRPr/>
          </a:p>
        </p:txBody>
      </p:sp>
      <p:sp>
        <p:nvSpPr>
          <p:cNvPr id="508" name="Google Shape;508;p42"/>
          <p:cNvSpPr txBox="1"/>
          <p:nvPr/>
        </p:nvSpPr>
        <p:spPr>
          <a:xfrm>
            <a:off x="3517850" y="4579739"/>
            <a:ext cx="22098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Order service sends message to MQ.</a:t>
            </a:r>
            <a:endParaRPr/>
          </a:p>
        </p:txBody>
      </p:sp>
      <p:sp>
        <p:nvSpPr>
          <p:cNvPr id="509" name="Google Shape;509;p42"/>
          <p:cNvSpPr/>
          <p:nvPr/>
        </p:nvSpPr>
        <p:spPr>
          <a:xfrm>
            <a:off x="7473850" y="37891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2"/>
          <p:cNvSpPr txBox="1"/>
          <p:nvPr/>
        </p:nvSpPr>
        <p:spPr>
          <a:xfrm>
            <a:off x="6408955" y="4360664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3. Process</a:t>
            </a:r>
            <a:endParaRPr/>
          </a:p>
        </p:txBody>
      </p:sp>
      <p:sp>
        <p:nvSpPr>
          <p:cNvPr id="511" name="Google Shape;511;p42"/>
          <p:cNvSpPr txBox="1"/>
          <p:nvPr/>
        </p:nvSpPr>
        <p:spPr>
          <a:xfrm>
            <a:off x="6464200" y="4579739"/>
            <a:ext cx="22098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Payment service pulls from queue.</a:t>
            </a:r>
            <a:endParaRPr/>
          </a:p>
        </p:txBody>
      </p:sp>
      <p:sp>
        <p:nvSpPr>
          <p:cNvPr id="512" name="Google Shape;512;p42"/>
          <p:cNvSpPr/>
          <p:nvPr/>
        </p:nvSpPr>
        <p:spPr>
          <a:xfrm>
            <a:off x="10420201" y="37891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381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2"/>
          <p:cNvSpPr txBox="1"/>
          <p:nvPr/>
        </p:nvSpPr>
        <p:spPr>
          <a:xfrm>
            <a:off x="9355306" y="4360664"/>
            <a:ext cx="232029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4. Update</a:t>
            </a:r>
            <a:endParaRPr/>
          </a:p>
        </p:txBody>
      </p:sp>
      <p:sp>
        <p:nvSpPr>
          <p:cNvPr id="514" name="Google Shape;514;p42"/>
          <p:cNvSpPr txBox="1"/>
          <p:nvPr/>
        </p:nvSpPr>
        <p:spPr>
          <a:xfrm>
            <a:off x="9410551" y="4579739"/>
            <a:ext cx="22098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Database updated, shipping notified.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3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MESSAGE LIFECYCLE</a:t>
            </a:r>
            <a:endParaRPr/>
          </a:p>
        </p:txBody>
      </p:sp>
      <p:sp>
        <p:nvSpPr>
          <p:cNvPr id="522" name="Google Shape;522;p43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3"/>
          <p:cNvSpPr txBox="1"/>
          <p:nvPr/>
        </p:nvSpPr>
        <p:spPr>
          <a:xfrm>
            <a:off x="6715125" y="1947862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Ingress: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Message is validated and persisted to storage.</a:t>
            </a:r>
            <a:endParaRPr/>
          </a:p>
        </p:txBody>
      </p:sp>
      <p:sp>
        <p:nvSpPr>
          <p:cNvPr id="525" name="Google Shape;525;p43"/>
          <p:cNvSpPr txBox="1"/>
          <p:nvPr/>
        </p:nvSpPr>
        <p:spPr>
          <a:xfrm>
            <a:off x="6715125" y="2808684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In-Flight: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Message sits in the queue awaiting a consumer.</a:t>
            </a:r>
            <a:endParaRPr/>
          </a:p>
        </p:txBody>
      </p:sp>
      <p:sp>
        <p:nvSpPr>
          <p:cNvPr id="526" name="Google Shape;526;p43"/>
          <p:cNvSpPr txBox="1"/>
          <p:nvPr/>
        </p:nvSpPr>
        <p:spPr>
          <a:xfrm>
            <a:off x="6715125" y="3669506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Egress: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Consumer pulls message and sends Acknowledgment (ACK).</a:t>
            </a:r>
            <a:endParaRPr/>
          </a:p>
        </p:txBody>
      </p:sp>
      <p:sp>
        <p:nvSpPr>
          <p:cNvPr id="527" name="Google Shape;527;p43"/>
          <p:cNvSpPr txBox="1"/>
          <p:nvPr/>
        </p:nvSpPr>
        <p:spPr>
          <a:xfrm>
            <a:off x="6715125" y="4530328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Cleanup: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ACK'd message is removed from the broker.</a:t>
            </a:r>
            <a:endParaRPr/>
          </a:p>
        </p:txBody>
      </p:sp>
      <p:pic>
        <p:nvPicPr>
          <p:cNvPr id="528" name="Google Shape;528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47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0868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66950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530328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utoShape 2" descr="Event-driven microservices with RabbitMQ and Kafka">
            <a:extLst>
              <a:ext uri="{FF2B5EF4-FFF2-40B4-BE49-F238E27FC236}">
                <a16:creationId xmlns:a16="http://schemas.microsoft.com/office/drawing/2014/main" id="{617B5D9D-78A1-3A22-17A1-93D4A59690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7207AD-1B71-EBD8-CAFD-1306BCC816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931194"/>
            <a:ext cx="5476875" cy="36512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4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8</a:t>
            </a:r>
            <a:endParaRPr/>
          </a:p>
        </p:txBody>
      </p:sp>
      <p:sp>
        <p:nvSpPr>
          <p:cNvPr id="538" name="Google Shape;538;p44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Code Examples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1687"/>
            <a:ext cx="11049000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5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PYTHON PRODUCER (RABBITMQ)</a:t>
            </a:r>
            <a:endParaRPr/>
          </a:p>
        </p:txBody>
      </p:sp>
      <p:sp>
        <p:nvSpPr>
          <p:cNvPr id="546" name="Google Shape;546;p45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0287"/>
            <a:ext cx="11049000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6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PYTHON CONSUMER (RABBITMQ)</a:t>
            </a:r>
            <a:endParaRPr/>
          </a:p>
        </p:txBody>
      </p:sp>
      <p:sp>
        <p:nvSpPr>
          <p:cNvPr id="554" name="Google Shape;554;p46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7"/>
          <p:cNvSpPr txBox="1"/>
          <p:nvPr/>
        </p:nvSpPr>
        <p:spPr>
          <a:xfrm>
            <a:off x="295275" y="268128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Section 9</a:t>
            </a:r>
            <a:endParaRPr/>
          </a:p>
        </p:txBody>
      </p:sp>
      <p:sp>
        <p:nvSpPr>
          <p:cNvPr id="561" name="Google Shape;561;p47"/>
          <p:cNvSpPr txBox="1"/>
          <p:nvPr/>
        </p:nvSpPr>
        <p:spPr>
          <a:xfrm>
            <a:off x="295275" y="3709987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Security &amp; Compliance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73871"/>
            <a:ext cx="5286375" cy="1957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73871"/>
            <a:ext cx="5286375" cy="1957982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AMAZON MQ SECURITY</a:t>
            </a:r>
            <a:endParaRPr/>
          </a:p>
        </p:txBody>
      </p:sp>
      <p:sp>
        <p:nvSpPr>
          <p:cNvPr id="570" name="Google Shape;570;p48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8"/>
          <p:cNvSpPr txBox="1"/>
          <p:nvPr/>
        </p:nvSpPr>
        <p:spPr>
          <a:xfrm>
            <a:off x="866775" y="3169146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Network Security</a:t>
            </a:r>
            <a:endParaRPr/>
          </a:p>
        </p:txBody>
      </p:sp>
      <p:sp>
        <p:nvSpPr>
          <p:cNvPr id="572" name="Google Shape;572;p48"/>
          <p:cNvSpPr txBox="1"/>
          <p:nvPr/>
        </p:nvSpPr>
        <p:spPr>
          <a:xfrm>
            <a:off x="866775" y="3531096"/>
            <a:ext cx="46958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VPC integration ensures your broker is not accessible from the public internet by default. Use Security Groups to whitelist specific IP ranges.</a:t>
            </a:r>
            <a:endParaRPr/>
          </a:p>
        </p:txBody>
      </p:sp>
      <p:sp>
        <p:nvSpPr>
          <p:cNvPr id="573" name="Google Shape;573;p48"/>
          <p:cNvSpPr txBox="1"/>
          <p:nvPr/>
        </p:nvSpPr>
        <p:spPr>
          <a:xfrm>
            <a:off x="6629400" y="3169146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Identity Management</a:t>
            </a:r>
            <a:endParaRPr/>
          </a:p>
        </p:txBody>
      </p:sp>
      <p:sp>
        <p:nvSpPr>
          <p:cNvPr id="574" name="Google Shape;574;p48"/>
          <p:cNvSpPr txBox="1"/>
          <p:nvPr/>
        </p:nvSpPr>
        <p:spPr>
          <a:xfrm>
            <a:off x="6629400" y="3531096"/>
            <a:ext cx="46958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Integrate with AWS IAM for API-level control. Use built-in ActiveMQ or RabbitMQ auth for application-level authentication.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49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DATA ENCRYPTION</a:t>
            </a:r>
            <a:endParaRPr/>
          </a:p>
        </p:txBody>
      </p:sp>
      <p:sp>
        <p:nvSpPr>
          <p:cNvPr id="582" name="Google Shape;582;p49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3" name="Google Shape;583;p4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478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9"/>
          <p:cNvSpPr txBox="1"/>
          <p:nvPr/>
        </p:nvSpPr>
        <p:spPr>
          <a:xfrm>
            <a:off x="952500" y="1947862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In-Transit: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All communication uses SSL/TLS encryption protocols.</a:t>
            </a:r>
            <a:endParaRPr/>
          </a:p>
        </p:txBody>
      </p:sp>
      <p:sp>
        <p:nvSpPr>
          <p:cNvPr id="585" name="Google Shape;585;p49"/>
          <p:cNvSpPr txBox="1"/>
          <p:nvPr/>
        </p:nvSpPr>
        <p:spPr>
          <a:xfrm>
            <a:off x="952500" y="2808684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At-Rest: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Messages in storage are encrypted using AWS KMS keys.</a:t>
            </a:r>
            <a:endParaRPr/>
          </a:p>
        </p:txBody>
      </p:sp>
      <p:sp>
        <p:nvSpPr>
          <p:cNvPr id="586" name="Google Shape;586;p49"/>
          <p:cNvSpPr txBox="1"/>
          <p:nvPr/>
        </p:nvSpPr>
        <p:spPr>
          <a:xfrm>
            <a:off x="952500" y="3669506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KMS Keys: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Choose between AWS-managed keys or customer-managed (CMKs) for full control.</a:t>
            </a:r>
            <a:endParaRPr/>
          </a:p>
        </p:txBody>
      </p:sp>
      <p:pic>
        <p:nvPicPr>
          <p:cNvPr id="587" name="Google Shape;587;p4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9478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0868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69506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50"/>
          <p:cNvSpPr txBox="1"/>
          <p:nvPr/>
        </p:nvSpPr>
        <p:spPr>
          <a:xfrm>
            <a:off x="295275" y="2010816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/>
          </a:p>
        </p:txBody>
      </p:sp>
      <p:sp>
        <p:nvSpPr>
          <p:cNvPr id="596" name="Google Shape;596;p50"/>
          <p:cNvSpPr txBox="1"/>
          <p:nvPr/>
        </p:nvSpPr>
        <p:spPr>
          <a:xfrm>
            <a:off x="295275" y="3039516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9900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sp>
        <p:nvSpPr>
          <p:cNvPr id="597" name="Google Shape;597;p50"/>
          <p:cNvSpPr txBox="1"/>
          <p:nvPr/>
        </p:nvSpPr>
        <p:spPr>
          <a:xfrm>
            <a:off x="571500" y="4077741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Amazon MQ: The bridge to scalable, decoupled cloud applications.</a:t>
            </a:r>
            <a:endParaRPr/>
          </a:p>
        </p:txBody>
      </p:sp>
      <p:sp>
        <p:nvSpPr>
          <p:cNvPr id="598" name="Google Shape;598;p50"/>
          <p:cNvSpPr txBox="1"/>
          <p:nvPr/>
        </p:nvSpPr>
        <p:spPr>
          <a:xfrm>
            <a:off x="571500" y="4603402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For more info, visit aws.amazon.com/amazon-mq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51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605" name="Google Shape;605;p51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51"/>
          <p:cNvSpPr/>
          <p:nvPr/>
        </p:nvSpPr>
        <p:spPr>
          <a:xfrm>
            <a:off x="571500" y="141922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51"/>
          <p:cNvSpPr/>
          <p:nvPr/>
        </p:nvSpPr>
        <p:spPr>
          <a:xfrm>
            <a:off x="571500" y="220399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51"/>
          <p:cNvSpPr/>
          <p:nvPr/>
        </p:nvSpPr>
        <p:spPr>
          <a:xfrm>
            <a:off x="571500" y="318685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51"/>
          <p:cNvSpPr/>
          <p:nvPr/>
        </p:nvSpPr>
        <p:spPr>
          <a:xfrm>
            <a:off x="571500" y="416971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51"/>
          <p:cNvSpPr/>
          <p:nvPr/>
        </p:nvSpPr>
        <p:spPr>
          <a:xfrm>
            <a:off x="571500" y="495448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51"/>
          <p:cNvSpPr/>
          <p:nvPr/>
        </p:nvSpPr>
        <p:spPr>
          <a:xfrm>
            <a:off x="571500" y="21944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51"/>
          <p:cNvSpPr/>
          <p:nvPr/>
        </p:nvSpPr>
        <p:spPr>
          <a:xfrm>
            <a:off x="571500" y="21944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51"/>
          <p:cNvSpPr/>
          <p:nvPr/>
        </p:nvSpPr>
        <p:spPr>
          <a:xfrm>
            <a:off x="571500" y="31773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51"/>
          <p:cNvSpPr/>
          <p:nvPr/>
        </p:nvSpPr>
        <p:spPr>
          <a:xfrm>
            <a:off x="571500" y="317733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51"/>
          <p:cNvSpPr/>
          <p:nvPr/>
        </p:nvSpPr>
        <p:spPr>
          <a:xfrm>
            <a:off x="571500" y="41601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51"/>
          <p:cNvSpPr/>
          <p:nvPr/>
        </p:nvSpPr>
        <p:spPr>
          <a:xfrm>
            <a:off x="571500" y="41601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1"/>
          <p:cNvSpPr/>
          <p:nvPr/>
        </p:nvSpPr>
        <p:spPr>
          <a:xfrm>
            <a:off x="571500" y="49449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51"/>
          <p:cNvSpPr/>
          <p:nvPr/>
        </p:nvSpPr>
        <p:spPr>
          <a:xfrm>
            <a:off x="571500" y="49449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51"/>
          <p:cNvSpPr/>
          <p:nvPr/>
        </p:nvSpPr>
        <p:spPr>
          <a:xfrm>
            <a:off x="571500" y="57297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51"/>
          <p:cNvSpPr/>
          <p:nvPr/>
        </p:nvSpPr>
        <p:spPr>
          <a:xfrm>
            <a:off x="571500" y="57297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1" name="Google Shape;621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686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1"/>
          <p:cNvSpPr txBox="1"/>
          <p:nvPr/>
        </p:nvSpPr>
        <p:spPr>
          <a:xfrm>
            <a:off x="1666875" y="156210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https://images.ctfassets.net/w6r2i5d8q73s/1eZleaHU0CqxxIk1XHgmud/c1431dc9b5b81dc28e5c4141718dfc8d/1.png?fm=webp&amp;q=75</a:t>
            </a:r>
            <a:endParaRPr/>
          </a:p>
        </p:txBody>
      </p:sp>
      <p:sp>
        <p:nvSpPr>
          <p:cNvPr id="623" name="Google Shape;623;p51"/>
          <p:cNvSpPr txBox="1"/>
          <p:nvPr/>
        </p:nvSpPr>
        <p:spPr>
          <a:xfrm>
            <a:off x="1666875" y="180781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miro.com</a:t>
            </a:r>
            <a:endParaRPr/>
          </a:p>
        </p:txBody>
      </p:sp>
      <p:pic>
        <p:nvPicPr>
          <p:cNvPr id="624" name="Google Shape;624;p5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525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51"/>
          <p:cNvSpPr txBox="1"/>
          <p:nvPr/>
        </p:nvSpPr>
        <p:spPr>
          <a:xfrm>
            <a:off x="1666875" y="234687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https://media2.dev.to/dynamic/image/width=1080,height=1080,fit=cover,gravity=auto,format=auto/https%3A%2F%2Fdev-to-uploads.s3.amazonaws.com%2Fuploads%2Farticles%2Fc3l6t9pwh8glmkdajrtv.png</a:t>
            </a:r>
            <a:endParaRPr/>
          </a:p>
        </p:txBody>
      </p:sp>
      <p:sp>
        <p:nvSpPr>
          <p:cNvPr id="626" name="Google Shape;626;p51"/>
          <p:cNvSpPr txBox="1"/>
          <p:nvPr/>
        </p:nvSpPr>
        <p:spPr>
          <a:xfrm>
            <a:off x="1666875" y="27906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dev.to</a:t>
            </a:r>
            <a:endParaRPr/>
          </a:p>
        </p:txBody>
      </p:sp>
      <p:pic>
        <p:nvPicPr>
          <p:cNvPr id="627" name="Google Shape;627;p5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3539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51"/>
          <p:cNvSpPr txBox="1"/>
          <p:nvPr/>
        </p:nvSpPr>
        <p:spPr>
          <a:xfrm>
            <a:off x="1666875" y="332973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https://substackcdn.com/image/fetch/$s_!3jiz!,w_1456,c_limit,f_auto,q_auto:good,fl_progressive:steep/https%3A%2F%2Fsubstack-post-media.s3.amazonaws.com%2Fpublic%2Fimages%2F81ccfded-9aa1-43fe-9888-aff03bc92b03_2250x2624.heic</a:t>
            </a:r>
            <a:endParaRPr/>
          </a:p>
        </p:txBody>
      </p:sp>
      <p:sp>
        <p:nvSpPr>
          <p:cNvPr id="629" name="Google Shape;629;p51"/>
          <p:cNvSpPr txBox="1"/>
          <p:nvPr/>
        </p:nvSpPr>
        <p:spPr>
          <a:xfrm>
            <a:off x="1666875" y="377353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blog.bytebytego.com</a:t>
            </a:r>
            <a:endParaRPr/>
          </a:p>
        </p:txBody>
      </p:sp>
      <p:pic>
        <p:nvPicPr>
          <p:cNvPr id="630" name="Google Shape;630;p5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191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51"/>
          <p:cNvSpPr txBox="1"/>
          <p:nvPr/>
        </p:nvSpPr>
        <p:spPr>
          <a:xfrm>
            <a:off x="1666875" y="431259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https://d2908q01vomqb2.cloudfront.net/972a67c48192728a34979d9a35164c1295401b71/2020/10/15/Sampledashboard.png</a:t>
            </a:r>
            <a:endParaRPr/>
          </a:p>
        </p:txBody>
      </p:sp>
      <p:sp>
        <p:nvSpPr>
          <p:cNvPr id="632" name="Google Shape;632;p51"/>
          <p:cNvSpPr txBox="1"/>
          <p:nvPr/>
        </p:nvSpPr>
        <p:spPr>
          <a:xfrm>
            <a:off x="1666875" y="455830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aws.amazon.com</a:t>
            </a:r>
            <a:endParaRPr/>
          </a:p>
        </p:txBody>
      </p:sp>
      <p:pic>
        <p:nvPicPr>
          <p:cNvPr id="633" name="Google Shape;633;p5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10391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51"/>
          <p:cNvSpPr txBox="1"/>
          <p:nvPr/>
        </p:nvSpPr>
        <p:spPr>
          <a:xfrm>
            <a:off x="1666875" y="509736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https://d2908q01vomqb2.cloudfront.net/fc074d501302eb2b93e2554793fcaf50b3bf7291/2022/04/08/RAD-486-1024x587.png</a:t>
            </a:r>
            <a:endParaRPr/>
          </a:p>
        </p:txBody>
      </p:sp>
      <p:sp>
        <p:nvSpPr>
          <p:cNvPr id="635" name="Google Shape;635;p51"/>
          <p:cNvSpPr txBox="1"/>
          <p:nvPr/>
        </p:nvSpPr>
        <p:spPr>
          <a:xfrm>
            <a:off x="1666875" y="534307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aws.amazon.com</a:t>
            </a:r>
            <a:endParaRPr/>
          </a:p>
        </p:txBody>
      </p:sp>
      <p:pic>
        <p:nvPicPr>
          <p:cNvPr id="636" name="Google Shape;636;p5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88868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51"/>
          <p:cNvSpPr txBox="1"/>
          <p:nvPr/>
        </p:nvSpPr>
        <p:spPr>
          <a:xfrm>
            <a:off x="1666875" y="588213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https://media.geeksforgeeks.org/wp-content/uploads/20240423165007/Active-Active-vs-Active-Passive-Architecture.webp</a:t>
            </a:r>
            <a:endParaRPr/>
          </a:p>
        </p:txBody>
      </p:sp>
      <p:sp>
        <p:nvSpPr>
          <p:cNvPr id="638" name="Google Shape;638;p51"/>
          <p:cNvSpPr txBox="1"/>
          <p:nvPr/>
        </p:nvSpPr>
        <p:spPr>
          <a:xfrm>
            <a:off x="1666875" y="612784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52"/>
          <p:cNvSpPr txBox="1"/>
          <p:nvPr/>
        </p:nvSpPr>
        <p:spPr>
          <a:xfrm>
            <a:off x="762000" y="57150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645" name="Google Shape;645;p52"/>
          <p:cNvSpPr/>
          <p:nvPr/>
        </p:nvSpPr>
        <p:spPr>
          <a:xfrm>
            <a:off x="571500" y="571500"/>
            <a:ext cx="57150" cy="46672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6" name="Google Shape;646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145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52"/>
          <p:cNvSpPr txBox="1"/>
          <p:nvPr/>
        </p:nvSpPr>
        <p:spPr>
          <a:xfrm>
            <a:off x="1666875" y="360804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https://www.dilitrust.com/wp-content/uploads/how-secure-your-contract.webp</a:t>
            </a:r>
            <a:endParaRPr/>
          </a:p>
        </p:txBody>
      </p:sp>
      <p:sp>
        <p:nvSpPr>
          <p:cNvPr id="648" name="Google Shape;648;p52"/>
          <p:cNvSpPr txBox="1"/>
          <p:nvPr/>
        </p:nvSpPr>
        <p:spPr>
          <a:xfrm>
            <a:off x="1666875" y="38537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www.dilitrust.com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1266</Words>
  <Application>Microsoft Office PowerPoint</Application>
  <PresentationFormat>Widescreen</PresentationFormat>
  <Paragraphs>174</Paragraphs>
  <Slides>40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Calibri</vt:lpstr>
      <vt:lpstr>Arial</vt:lpstr>
      <vt:lpstr>Lato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ADLAGATTA VIGNESH</cp:lastModifiedBy>
  <cp:revision>8</cp:revision>
  <dcterms:modified xsi:type="dcterms:W3CDTF">2026-04-04T14:47:47Z</dcterms:modified>
</cp:coreProperties>
</file>