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98" r:id="rId6"/>
    <p:sldId id="261" r:id="rId7"/>
    <p:sldId id="299" r:id="rId8"/>
    <p:sldId id="263" r:id="rId9"/>
    <p:sldId id="264" r:id="rId10"/>
    <p:sldId id="265" r:id="rId11"/>
    <p:sldId id="266" r:id="rId12"/>
    <p:sldId id="267" r:id="rId13"/>
    <p:sldId id="300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01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02" r:id="rId30"/>
    <p:sldId id="285" r:id="rId31"/>
    <p:sldId id="286" r:id="rId32"/>
    <p:sldId id="287" r:id="rId33"/>
    <p:sldId id="303" r:id="rId34"/>
    <p:sldId id="289" r:id="rId35"/>
    <p:sldId id="290" r:id="rId36"/>
    <p:sldId id="291" r:id="rId37"/>
    <p:sldId id="304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DM Sans" pitchFamily="2" charset="0"/>
      <p:regular r:id="rId45"/>
      <p:bold r:id="rId46"/>
      <p:italic r:id="rId47"/>
      <p:boldItalic r:id="rId48"/>
    </p:embeddedFont>
    <p:embeddedFont>
      <p:font typeface="DM Sans Medium" pitchFamily="2" charset="0"/>
      <p:regular r:id="rId49"/>
      <p:bold r:id="rId50"/>
      <p:italic r:id="rId51"/>
      <p:boldItalic r:id="rId52"/>
    </p:embeddedFont>
    <p:embeddedFont>
      <p:font typeface="DM Sans SemiBold" panose="020B0604020202020204" charset="0"/>
      <p:regular r:id="rId53"/>
      <p:bold r:id="rId54"/>
      <p:italic r:id="rId55"/>
      <p:boldItalic r:id="rId56"/>
    </p:embeddedFont>
    <p:embeddedFont>
      <p:font typeface="Urbanist" panose="020B060402020202020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121A2C-7FF8-4008-ADE9-5FFF3505F073}">
  <a:tblStyle styleId="{B2121A2C-7FF8-4008-ADE9-5FFF3505F07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4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282154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Amazon Simple Queue Service (AWS SQS)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44304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Fully Managed Message Queuing for Scalable Applications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70065"/>
            <a:ext cx="110490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Presenter : Vignesh Adlagatta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072955"/>
            <a:ext cx="110490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Date </a:t>
            </a:r>
            <a:r>
              <a:rPr lang="en-US" sz="165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 17/03/26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AGENDA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2576661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Introduction to Message Queuing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134766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Amazon SQS Core Concepts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692872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Architecture &amp; Workflows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250977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Queue Types (Standard vs FIFO)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809083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Key Features &amp; Lifecycle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2576661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Integration with AWS Services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3134766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Implementation &amp; Polling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0" y="3692872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Security &amp; Monitoring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0" y="4250977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Real-time Use Cases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4809083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Best Practices &amp; Conclusion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66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476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28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5097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090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766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13476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6928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25097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80908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WHAT IS MESSAGE QUEUING?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Definition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message queue is a form of asynchronous service-to-service communication used in serverless and microservices architectures.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81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Producer-Consumer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81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Producers add messages to the queue, and Consumers pick them up when ready, allowing systems to operate independently.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318C71-CED2-88B7-07D0-AA06A3E8D8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5569"/>
            <a:ext cx="3492400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75569"/>
            <a:ext cx="3492549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75569"/>
            <a:ext cx="3492400" cy="344031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PROBLEMS WITHOUT MESSAGE QUEUES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4233" y="332809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Tight Coupling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04875" y="3861494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Direct service calls mean if one service fails, the entire application chain breaks.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12380" y="332809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Traffic Spikes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83025" y="3861494"/>
            <a:ext cx="28257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Sudden surges can overwhelm databases or downstream services without a buffer.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90684" y="332809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Scalability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61325" y="3861494"/>
            <a:ext cx="282565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Hard to scale services independently when they are synchronously dependent.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7662" y="256609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6301" y="2566094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4113" y="2566094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C8C0E3-B97B-D657-D13B-CF35E3D78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7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22165"/>
            <a:ext cx="3492549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KEY BENEFITS OF SQS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34233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Scaling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0487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Scales from 1 to millions of messages per second automatically.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612380" y="3474690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Reliability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83025" y="4008090"/>
            <a:ext cx="28257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Messages are stored redundantly across multiple Availability Zones.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390684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Cost-Effective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46132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Pay only for what you use with no upfront costs or minimum fees.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9575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07450" y="2712690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7A93DE-2527-E128-8032-8A7243E43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6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7695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92710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72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2741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8775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SQS ARCHITECTURE FLOW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349850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2178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Send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Producer sends message to Queue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2786795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Store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2836515" y="4393852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SQS stores message redundantly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05181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Poll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10153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polls for messages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316825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366545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processes data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581841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Delete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63156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deletes message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22165"/>
            <a:ext cx="3492549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AWS SQS COMPONENTS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34233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Queue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0487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temporary repository for messages waiting to be processed.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612380" y="3474690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Message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683025" y="4008090"/>
            <a:ext cx="28257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data packet (up to 256KB) containing instructions or info.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390684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IDs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46132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 ID and Receipt Handle for tracking and deletion.</a:t>
            </a:r>
            <a:endParaRPr/>
          </a:p>
        </p:txBody>
      </p:sp>
      <p:pic>
        <p:nvPicPr>
          <p:cNvPr id="225" name="Google Shape;22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9575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025" y="271269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SQS QUEUE TYPES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66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Standard Queue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66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Default type. High throughput, best-effort ordering, and at-least-once delivery.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581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FIFO Queue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581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First-In-First-Out. Guarantees ordering and exactly-once processing.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STANDARD QUEUE FEATURES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952500" y="2814786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Unlimited Throughput: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Supports a nearly unlimited number of transactions per second.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952500" y="3372891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Best-Effort Ordering: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Occasionally, messages might be delivered in an order different from which they were sent.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52500" y="4250977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At-Least-Once Delivery: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 message is delivered at least once, but occasionally more than one copy of a message is delivered.</a:t>
            </a:r>
            <a:endParaRPr/>
          </a:p>
        </p:txBody>
      </p:sp>
      <p:pic>
        <p:nvPicPr>
          <p:cNvPr id="249" name="Google Shape;2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478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7289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50977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FIFO QUEUE FEATURES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952500" y="2814786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Strict Ordering: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The order in which messages are sent and received is strictly preserved (First-In-First-Out).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952500" y="3692872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Exactly-Once Processing: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 message is delivered once and remains available until a consumer processes and deletes it.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952500" y="4570958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Limited Throughput: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Supports up to 300 messages per second (3,000 with batching).</a:t>
            </a:r>
            <a:endParaRPr/>
          </a:p>
        </p:txBody>
      </p:sp>
      <p:pic>
        <p:nvPicPr>
          <p:cNvPr id="261" name="Google Shape;26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478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28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70958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F44F48-9843-FB4F-F340-9AEA2B28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89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68909"/>
            <a:ext cx="3492549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KEY PLATFORM FEATURES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834233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Scalability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90487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Infinite scaling for standard queues.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4612380" y="362143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Retention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4683025" y="4154834"/>
            <a:ext cx="28257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Messages stay for up to 14 days (Default 4).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8390684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Dead Letter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846132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Handles failed messages for debugging.</a:t>
            </a:r>
            <a:endParaRPr/>
          </a:p>
        </p:txBody>
      </p:sp>
      <p:pic>
        <p:nvPicPr>
          <p:cNvPr id="299" name="Google Shape;29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7662" y="285943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85943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4600" y="2859434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7695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771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773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87756" y="326037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MESSAGE LIFECYCLE</a:t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571500" y="349850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52178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Produce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57150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 sent to SQS endpoint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354180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Hidden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3591520" y="4393852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polls; message becomes invisible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561820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661154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executes business logic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9581841" y="392712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Delete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9631560" y="4393852"/>
            <a:ext cx="198879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Consumer removes from queue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MESSAGE ATTRIBUTES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866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Message Body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866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primary content (XML, JSON, or Unformatted text). Up to 256KB total size.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6581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Metadata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6581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Key-value pairs (up to 10) providing structured information without parsing the body.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23244"/>
            <a:ext cx="5334000" cy="254496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VISIBILITY TIMEOUT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571500" y="2623244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30s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571500" y="4147244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Default Timeout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6581775" y="291851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What is it?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6581775" y="3490019"/>
            <a:ext cx="474345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Period during which SQS prevents other consumers from receiving and processing the message. If processing fails, message becomes visible again after this time.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MESSAGE RETENTION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571500" y="276984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14d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571500" y="429384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Maximum Duration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6581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Persistence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6581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Messages stay in the queue even if consumers go offline. Default is 4 days. After retention expires, messages are automatically deleted.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8500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DEAD LETTER QUEUE (DLQ)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571500" y="19907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Handling Failures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571500" y="2419350"/>
            <a:ext cx="5334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DLQ is a queue that other queues can use as a target for messages that cannot be processed successfully.</a:t>
            </a:r>
            <a:endParaRPr/>
          </a:p>
        </p:txBody>
      </p:sp>
      <p:pic>
        <p:nvPicPr>
          <p:cNvPr id="364" name="Google Shape;364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7550" y="2009775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1"/>
          <p:cNvSpPr txBox="1"/>
          <p:nvPr/>
        </p:nvSpPr>
        <p:spPr>
          <a:xfrm>
            <a:off x="952500" y="3508920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Debugging faulty consumers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952500" y="4067026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Isolating poison-pill messages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952500" y="4625131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Redrive policy configuration</a:t>
            </a:r>
            <a:endParaRPr/>
          </a:p>
        </p:txBody>
      </p:sp>
      <p:pic>
        <p:nvPicPr>
          <p:cNvPr id="368" name="Google Shape;368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0892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6702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25131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68909"/>
            <a:ext cx="3492549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ECOSYSTEM INTEGRATION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834233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Lambda</a:t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90487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Trigger serverless functions from queue events.</a:t>
            </a:r>
            <a:endParaRPr/>
          </a:p>
        </p:txBody>
      </p:sp>
      <p:sp>
        <p:nvSpPr>
          <p:cNvPr id="382" name="Google Shape;382;p32"/>
          <p:cNvSpPr txBox="1"/>
          <p:nvPr/>
        </p:nvSpPr>
        <p:spPr>
          <a:xfrm>
            <a:off x="4612380" y="362143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SNS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4683025" y="4154834"/>
            <a:ext cx="28257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Fan-out messages to multiple queues.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8390684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 Scaling</a:t>
            </a:r>
            <a:endParaRPr/>
          </a:p>
        </p:txBody>
      </p:sp>
      <p:sp>
        <p:nvSpPr>
          <p:cNvPr id="385" name="Google Shape;385;p32"/>
          <p:cNvSpPr txBox="1"/>
          <p:nvPr/>
        </p:nvSpPr>
        <p:spPr>
          <a:xfrm>
            <a:off x="846132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Scale EC2 instances based on queue length.</a:t>
            </a:r>
            <a:endParaRPr/>
          </a:p>
        </p:txBody>
      </p:sp>
      <p:pic>
        <p:nvPicPr>
          <p:cNvPr id="386" name="Google Shape;386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7662" y="285943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85943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025" y="2859434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D8263-311E-71D4-80B9-BEFA7718B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38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SNS + SQS FAN-OUT</a:t>
            </a:r>
            <a:endParaRPr/>
          </a:p>
        </p:txBody>
      </p:sp>
      <p:sp>
        <p:nvSpPr>
          <p:cNvPr id="406" name="Google Shape;406;p34"/>
          <p:cNvSpPr txBox="1"/>
          <p:nvPr/>
        </p:nvSpPr>
        <p:spPr>
          <a:xfrm>
            <a:off x="571500" y="19907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Fan-out Pattern</a:t>
            </a:r>
            <a:endParaRPr/>
          </a:p>
        </p:txBody>
      </p:sp>
      <p:sp>
        <p:nvSpPr>
          <p:cNvPr id="407" name="Google Shape;407;p34"/>
          <p:cNvSpPr txBox="1"/>
          <p:nvPr/>
        </p:nvSpPr>
        <p:spPr>
          <a:xfrm>
            <a:off x="571500" y="2419350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message sent to an SNS topic is replicated to multiple SQS queues simultaneously.</a:t>
            </a:r>
            <a:endParaRPr/>
          </a:p>
        </p:txBody>
      </p:sp>
      <p:sp>
        <p:nvSpPr>
          <p:cNvPr id="408" name="Google Shape;408;p34"/>
          <p:cNvSpPr txBox="1"/>
          <p:nvPr/>
        </p:nvSpPr>
        <p:spPr>
          <a:xfrm>
            <a:off x="571500" y="3215580"/>
            <a:ext cx="5334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Useful for parallel processing where multiple microservices need the same data (e.g., Analytics, Email, and Database services).</a:t>
            </a:r>
            <a:endParaRPr/>
          </a:p>
        </p:txBody>
      </p:sp>
      <p:pic>
        <p:nvPicPr>
          <p:cNvPr id="409" name="Google Shape;409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2009775"/>
            <a:ext cx="529590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CREATING A QUEUE</a:t>
            </a:r>
            <a:endParaRPr/>
          </a:p>
        </p:txBody>
      </p:sp>
      <p:sp>
        <p:nvSpPr>
          <p:cNvPr id="416" name="Google Shape;416;p35"/>
          <p:cNvSpPr txBox="1"/>
          <p:nvPr/>
        </p:nvSpPr>
        <p:spPr>
          <a:xfrm>
            <a:off x="952500" y="2576661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1: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Log in to AWS Console and open the SQS dashboard.</a:t>
            </a:r>
            <a:endParaRPr/>
          </a:p>
        </p:txBody>
      </p:sp>
      <p:sp>
        <p:nvSpPr>
          <p:cNvPr id="417" name="Google Shape;417;p35"/>
          <p:cNvSpPr txBox="1"/>
          <p:nvPr/>
        </p:nvSpPr>
        <p:spPr>
          <a:xfrm>
            <a:off x="952500" y="3134766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2: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Click "Create Queue" and choose Standard or FIFO.</a:t>
            </a:r>
            <a:endParaRPr/>
          </a:p>
        </p:txBody>
      </p:sp>
      <p:sp>
        <p:nvSpPr>
          <p:cNvPr id="418" name="Google Shape;418;p35"/>
          <p:cNvSpPr txBox="1"/>
          <p:nvPr/>
        </p:nvSpPr>
        <p:spPr>
          <a:xfrm>
            <a:off x="952500" y="3692872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3: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Configure "Visibility Timeout" and "Message Retention".</a:t>
            </a:r>
            <a:endParaRPr/>
          </a:p>
        </p:txBody>
      </p:sp>
      <p:sp>
        <p:nvSpPr>
          <p:cNvPr id="419" name="Google Shape;419;p35"/>
          <p:cNvSpPr txBox="1"/>
          <p:nvPr/>
        </p:nvSpPr>
        <p:spPr>
          <a:xfrm>
            <a:off x="952500" y="4250977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4: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Setup Access Policies (IAM) and Encryption (KMS).</a:t>
            </a:r>
            <a:endParaRPr/>
          </a:p>
        </p:txBody>
      </p:sp>
      <p:sp>
        <p:nvSpPr>
          <p:cNvPr id="420" name="Google Shape;420;p35"/>
          <p:cNvSpPr txBox="1"/>
          <p:nvPr/>
        </p:nvSpPr>
        <p:spPr>
          <a:xfrm>
            <a:off x="952500" y="4809083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Step 5: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Review and click "Create Queue".</a:t>
            </a:r>
            <a:endParaRPr/>
          </a:p>
        </p:txBody>
      </p:sp>
      <p:pic>
        <p:nvPicPr>
          <p:cNvPr id="421" name="Google Shape;421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66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476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28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5097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0908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SENDING MESSAGES</a:t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952500" y="2846189"/>
            <a:ext cx="10668000" cy="32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API call: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SendMessage</a:t>
            </a:r>
            <a:endParaRPr/>
          </a:p>
        </p:txBody>
      </p:sp>
      <p:sp>
        <p:nvSpPr>
          <p:cNvPr id="433" name="Google Shape;433;p36"/>
          <p:cNvSpPr txBox="1"/>
          <p:nvPr/>
        </p:nvSpPr>
        <p:spPr>
          <a:xfrm>
            <a:off x="952500" y="3413819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SDK Support: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Java, Python (Boto3), Node.js, etc.</a:t>
            </a:r>
            <a:endParaRPr/>
          </a:p>
        </p:txBody>
      </p:sp>
      <p:sp>
        <p:nvSpPr>
          <p:cNvPr id="434" name="Google Shape;434;p36"/>
          <p:cNvSpPr txBox="1"/>
          <p:nvPr/>
        </p:nvSpPr>
        <p:spPr>
          <a:xfrm>
            <a:off x="952500" y="3971925"/>
            <a:ext cx="10668000" cy="32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Batching: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Use SendMessageBatch to send up to 10 messages (saves cost).</a:t>
            </a:r>
            <a:endParaRPr/>
          </a:p>
        </p:txBody>
      </p:sp>
      <p:sp>
        <p:nvSpPr>
          <p:cNvPr id="435" name="Google Shape;435;p36"/>
          <p:cNvSpPr txBox="1"/>
          <p:nvPr/>
        </p:nvSpPr>
        <p:spPr>
          <a:xfrm>
            <a:off x="952500" y="4539555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Delay: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You can set a delay (up to 15m) before a message becomes visible.</a:t>
            </a:r>
            <a:endParaRPr/>
          </a:p>
        </p:txBody>
      </p:sp>
      <p:pic>
        <p:nvPicPr>
          <p:cNvPr id="436" name="Google Shape;436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618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1381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719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3955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RECEIVING &amp; POLLING</a:t>
            </a:r>
            <a:endParaRPr/>
          </a:p>
        </p:txBody>
      </p:sp>
      <p:sp>
        <p:nvSpPr>
          <p:cNvPr id="448" name="Google Shape;448;p37"/>
          <p:cNvSpPr txBox="1"/>
          <p:nvPr/>
        </p:nvSpPr>
        <p:spPr>
          <a:xfrm>
            <a:off x="866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Short Polling</a:t>
            </a:r>
            <a:endParaRPr/>
          </a:p>
        </p:txBody>
      </p:sp>
      <p:sp>
        <p:nvSpPr>
          <p:cNvPr id="449" name="Google Shape;449;p37"/>
          <p:cNvSpPr txBox="1"/>
          <p:nvPr/>
        </p:nvSpPr>
        <p:spPr>
          <a:xfrm>
            <a:off x="866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Returns immediately, even if the queue is empty. Can increase costs due to empty responses.</a:t>
            </a:r>
            <a:endParaRPr/>
          </a:p>
        </p:txBody>
      </p:sp>
      <p:sp>
        <p:nvSpPr>
          <p:cNvPr id="450" name="Google Shape;450;p37"/>
          <p:cNvSpPr txBox="1"/>
          <p:nvPr/>
        </p:nvSpPr>
        <p:spPr>
          <a:xfrm>
            <a:off x="6581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Long Polling</a:t>
            </a:r>
            <a:endParaRPr/>
          </a:p>
        </p:txBody>
      </p:sp>
      <p:sp>
        <p:nvSpPr>
          <p:cNvPr id="451" name="Google Shape;451;p37"/>
          <p:cNvSpPr txBox="1"/>
          <p:nvPr/>
        </p:nvSpPr>
        <p:spPr>
          <a:xfrm>
            <a:off x="6581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Wait up to 20 seconds for a message to arrive. Reduces cost and empty responses significantly.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76500"/>
            <a:ext cx="5334000" cy="283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MESSAGE DELETION</a:t>
            </a:r>
            <a:endParaRPr/>
          </a:p>
        </p:txBody>
      </p:sp>
      <p:sp>
        <p:nvSpPr>
          <p:cNvPr id="459" name="Google Shape;459;p38"/>
          <p:cNvSpPr txBox="1"/>
          <p:nvPr/>
        </p:nvSpPr>
        <p:spPr>
          <a:xfrm>
            <a:off x="571500" y="24765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/>
          </a:p>
        </p:txBody>
      </p:sp>
      <p:sp>
        <p:nvSpPr>
          <p:cNvPr id="460" name="Google Shape;460;p38"/>
          <p:cNvSpPr txBox="1"/>
          <p:nvPr/>
        </p:nvSpPr>
        <p:spPr>
          <a:xfrm>
            <a:off x="571500" y="400050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Required Action</a:t>
            </a:r>
            <a:endParaRPr/>
          </a:p>
        </p:txBody>
      </p:sp>
      <p:sp>
        <p:nvSpPr>
          <p:cNvPr id="461" name="Google Shape;461;p38"/>
          <p:cNvSpPr txBox="1"/>
          <p:nvPr/>
        </p:nvSpPr>
        <p:spPr>
          <a:xfrm>
            <a:off x="6581775" y="277177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Why Delete?</a:t>
            </a:r>
            <a:endParaRPr/>
          </a:p>
        </p:txBody>
      </p:sp>
      <p:sp>
        <p:nvSpPr>
          <p:cNvPr id="462" name="Google Shape;462;p38"/>
          <p:cNvSpPr txBox="1"/>
          <p:nvPr/>
        </p:nvSpPr>
        <p:spPr>
          <a:xfrm>
            <a:off x="6581775" y="3343275"/>
            <a:ext cx="4743450" cy="146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SQS does not automatically delete messages after receipt. Consumers must call DeleteMessage using the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Receipt Handle</a:t>
            </a: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to prevent the message from being processed again.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22165"/>
            <a:ext cx="3492549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22165"/>
            <a:ext cx="3492400" cy="314697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SECURITY &amp; COMPLIANCE</a:t>
            </a:r>
            <a:endParaRPr/>
          </a:p>
        </p:txBody>
      </p:sp>
      <p:sp>
        <p:nvSpPr>
          <p:cNvPr id="472" name="Google Shape;472;p39"/>
          <p:cNvSpPr txBox="1"/>
          <p:nvPr/>
        </p:nvSpPr>
        <p:spPr>
          <a:xfrm>
            <a:off x="834233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IAM Policies</a:t>
            </a:r>
            <a:endParaRPr/>
          </a:p>
        </p:txBody>
      </p:sp>
      <p:sp>
        <p:nvSpPr>
          <p:cNvPr id="473" name="Google Shape;473;p39"/>
          <p:cNvSpPr txBox="1"/>
          <p:nvPr/>
        </p:nvSpPr>
        <p:spPr>
          <a:xfrm>
            <a:off x="904875" y="4008090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Granular access control for producers and consumers.</a:t>
            </a:r>
            <a:endParaRPr/>
          </a:p>
        </p:txBody>
      </p:sp>
      <p:sp>
        <p:nvSpPr>
          <p:cNvPr id="474" name="Google Shape;474;p39"/>
          <p:cNvSpPr txBox="1"/>
          <p:nvPr/>
        </p:nvSpPr>
        <p:spPr>
          <a:xfrm>
            <a:off x="4612380" y="3474690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Encryption</a:t>
            </a:r>
            <a:endParaRPr/>
          </a:p>
        </p:txBody>
      </p:sp>
      <p:sp>
        <p:nvSpPr>
          <p:cNvPr id="475" name="Google Shape;475;p39"/>
          <p:cNvSpPr txBox="1"/>
          <p:nvPr/>
        </p:nvSpPr>
        <p:spPr>
          <a:xfrm>
            <a:off x="4683025" y="4008090"/>
            <a:ext cx="28257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Server-side encryption for data at rest (SSE).</a:t>
            </a:r>
            <a:endParaRPr/>
          </a:p>
        </p:txBody>
      </p:sp>
      <p:sp>
        <p:nvSpPr>
          <p:cNvPr id="476" name="Google Shape;476;p39"/>
          <p:cNvSpPr txBox="1"/>
          <p:nvPr/>
        </p:nvSpPr>
        <p:spPr>
          <a:xfrm>
            <a:off x="8390684" y="3474690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VPC Endpoints</a:t>
            </a:r>
            <a:endParaRPr/>
          </a:p>
        </p:txBody>
      </p:sp>
      <p:sp>
        <p:nvSpPr>
          <p:cNvPr id="477" name="Google Shape;477;p39"/>
          <p:cNvSpPr txBox="1"/>
          <p:nvPr/>
        </p:nvSpPr>
        <p:spPr>
          <a:xfrm>
            <a:off x="8461325" y="4008090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Connect privately without traversing the public internet.</a:t>
            </a:r>
            <a:endParaRPr/>
          </a:p>
        </p:txBody>
      </p:sp>
      <p:pic>
        <p:nvPicPr>
          <p:cNvPr id="478" name="Google Shape;478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7662" y="271269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6301" y="271269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4113" y="2712690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8500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ENCRYPTION AT REST</a:t>
            </a:r>
            <a:endParaRPr/>
          </a:p>
        </p:txBody>
      </p:sp>
      <p:sp>
        <p:nvSpPr>
          <p:cNvPr id="488" name="Google Shape;488;p40"/>
          <p:cNvSpPr txBox="1"/>
          <p:nvPr/>
        </p:nvSpPr>
        <p:spPr>
          <a:xfrm>
            <a:off x="571500" y="19907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KMS Integration</a:t>
            </a:r>
            <a:endParaRPr/>
          </a:p>
        </p:txBody>
      </p:sp>
      <p:sp>
        <p:nvSpPr>
          <p:cNvPr id="489" name="Google Shape;489;p40"/>
          <p:cNvSpPr txBox="1"/>
          <p:nvPr/>
        </p:nvSpPr>
        <p:spPr>
          <a:xfrm>
            <a:off x="571500" y="2419350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SQS integrates with AWS Key Management Service (KMS) to manage keys that encrypt your messages.</a:t>
            </a:r>
            <a:endParaRPr/>
          </a:p>
        </p:txBody>
      </p:sp>
      <p:pic>
        <p:nvPicPr>
          <p:cNvPr id="490" name="Google Shape;490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7550" y="2009775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0"/>
          <p:cNvSpPr txBox="1"/>
          <p:nvPr/>
        </p:nvSpPr>
        <p:spPr>
          <a:xfrm>
            <a:off x="952500" y="3215580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SSE-SQS: Managed by SQS</a:t>
            </a:r>
            <a:endParaRPr/>
          </a:p>
        </p:txBody>
      </p:sp>
      <p:sp>
        <p:nvSpPr>
          <p:cNvPr id="492" name="Google Shape;492;p40"/>
          <p:cNvSpPr txBox="1"/>
          <p:nvPr/>
        </p:nvSpPr>
        <p:spPr>
          <a:xfrm>
            <a:off x="952500" y="3773685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SSE-KMS: Customer managed keys</a:t>
            </a:r>
            <a:endParaRPr/>
          </a:p>
        </p:txBody>
      </p:sp>
      <p:sp>
        <p:nvSpPr>
          <p:cNvPr id="493" name="Google Shape;493;p40"/>
          <p:cNvSpPr txBox="1"/>
          <p:nvPr/>
        </p:nvSpPr>
        <p:spPr>
          <a:xfrm>
            <a:off x="952500" y="4331791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Protects sensitive PII/Financial data</a:t>
            </a:r>
            <a:endParaRPr/>
          </a:p>
        </p:txBody>
      </p:sp>
      <p:pic>
        <p:nvPicPr>
          <p:cNvPr id="494" name="Google Shape;494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1558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7368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31791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8861DA-C17D-7E7D-1AAD-FFA0136B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7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CLOUDWATCH MONITORING</a:t>
            </a:r>
            <a:endParaRPr/>
          </a:p>
        </p:txBody>
      </p:sp>
      <p:pic>
        <p:nvPicPr>
          <p:cNvPr id="520" name="Google Shape;520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009775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2"/>
          <p:cNvSpPr txBox="1"/>
          <p:nvPr/>
        </p:nvSpPr>
        <p:spPr>
          <a:xfrm>
            <a:off x="6667500" y="2143125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NumberOfMessagesSent: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Volume of incoming traffic.</a:t>
            </a:r>
            <a:endParaRPr/>
          </a:p>
        </p:txBody>
      </p:sp>
      <p:sp>
        <p:nvSpPr>
          <p:cNvPr id="522" name="Google Shape;522;p42"/>
          <p:cNvSpPr txBox="1"/>
          <p:nvPr/>
        </p:nvSpPr>
        <p:spPr>
          <a:xfrm>
            <a:off x="6667500" y="3021210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ApproximateNumberOfMessagesVisible: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Backlog size.</a:t>
            </a:r>
            <a:endParaRPr/>
          </a:p>
        </p:txBody>
      </p:sp>
      <p:sp>
        <p:nvSpPr>
          <p:cNvPr id="523" name="Google Shape;523;p42"/>
          <p:cNvSpPr txBox="1"/>
          <p:nvPr/>
        </p:nvSpPr>
        <p:spPr>
          <a:xfrm>
            <a:off x="6667500" y="3899296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ApproximateAgeOfOldestMessage: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Processing delay metric.</a:t>
            </a:r>
            <a:endParaRPr/>
          </a:p>
        </p:txBody>
      </p:sp>
      <p:pic>
        <p:nvPicPr>
          <p:cNvPr id="524" name="Google Shape;524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1431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02121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899296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5569"/>
            <a:ext cx="3492400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75569"/>
            <a:ext cx="3492549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75569"/>
            <a:ext cx="3492400" cy="344031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COMMON TROUBLESHOOTING</a:t>
            </a:r>
            <a:endParaRPr/>
          </a:p>
        </p:txBody>
      </p:sp>
      <p:sp>
        <p:nvSpPr>
          <p:cNvPr id="536" name="Google Shape;536;p43"/>
          <p:cNvSpPr txBox="1"/>
          <p:nvPr/>
        </p:nvSpPr>
        <p:spPr>
          <a:xfrm>
            <a:off x="834233" y="332809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Duplication</a:t>
            </a:r>
            <a:endParaRPr/>
          </a:p>
        </p:txBody>
      </p:sp>
      <p:sp>
        <p:nvSpPr>
          <p:cNvPr id="537" name="Google Shape;537;p43"/>
          <p:cNvSpPr txBox="1"/>
          <p:nvPr/>
        </p:nvSpPr>
        <p:spPr>
          <a:xfrm>
            <a:off x="904875" y="3861494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Caused by short visibility timeout. Increase timeout to match processing time.</a:t>
            </a:r>
            <a:endParaRPr/>
          </a:p>
        </p:txBody>
      </p:sp>
      <p:sp>
        <p:nvSpPr>
          <p:cNvPr id="538" name="Google Shape;538;p43"/>
          <p:cNvSpPr txBox="1"/>
          <p:nvPr/>
        </p:nvSpPr>
        <p:spPr>
          <a:xfrm>
            <a:off x="4612380" y="332809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Delayed Processing</a:t>
            </a:r>
            <a:endParaRPr/>
          </a:p>
        </p:txBody>
      </p:sp>
      <p:sp>
        <p:nvSpPr>
          <p:cNvPr id="539" name="Google Shape;539;p43"/>
          <p:cNvSpPr txBox="1"/>
          <p:nvPr/>
        </p:nvSpPr>
        <p:spPr>
          <a:xfrm>
            <a:off x="4683025" y="3861494"/>
            <a:ext cx="28257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Check "ApproximateQueueLength". Scale consumers using Auto Scaling.</a:t>
            </a:r>
            <a:endParaRPr/>
          </a:p>
        </p:txBody>
      </p:sp>
      <p:sp>
        <p:nvSpPr>
          <p:cNvPr id="540" name="Google Shape;540;p43"/>
          <p:cNvSpPr txBox="1"/>
          <p:nvPr/>
        </p:nvSpPr>
        <p:spPr>
          <a:xfrm>
            <a:off x="8390684" y="332809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DLQ Overflow</a:t>
            </a:r>
            <a:endParaRPr/>
          </a:p>
        </p:txBody>
      </p:sp>
      <p:sp>
        <p:nvSpPr>
          <p:cNvPr id="541" name="Google Shape;541;p43"/>
          <p:cNvSpPr txBox="1"/>
          <p:nvPr/>
        </p:nvSpPr>
        <p:spPr>
          <a:xfrm>
            <a:off x="8461325" y="3861494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Indicates recurring code errors. Inspect message bodies and code logs.</a:t>
            </a:r>
            <a:endParaRPr/>
          </a:p>
        </p:txBody>
      </p:sp>
      <p:pic>
        <p:nvPicPr>
          <p:cNvPr id="542" name="Google Shape;542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8150" y="2566094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14876" y="2566094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025" y="2566094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68909"/>
            <a:ext cx="3492549" cy="2853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68909"/>
            <a:ext cx="3492400" cy="285363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REAL-WORLD USE CASES</a:t>
            </a:r>
            <a:endParaRPr/>
          </a:p>
        </p:txBody>
      </p:sp>
      <p:sp>
        <p:nvSpPr>
          <p:cNvPr id="554" name="Google Shape;554;p44"/>
          <p:cNvSpPr txBox="1"/>
          <p:nvPr/>
        </p:nvSpPr>
        <p:spPr>
          <a:xfrm>
            <a:off x="834233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E-Commerce</a:t>
            </a:r>
            <a:endParaRPr/>
          </a:p>
        </p:txBody>
      </p:sp>
      <p:sp>
        <p:nvSpPr>
          <p:cNvPr id="555" name="Google Shape;555;p44"/>
          <p:cNvSpPr txBox="1"/>
          <p:nvPr/>
        </p:nvSpPr>
        <p:spPr>
          <a:xfrm>
            <a:off x="90487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Decoupling order placement from payment processing.</a:t>
            </a:r>
            <a:endParaRPr/>
          </a:p>
        </p:txBody>
      </p:sp>
      <p:sp>
        <p:nvSpPr>
          <p:cNvPr id="556" name="Google Shape;556;p44"/>
          <p:cNvSpPr txBox="1"/>
          <p:nvPr/>
        </p:nvSpPr>
        <p:spPr>
          <a:xfrm>
            <a:off x="4612380" y="3621434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Media Encoding</a:t>
            </a:r>
            <a:endParaRPr/>
          </a:p>
        </p:txBody>
      </p:sp>
      <p:sp>
        <p:nvSpPr>
          <p:cNvPr id="557" name="Google Shape;557;p44"/>
          <p:cNvSpPr txBox="1"/>
          <p:nvPr/>
        </p:nvSpPr>
        <p:spPr>
          <a:xfrm>
            <a:off x="4683025" y="4154834"/>
            <a:ext cx="282579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Queueing video files for background conversion.</a:t>
            </a:r>
            <a:endParaRPr/>
          </a:p>
        </p:txBody>
      </p:sp>
      <p:sp>
        <p:nvSpPr>
          <p:cNvPr id="558" name="Google Shape;558;p44"/>
          <p:cNvSpPr txBox="1"/>
          <p:nvPr/>
        </p:nvSpPr>
        <p:spPr>
          <a:xfrm>
            <a:off x="8390684" y="3621434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Notifications</a:t>
            </a:r>
            <a:endParaRPr/>
          </a:p>
        </p:txBody>
      </p:sp>
      <p:sp>
        <p:nvSpPr>
          <p:cNvPr id="559" name="Google Shape;559;p44"/>
          <p:cNvSpPr txBox="1"/>
          <p:nvPr/>
        </p:nvSpPr>
        <p:spPr>
          <a:xfrm>
            <a:off x="8461325" y="4154834"/>
            <a:ext cx="2825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Sending massive volumes of async emails or SMS.</a:t>
            </a:r>
            <a:endParaRPr/>
          </a:p>
        </p:txBody>
      </p:sp>
      <p:pic>
        <p:nvPicPr>
          <p:cNvPr id="560" name="Google Shape;560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1000" y="2859434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9151" y="2859434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4600" y="2859434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25B44-9D86-A92F-637C-8B5DCFDD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26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BEST PRACTICES</a:t>
            </a:r>
            <a:endParaRPr/>
          </a:p>
        </p:txBody>
      </p:sp>
      <p:sp>
        <p:nvSpPr>
          <p:cNvPr id="580" name="Google Shape;580;p46"/>
          <p:cNvSpPr txBox="1"/>
          <p:nvPr/>
        </p:nvSpPr>
        <p:spPr>
          <a:xfrm>
            <a:off x="952500" y="2850951"/>
            <a:ext cx="10668000" cy="32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Always use Long Polling: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Set WaitTimeSeconds to 20s to reduce costs.</a:t>
            </a:r>
            <a:endParaRPr/>
          </a:p>
        </p:txBody>
      </p:sp>
      <p:sp>
        <p:nvSpPr>
          <p:cNvPr id="581" name="Google Shape;581;p46"/>
          <p:cNvSpPr txBox="1"/>
          <p:nvPr/>
        </p:nvSpPr>
        <p:spPr>
          <a:xfrm>
            <a:off x="952500" y="3418582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Configure DLQ: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Always have a Dead Letter Queue for failed message isolation.</a:t>
            </a:r>
            <a:endParaRPr/>
          </a:p>
        </p:txBody>
      </p:sp>
      <p:sp>
        <p:nvSpPr>
          <p:cNvPr id="582" name="Google Shape;582;p46"/>
          <p:cNvSpPr txBox="1"/>
          <p:nvPr/>
        </p:nvSpPr>
        <p:spPr>
          <a:xfrm>
            <a:off x="952500" y="3976687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Idempotent Consumers: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Ensure your app can process the same message twice without side effects.</a:t>
            </a:r>
            <a:endParaRPr/>
          </a:p>
        </p:txBody>
      </p:sp>
      <p:sp>
        <p:nvSpPr>
          <p:cNvPr id="583" name="Google Shape;583;p46"/>
          <p:cNvSpPr txBox="1"/>
          <p:nvPr/>
        </p:nvSpPr>
        <p:spPr>
          <a:xfrm>
            <a:off x="952500" y="4534792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Right-size Visibility Timeout: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Set it to 6x your average processing time.</a:t>
            </a:r>
            <a:endParaRPr/>
          </a:p>
        </p:txBody>
      </p:sp>
      <p:pic>
        <p:nvPicPr>
          <p:cNvPr id="584" name="Google Shape;584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095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1858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7668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34792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16584"/>
            <a:ext cx="5334000" cy="195828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WHY CHOOSE SQS?</a:t>
            </a:r>
            <a:endParaRPr/>
          </a:p>
        </p:txBody>
      </p:sp>
      <p:sp>
        <p:nvSpPr>
          <p:cNvPr id="596" name="Google Shape;596;p47"/>
          <p:cNvSpPr txBox="1"/>
          <p:nvPr/>
        </p:nvSpPr>
        <p:spPr>
          <a:xfrm>
            <a:off x="866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Admin Free</a:t>
            </a:r>
            <a:endParaRPr/>
          </a:p>
        </p:txBody>
      </p:sp>
      <p:sp>
        <p:nvSpPr>
          <p:cNvPr id="597" name="Google Shape;597;p47"/>
          <p:cNvSpPr txBox="1"/>
          <p:nvPr/>
        </p:nvSpPr>
        <p:spPr>
          <a:xfrm>
            <a:off x="866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No software to install, no servers to manage, and no message durability to worry about.</a:t>
            </a:r>
            <a:endParaRPr/>
          </a:p>
        </p:txBody>
      </p:sp>
      <p:sp>
        <p:nvSpPr>
          <p:cNvPr id="598" name="Google Shape;598;p47"/>
          <p:cNvSpPr txBox="1"/>
          <p:nvPr/>
        </p:nvSpPr>
        <p:spPr>
          <a:xfrm>
            <a:off x="6581775" y="3211859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Elasticity</a:t>
            </a:r>
            <a:endParaRPr/>
          </a:p>
        </p:txBody>
      </p:sp>
      <p:sp>
        <p:nvSpPr>
          <p:cNvPr id="599" name="Google Shape;599;p47"/>
          <p:cNvSpPr txBox="1"/>
          <p:nvPr/>
        </p:nvSpPr>
        <p:spPr>
          <a:xfrm>
            <a:off x="6581775" y="3783359"/>
            <a:ext cx="4743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Handles bursts of any size seamlessly without any manual intervention or pre-provisioning.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CONSTRAINTS TO NOTE</a:t>
            </a:r>
            <a:endParaRPr/>
          </a:p>
        </p:txBody>
      </p:sp>
      <p:sp>
        <p:nvSpPr>
          <p:cNvPr id="606" name="Google Shape;606;p48"/>
          <p:cNvSpPr txBox="1"/>
          <p:nvPr/>
        </p:nvSpPr>
        <p:spPr>
          <a:xfrm>
            <a:off x="952500" y="2855714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Message Size: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Maximum 256KB (Use S3 for larger files).</a:t>
            </a:r>
            <a:endParaRPr/>
          </a:p>
        </p:txBody>
      </p:sp>
      <p:sp>
        <p:nvSpPr>
          <p:cNvPr id="607" name="Google Shape;607;p48"/>
          <p:cNvSpPr txBox="1"/>
          <p:nvPr/>
        </p:nvSpPr>
        <p:spPr>
          <a:xfrm>
            <a:off x="952500" y="3413819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No Broadcasting: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One consumer per message (Use SNS for 1-to-many).</a:t>
            </a:r>
            <a:endParaRPr/>
          </a:p>
        </p:txBody>
      </p:sp>
      <p:sp>
        <p:nvSpPr>
          <p:cNvPr id="608" name="Google Shape;608;p48"/>
          <p:cNvSpPr txBox="1"/>
          <p:nvPr/>
        </p:nvSpPr>
        <p:spPr>
          <a:xfrm>
            <a:off x="952500" y="3971925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FIFO Limits: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300 tps is lower than Standard's unlimited scale.</a:t>
            </a:r>
            <a:endParaRPr/>
          </a:p>
        </p:txBody>
      </p:sp>
      <p:sp>
        <p:nvSpPr>
          <p:cNvPr id="609" name="Google Shape;609;p48"/>
          <p:cNvSpPr txBox="1"/>
          <p:nvPr/>
        </p:nvSpPr>
        <p:spPr>
          <a:xfrm>
            <a:off x="952500" y="4530030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Polling Costs: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Frequent short polling can lead to high AWS bills.</a:t>
            </a:r>
            <a:endParaRPr/>
          </a:p>
        </p:txBody>
      </p:sp>
      <p:pic>
        <p:nvPicPr>
          <p:cNvPr id="610" name="Google Shape;610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571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1381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719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30030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0DC98-7AE6-F0DC-E8D0-92288FA64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877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0"/>
          <p:cNvSpPr txBox="1"/>
          <p:nvPr/>
        </p:nvSpPr>
        <p:spPr>
          <a:xfrm>
            <a:off x="295275" y="197926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SUMMARY</a:t>
            </a:r>
            <a:endParaRPr/>
          </a:p>
        </p:txBody>
      </p:sp>
      <p:sp>
        <p:nvSpPr>
          <p:cNvPr id="640" name="Google Shape;640;p50"/>
          <p:cNvSpPr/>
          <p:nvPr/>
        </p:nvSpPr>
        <p:spPr>
          <a:xfrm>
            <a:off x="5619750" y="3198465"/>
            <a:ext cx="952500" cy="952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0"/>
          <p:cNvSpPr txBox="1"/>
          <p:nvPr/>
        </p:nvSpPr>
        <p:spPr>
          <a:xfrm>
            <a:off x="571500" y="3789015"/>
            <a:ext cx="11049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Amazon SQS is the backbone of cloud-native scalability. By providing a reliable, durable, and serverless messaging layer, it allows developers to build resilient distributed systems without the burden of infrastructure management.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69840"/>
            <a:ext cx="5334000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THE FUTURE OF SQS</a:t>
            </a:r>
            <a:endParaRPr/>
          </a:p>
        </p:txBody>
      </p:sp>
      <p:sp>
        <p:nvSpPr>
          <p:cNvPr id="650" name="Google Shape;650;p51"/>
          <p:cNvSpPr txBox="1"/>
          <p:nvPr/>
        </p:nvSpPr>
        <p:spPr>
          <a:xfrm>
            <a:off x="866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Event-Driven Growth</a:t>
            </a:r>
            <a:endParaRPr/>
          </a:p>
        </p:txBody>
      </p:sp>
      <p:sp>
        <p:nvSpPr>
          <p:cNvPr id="651" name="Google Shape;651;p51"/>
          <p:cNvSpPr txBox="1"/>
          <p:nvPr/>
        </p:nvSpPr>
        <p:spPr>
          <a:xfrm>
            <a:off x="866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As microservices move towards "Event-Driven Everything," SQS integration with EventBridge and Lambda will become even tighter.</a:t>
            </a:r>
            <a:endParaRPr/>
          </a:p>
        </p:txBody>
      </p:sp>
      <p:sp>
        <p:nvSpPr>
          <p:cNvPr id="652" name="Google Shape;652;p51"/>
          <p:cNvSpPr txBox="1"/>
          <p:nvPr/>
        </p:nvSpPr>
        <p:spPr>
          <a:xfrm>
            <a:off x="6581775" y="306511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Enhanced Tooling</a:t>
            </a:r>
            <a:endParaRPr/>
          </a:p>
        </p:txBody>
      </p:sp>
      <p:sp>
        <p:nvSpPr>
          <p:cNvPr id="653" name="Google Shape;653;p51"/>
          <p:cNvSpPr txBox="1"/>
          <p:nvPr/>
        </p:nvSpPr>
        <p:spPr>
          <a:xfrm>
            <a:off x="6581775" y="3636615"/>
            <a:ext cx="47434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Increased AI/ML integration for anomaly detection in message queues and automated DLQ redrive processing.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2"/>
          <p:cNvSpPr txBox="1"/>
          <p:nvPr/>
        </p:nvSpPr>
        <p:spPr>
          <a:xfrm>
            <a:off x="295275" y="131072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  <p:sp>
        <p:nvSpPr>
          <p:cNvPr id="660" name="Google Shape;660;p52"/>
          <p:cNvSpPr txBox="1"/>
          <p:nvPr/>
        </p:nvSpPr>
        <p:spPr>
          <a:xfrm>
            <a:off x="571500" y="2739479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Any Questions?</a:t>
            </a:r>
            <a:endParaRPr/>
          </a:p>
        </p:txBody>
      </p:sp>
      <p:sp>
        <p:nvSpPr>
          <p:cNvPr id="661" name="Google Shape;661;p52"/>
          <p:cNvSpPr txBox="1"/>
          <p:nvPr/>
        </p:nvSpPr>
        <p:spPr>
          <a:xfrm>
            <a:off x="571500" y="454149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aws.amazon.com/sqs</a:t>
            </a:r>
            <a:endParaRPr/>
          </a:p>
        </p:txBody>
      </p:sp>
      <p:sp>
        <p:nvSpPr>
          <p:cNvPr id="662" name="Google Shape;662;p52"/>
          <p:cNvSpPr txBox="1"/>
          <p:nvPr/>
        </p:nvSpPr>
        <p:spPr>
          <a:xfrm>
            <a:off x="571500" y="504438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contact@yourorganization.com</a:t>
            </a:r>
            <a:endParaRPr/>
          </a:p>
        </p:txBody>
      </p:sp>
      <p:pic>
        <p:nvPicPr>
          <p:cNvPr id="663" name="Google Shape;663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24425" y="457006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9600" y="5072955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671" name="Google Shape;671;p53"/>
          <p:cNvSpPr/>
          <p:nvPr/>
        </p:nvSpPr>
        <p:spPr>
          <a:xfrm>
            <a:off x="571500" y="15859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3"/>
          <p:cNvSpPr/>
          <p:nvPr/>
        </p:nvSpPr>
        <p:spPr>
          <a:xfrm>
            <a:off x="571500" y="23574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53"/>
          <p:cNvSpPr/>
          <p:nvPr/>
        </p:nvSpPr>
        <p:spPr>
          <a:xfrm>
            <a:off x="571500" y="3128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3"/>
          <p:cNvSpPr/>
          <p:nvPr/>
        </p:nvSpPr>
        <p:spPr>
          <a:xfrm>
            <a:off x="571500" y="3900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3"/>
          <p:cNvSpPr/>
          <p:nvPr/>
        </p:nvSpPr>
        <p:spPr>
          <a:xfrm>
            <a:off x="571500" y="46720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3"/>
          <p:cNvSpPr/>
          <p:nvPr/>
        </p:nvSpPr>
        <p:spPr>
          <a:xfrm>
            <a:off x="571500" y="2347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3"/>
          <p:cNvSpPr/>
          <p:nvPr/>
        </p:nvSpPr>
        <p:spPr>
          <a:xfrm>
            <a:off x="571500" y="2347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3"/>
          <p:cNvSpPr/>
          <p:nvPr/>
        </p:nvSpPr>
        <p:spPr>
          <a:xfrm>
            <a:off x="571500" y="3119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3"/>
          <p:cNvSpPr/>
          <p:nvPr/>
        </p:nvSpPr>
        <p:spPr>
          <a:xfrm>
            <a:off x="571500" y="3119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3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3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3"/>
          <p:cNvSpPr/>
          <p:nvPr/>
        </p:nvSpPr>
        <p:spPr>
          <a:xfrm>
            <a:off x="571500" y="4662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3"/>
          <p:cNvSpPr/>
          <p:nvPr/>
        </p:nvSpPr>
        <p:spPr>
          <a:xfrm>
            <a:off x="571500" y="4662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3"/>
          <p:cNvSpPr/>
          <p:nvPr/>
        </p:nvSpPr>
        <p:spPr>
          <a:xfrm>
            <a:off x="571500" y="5434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3"/>
          <p:cNvSpPr/>
          <p:nvPr/>
        </p:nvSpPr>
        <p:spPr>
          <a:xfrm>
            <a:off x="571500" y="5434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6" name="Google Shape;686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8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3"/>
          <p:cNvSpPr txBox="1"/>
          <p:nvPr/>
        </p:nvSpPr>
        <p:spPr>
          <a:xfrm>
            <a:off x="1666875" y="174977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https://images.seeklogo.com/logo-png/27/1/aws-sqs-simple-queue-service-logo-png_seeklogo-272861.png</a:t>
            </a:r>
            <a:endParaRPr/>
          </a:p>
        </p:txBody>
      </p:sp>
      <p:sp>
        <p:nvSpPr>
          <p:cNvPr id="688" name="Google Shape;688;p53"/>
          <p:cNvSpPr txBox="1"/>
          <p:nvPr/>
        </p:nvSpPr>
        <p:spPr>
          <a:xfrm>
            <a:off x="1666875" y="197063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seeklogo.com</a:t>
            </a:r>
            <a:endParaRPr/>
          </a:p>
        </p:txBody>
      </p:sp>
      <p:pic>
        <p:nvPicPr>
          <p:cNvPr id="689" name="Google Shape;689;p5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00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 txBox="1"/>
          <p:nvPr/>
        </p:nvSpPr>
        <p:spPr>
          <a:xfrm>
            <a:off x="1666875" y="25212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https://miro.medium.com/1*_72m2NwynZpceFcxfRySBg.png</a:t>
            </a:r>
            <a:endParaRPr/>
          </a:p>
        </p:txBody>
      </p:sp>
      <p:sp>
        <p:nvSpPr>
          <p:cNvPr id="691" name="Google Shape;691;p53"/>
          <p:cNvSpPr txBox="1"/>
          <p:nvPr/>
        </p:nvSpPr>
        <p:spPr>
          <a:xfrm>
            <a:off x="1666875" y="27421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id="692" name="Google Shape;692;p5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71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53"/>
          <p:cNvSpPr txBox="1"/>
          <p:nvPr/>
        </p:nvSpPr>
        <p:spPr>
          <a:xfrm>
            <a:off x="1666875" y="329282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https://www.metricfire.com/assets/images/nav/mf-nav-ai-observability.svg</a:t>
            </a:r>
            <a:endParaRPr/>
          </a:p>
        </p:txBody>
      </p:sp>
      <p:sp>
        <p:nvSpPr>
          <p:cNvPr id="694" name="Google Shape;694;p53"/>
          <p:cNvSpPr txBox="1"/>
          <p:nvPr/>
        </p:nvSpPr>
        <p:spPr>
          <a:xfrm>
            <a:off x="1666875" y="351368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www.metricfire.com</a:t>
            </a:r>
            <a:endParaRPr/>
          </a:p>
        </p:txBody>
      </p:sp>
      <p:pic>
        <p:nvPicPr>
          <p:cNvPr id="695" name="Google Shape;695;p5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43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53"/>
          <p:cNvSpPr txBox="1"/>
          <p:nvPr/>
        </p:nvSpPr>
        <p:spPr>
          <a:xfrm>
            <a:off x="1666875" y="406434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https://miro.medium.com/v2/resize:fit:1400/1*WK_-gPDoCp29u8_MfStF7g.png</a:t>
            </a:r>
            <a:endParaRPr/>
          </a:p>
        </p:txBody>
      </p:sp>
      <p:sp>
        <p:nvSpPr>
          <p:cNvPr id="697" name="Google Shape;697;p53"/>
          <p:cNvSpPr txBox="1"/>
          <p:nvPr/>
        </p:nvSpPr>
        <p:spPr>
          <a:xfrm>
            <a:off x="1666875" y="428520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id="698" name="Google Shape;698;p5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14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3"/>
          <p:cNvSpPr txBox="1"/>
          <p:nvPr/>
        </p:nvSpPr>
        <p:spPr>
          <a:xfrm>
            <a:off x="1666875" y="483587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https://miro.medium.com/1*9z3sbaE6yGT1Ukau8iq4ew.png</a:t>
            </a:r>
            <a:endParaRPr/>
          </a:p>
        </p:txBody>
      </p:sp>
      <p:sp>
        <p:nvSpPr>
          <p:cNvPr id="700" name="Google Shape;700;p53"/>
          <p:cNvSpPr txBox="1"/>
          <p:nvPr/>
        </p:nvSpPr>
        <p:spPr>
          <a:xfrm>
            <a:off x="1666875" y="505673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id="701" name="Google Shape;701;p5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586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3"/>
          <p:cNvSpPr txBox="1"/>
          <p:nvPr/>
        </p:nvSpPr>
        <p:spPr>
          <a:xfrm>
            <a:off x="1666875" y="56073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https://miro.medium.com/0*jfMz4ACeBfob5Lrq</a:t>
            </a:r>
            <a:endParaRPr/>
          </a:p>
        </p:txBody>
      </p:sp>
      <p:sp>
        <p:nvSpPr>
          <p:cNvPr id="703" name="Google Shape;703;p53"/>
          <p:cNvSpPr txBox="1"/>
          <p:nvPr/>
        </p:nvSpPr>
        <p:spPr>
          <a:xfrm>
            <a:off x="1666875" y="58282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5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710" name="Google Shape;710;p54"/>
          <p:cNvSpPr/>
          <p:nvPr/>
        </p:nvSpPr>
        <p:spPr>
          <a:xfrm>
            <a:off x="571500" y="3063329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4"/>
          <p:cNvSpPr/>
          <p:nvPr/>
        </p:nvSpPr>
        <p:spPr>
          <a:xfrm>
            <a:off x="571500" y="39564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54"/>
          <p:cNvSpPr/>
          <p:nvPr/>
        </p:nvSpPr>
        <p:spPr>
          <a:xfrm>
            <a:off x="571500" y="39564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3" name="Google Shape;713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716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4"/>
          <p:cNvSpPr txBox="1"/>
          <p:nvPr/>
        </p:nvSpPr>
        <p:spPr>
          <a:xfrm>
            <a:off x="1666875" y="3206204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https://img1.wsimg.com/isteam/ip/f7e478d3-6dac-4a37-bc3e-e80341a46568/PRTG%20Graph%202.png/:/cr=t:0%25,l:20.25%25,w:59.51%25,h:100%25/rs=w:400,h:533.3333333333334,cg:true</a:t>
            </a:r>
            <a:endParaRPr/>
          </a:p>
        </p:txBody>
      </p:sp>
      <p:sp>
        <p:nvSpPr>
          <p:cNvPr id="715" name="Google Shape;715;p54"/>
          <p:cNvSpPr txBox="1"/>
          <p:nvPr/>
        </p:nvSpPr>
        <p:spPr>
          <a:xfrm>
            <a:off x="1666875" y="3600301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iconcloud.com</a:t>
            </a:r>
            <a:endParaRPr/>
          </a:p>
        </p:txBody>
      </p:sp>
      <p:pic>
        <p:nvPicPr>
          <p:cNvPr id="716" name="Google Shape;716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088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4"/>
          <p:cNvSpPr txBox="1"/>
          <p:nvPr/>
        </p:nvSpPr>
        <p:spPr>
          <a:xfrm>
            <a:off x="1666875" y="412983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https://img.freepik.com/premium-vector/cart-processing-icon-vector-image-can-be-used-ecommerce-store_120816-51971.jpg</a:t>
            </a:r>
            <a:endParaRPr/>
          </a:p>
        </p:txBody>
      </p:sp>
      <p:sp>
        <p:nvSpPr>
          <p:cNvPr id="718" name="Google Shape;718;p54"/>
          <p:cNvSpPr txBox="1"/>
          <p:nvPr/>
        </p:nvSpPr>
        <p:spPr>
          <a:xfrm>
            <a:off x="1666875" y="435069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www.freepik.com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1491</Words>
  <Application>Microsoft Office PowerPoint</Application>
  <PresentationFormat>Widescreen</PresentationFormat>
  <Paragraphs>209</Paragraphs>
  <Slides>42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Calibri</vt:lpstr>
      <vt:lpstr>Arial</vt:lpstr>
      <vt:lpstr>DM Sans SemiBold</vt:lpstr>
      <vt:lpstr>Urbanist</vt:lpstr>
      <vt:lpstr>DM Sans Medium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ADLAGATTA VIGNESH</cp:lastModifiedBy>
  <cp:revision>3</cp:revision>
  <dcterms:modified xsi:type="dcterms:W3CDTF">2026-03-18T07:33:36Z</dcterms:modified>
</cp:coreProperties>
</file>